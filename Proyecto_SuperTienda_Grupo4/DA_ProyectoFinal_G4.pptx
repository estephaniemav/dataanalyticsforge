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ms-office.chartcolorstyle+xml" PartName="/ppt/charts/colors2.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6.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Poppins"/>
      <p:regular r:id="rId25"/>
      <p:bold r:id="rId26"/>
      <p:italic r:id="rId27"/>
      <p:boldItalic r:id="rId28"/>
    </p:embeddedFont>
    <p:embeddedFont>
      <p:font typeface="Livvic Medium"/>
      <p:regular r:id="rId29"/>
      <p:bold r:id="rId30"/>
      <p:italic r:id="rId31"/>
      <p:boldItalic r:id="rId32"/>
    </p:embeddedFont>
    <p:embeddedFont>
      <p:font typeface="Livvic"/>
      <p:regular r:id="rId33"/>
      <p:bold r:id="rId34"/>
      <p:italic r:id="rId35"/>
      <p:boldItalic r:id="rId36"/>
    </p:embeddedFont>
    <p:embeddedFont>
      <p:font typeface="Poppins Medium"/>
      <p:regular r:id="rId37"/>
      <p:bold r:id="rId38"/>
      <p:italic r:id="rId39"/>
      <p:boldItalic r:id="rId40"/>
    </p:embeddedFont>
    <p:embeddedFont>
      <p:font typeface="Poppins SemiBold"/>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5" roundtripDataSignature="AMtx7mjjA/MZ8eY+QYom3UyTepv3X9gY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boldItalic.fntdata"/><Relationship Id="rId20" Type="http://schemas.openxmlformats.org/officeDocument/2006/relationships/slide" Target="slides/slide15.xml"/><Relationship Id="rId42" Type="http://schemas.openxmlformats.org/officeDocument/2006/relationships/font" Target="fonts/PoppinsSemiBold-bold.fntdata"/><Relationship Id="rId41" Type="http://schemas.openxmlformats.org/officeDocument/2006/relationships/font" Target="fonts/PoppinsSemiBold-regular.fntdata"/><Relationship Id="rId22" Type="http://schemas.openxmlformats.org/officeDocument/2006/relationships/font" Target="fonts/Raleway-bold.fntdata"/><Relationship Id="rId44" Type="http://schemas.openxmlformats.org/officeDocument/2006/relationships/font" Target="fonts/PoppinsSemiBold-boldItalic.fntdata"/><Relationship Id="rId21" Type="http://schemas.openxmlformats.org/officeDocument/2006/relationships/font" Target="fonts/Raleway-regular.fntdata"/><Relationship Id="rId43" Type="http://schemas.openxmlformats.org/officeDocument/2006/relationships/font" Target="fonts/PoppinsSemiBold-italic.fntdata"/><Relationship Id="rId24" Type="http://schemas.openxmlformats.org/officeDocument/2006/relationships/font" Target="fonts/Raleway-boldItalic.fntdata"/><Relationship Id="rId23" Type="http://schemas.openxmlformats.org/officeDocument/2006/relationships/font" Target="fonts/Raleway-italic.fntdata"/><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ivvic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ivvicMedium-italic.fntdata"/><Relationship Id="rId30" Type="http://schemas.openxmlformats.org/officeDocument/2006/relationships/font" Target="fonts/LivvicMedium-bold.fntdata"/><Relationship Id="rId11" Type="http://schemas.openxmlformats.org/officeDocument/2006/relationships/slide" Target="slides/slide6.xml"/><Relationship Id="rId33" Type="http://schemas.openxmlformats.org/officeDocument/2006/relationships/font" Target="fonts/Livvic-regular.fntdata"/><Relationship Id="rId10" Type="http://schemas.openxmlformats.org/officeDocument/2006/relationships/slide" Target="slides/slide5.xml"/><Relationship Id="rId32" Type="http://schemas.openxmlformats.org/officeDocument/2006/relationships/font" Target="fonts/LivvicMedium-boldItalic.fntdata"/><Relationship Id="rId13" Type="http://schemas.openxmlformats.org/officeDocument/2006/relationships/slide" Target="slides/slide8.xml"/><Relationship Id="rId35" Type="http://schemas.openxmlformats.org/officeDocument/2006/relationships/font" Target="fonts/Livvic-italic.fntdata"/><Relationship Id="rId12" Type="http://schemas.openxmlformats.org/officeDocument/2006/relationships/slide" Target="slides/slide7.xml"/><Relationship Id="rId34" Type="http://schemas.openxmlformats.org/officeDocument/2006/relationships/font" Target="fonts/Livvic-bold.fntdata"/><Relationship Id="rId15" Type="http://schemas.openxmlformats.org/officeDocument/2006/relationships/slide" Target="slides/slide10.xml"/><Relationship Id="rId37" Type="http://schemas.openxmlformats.org/officeDocument/2006/relationships/font" Target="fonts/PoppinsMedium-regular.fntdata"/><Relationship Id="rId14" Type="http://schemas.openxmlformats.org/officeDocument/2006/relationships/slide" Target="slides/slide9.xml"/><Relationship Id="rId36" Type="http://schemas.openxmlformats.org/officeDocument/2006/relationships/font" Target="fonts/Livvic-boldItalic.fntdata"/><Relationship Id="rId17" Type="http://schemas.openxmlformats.org/officeDocument/2006/relationships/slide" Target="slides/slide12.xml"/><Relationship Id="rId39" Type="http://schemas.openxmlformats.org/officeDocument/2006/relationships/font" Target="fonts/PoppinsMedium-italic.fntdata"/><Relationship Id="rId16" Type="http://schemas.openxmlformats.org/officeDocument/2006/relationships/slide" Target="slides/slide11.xml"/><Relationship Id="rId38" Type="http://schemas.openxmlformats.org/officeDocument/2006/relationships/font" Target="fonts/PoppinsMedium-bold.fntdata"/><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B3B6F"/>
                </a:solidFill>
                <a:latin typeface="Arial"/>
              </a:defRPr>
            </a:pPr>
            <a:r>
              <a:rPr lang="es-MX" sz="1100" b="0" i="0" u="none" strike="noStrike" dirty="0">
                <a:solidFill>
                  <a:srgbClr val="1B3B6F"/>
                </a:solidFill>
                <a:latin typeface="Livvic Medium" pitchFamily="2" charset="0"/>
              </a:rPr>
              <a:t>Ventas por región — ¿dónde se concentran?</a:t>
            </a:r>
          </a:p>
        </c:rich>
      </c:tx>
      <c:overlay val="0"/>
    </c:title>
    <c:autoTitleDeleted val="0"/>
    <c:plotArea>
      <c:layout/>
      <c:barChart>
        <c:barDir val="bar"/>
        <c:grouping val="clustered"/>
        <c:varyColors val="0"/>
        <c:ser>
          <c:idx val="0"/>
          <c:order val="0"/>
          <c:tx>
            <c:strRef>
              <c:f>Sheet1!$B$1</c:f>
              <c:strCache>
                <c:ptCount val="1"/>
                <c:pt idx="0">
                  <c:v>Ventas ($M)</c:v>
                </c:pt>
              </c:strCache>
            </c:strRef>
          </c:tx>
          <c:spPr>
            <a:solidFill>
              <a:schemeClr val="tx1"/>
            </a:solidFill>
            <a:effectLst/>
          </c:spPr>
          <c:invertIfNegative val="0"/>
          <c:dLbls>
            <c:numFmt formatCode="0.0&quot;M&quot;" sourceLinked="0"/>
            <c:spPr>
              <a:noFill/>
              <a:ln>
                <a:noFill/>
              </a:ln>
              <a:effectLst/>
            </c:spPr>
            <c:txPr>
              <a:bodyPr/>
              <a:lstStyle/>
              <a:p>
                <a:pPr>
                  <a:defRPr sz="800" b="0" i="0" u="none" strike="noStrike">
                    <a:solidFill>
                      <a:srgbClr val="1B1B1B"/>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Centro</c:v>
                </c:pt>
                <c:pt idx="1">
                  <c:v>Sur</c:v>
                </c:pt>
                <c:pt idx="2">
                  <c:v>Norte</c:v>
                </c:pt>
                <c:pt idx="3">
                  <c:v>Austral</c:v>
                </c:pt>
              </c:strCache>
            </c:strRef>
          </c:cat>
          <c:val>
            <c:numRef>
              <c:f>Sheet1!$B$2:$B$5</c:f>
              <c:numCache>
                <c:formatCode>General</c:formatCode>
                <c:ptCount val="4"/>
                <c:pt idx="0">
                  <c:v>1.8</c:v>
                </c:pt>
                <c:pt idx="1">
                  <c:v>1.8</c:v>
                </c:pt>
                <c:pt idx="2">
                  <c:v>1.2</c:v>
                </c:pt>
                <c:pt idx="3">
                  <c:v>0.9</c:v>
                </c:pt>
              </c:numCache>
            </c:numRef>
          </c:val>
          <c:extLst>
            <c:ext xmlns:c16="http://schemas.microsoft.com/office/drawing/2014/chart" uri="{C3380CC4-5D6E-409C-BE32-E72D297353CC}">
              <c16:uniqueId val="{00000000-D777-4704-B07E-A9A0ACF83F5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5B6B7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5E5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B3B6F"/>
                </a:solidFill>
                <a:latin typeface="Arial"/>
              </a:defRPr>
            </a:pPr>
            <a:r>
              <a:rPr lang="es-AR" sz="1100" b="0" i="0" u="none" strike="noStrike" dirty="0">
                <a:solidFill>
                  <a:srgbClr val="1B3B6F"/>
                </a:solidFill>
                <a:latin typeface="Livvic Medium" pitchFamily="2" charset="0"/>
              </a:rPr>
              <a:t>Canal preferido — ¿cómo contactan?</a:t>
            </a:r>
          </a:p>
        </c:rich>
      </c:tx>
      <c:overlay val="0"/>
    </c:title>
    <c:autoTitleDeleted val="0"/>
    <c:plotArea>
      <c:layout/>
      <c:barChart>
        <c:barDir val="col"/>
        <c:grouping val="clustered"/>
        <c:varyColors val="0"/>
        <c:ser>
          <c:idx val="0"/>
          <c:order val="0"/>
          <c:tx>
            <c:strRef>
              <c:f>Sheet1!$B$1</c:f>
              <c:strCache>
                <c:ptCount val="1"/>
                <c:pt idx="0">
                  <c:v>Clientes</c:v>
                </c:pt>
              </c:strCache>
            </c:strRef>
          </c:tx>
          <c:spPr>
            <a:solidFill>
              <a:schemeClr val="tx1"/>
            </a:solidFill>
            <a:effectLst/>
          </c:spPr>
          <c:invertIfNegative val="0"/>
          <c:dLbls>
            <c:numFmt formatCode="#,##0" sourceLinked="0"/>
            <c:spPr>
              <a:noFill/>
              <a:ln>
                <a:noFill/>
              </a:ln>
              <a:effectLst/>
            </c:spPr>
            <c:txPr>
              <a:bodyPr/>
              <a:lstStyle/>
              <a:p>
                <a:pPr>
                  <a:defRPr sz="800" b="0" i="0" u="none" strike="noStrike">
                    <a:solidFill>
                      <a:srgbClr val="1B1B1B"/>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Web</c:v>
                </c:pt>
                <c:pt idx="1">
                  <c:v>App</c:v>
                </c:pt>
                <c:pt idx="2">
                  <c:v>Correo</c:v>
                </c:pt>
                <c:pt idx="3">
                  <c:v>Teléfono</c:v>
                </c:pt>
                <c:pt idx="4">
                  <c:v>Sin Info</c:v>
                </c:pt>
              </c:strCache>
            </c:strRef>
          </c:cat>
          <c:val>
            <c:numRef>
              <c:f>Sheet1!$B$2:$B$6</c:f>
              <c:numCache>
                <c:formatCode>General</c:formatCode>
                <c:ptCount val="5"/>
                <c:pt idx="0">
                  <c:v>81</c:v>
                </c:pt>
                <c:pt idx="1">
                  <c:v>78</c:v>
                </c:pt>
                <c:pt idx="2">
                  <c:v>64</c:v>
                </c:pt>
                <c:pt idx="3">
                  <c:v>60</c:v>
                </c:pt>
                <c:pt idx="4">
                  <c:v>17</c:v>
                </c:pt>
              </c:numCache>
            </c:numRef>
          </c:val>
          <c:extLst>
            <c:ext xmlns:c16="http://schemas.microsoft.com/office/drawing/2014/chart" uri="{C3380CC4-5D6E-409C-BE32-E72D297353CC}">
              <c16:uniqueId val="{00000000-A941-43F9-BB34-72ADB8CE43B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B6B7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B3B6F"/>
                </a:solidFill>
                <a:latin typeface="Arial"/>
              </a:defRPr>
            </a:pPr>
            <a:r>
              <a:rPr lang="es-MX" sz="1100" b="0" i="0" u="none" strike="noStrike" dirty="0">
                <a:solidFill>
                  <a:srgbClr val="1B3B6F"/>
                </a:solidFill>
                <a:latin typeface="Livvic Medium" pitchFamily="2" charset="0"/>
              </a:rPr>
              <a:t>Evolución — ¿crece la base activa?</a:t>
            </a:r>
          </a:p>
        </c:rich>
      </c:tx>
      <c:overlay val="0"/>
    </c:title>
    <c:autoTitleDeleted val="0"/>
    <c:plotArea>
      <c:layout/>
      <c:lineChart>
        <c:grouping val="standard"/>
        <c:varyColors val="0"/>
        <c:ser>
          <c:idx val="0"/>
          <c:order val="0"/>
          <c:tx>
            <c:strRef>
              <c:f>Sheet1!$B$1</c:f>
              <c:strCache>
                <c:ptCount val="1"/>
                <c:pt idx="0">
                  <c:v>Clientes</c:v>
                </c:pt>
              </c:strCache>
            </c:strRef>
          </c:tx>
          <c:spPr>
            <a:ln w="31750" cap="flat">
              <a:solidFill>
                <a:schemeClr val="tx2">
                  <a:lumMod val="50000"/>
                </a:schemeClr>
              </a:solidFill>
              <a:prstDash val="solid"/>
              <a:round/>
            </a:ln>
            <a:effectLst/>
          </c:spPr>
          <c:marker>
            <c:symbol val="circle"/>
            <c:size val="6"/>
            <c:spPr>
              <a:solidFill>
                <a:srgbClr val="1B3B6F"/>
              </a:solidFill>
              <a:ln w="9525" cap="flat">
                <a:solidFill>
                  <a:srgbClr val="1B3B6F"/>
                </a:solidFill>
                <a:prstDash val="solid"/>
                <a:round/>
              </a:ln>
              <a:effectLst/>
            </c:spPr>
          </c:marker>
          <c:dLbls>
            <c:numFmt formatCode="#,##0" sourceLinked="0"/>
            <c:spPr>
              <a:noFill/>
              <a:ln>
                <a:noFill/>
              </a:ln>
              <a:effectLst/>
            </c:spPr>
            <c:txPr>
              <a:bodyPr/>
              <a:lstStyle/>
              <a:p>
                <a:pPr>
                  <a:defRPr sz="800" b="0" i="0" u="none" strike="noStrike">
                    <a:solidFill>
                      <a:srgbClr val="1B1B1B"/>
                    </a:solidFill>
                    <a:latin typeface="Aria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General</c:formatCode>
                <c:ptCount val="3"/>
                <c:pt idx="0">
                  <c:v>30</c:v>
                </c:pt>
                <c:pt idx="1">
                  <c:v>137</c:v>
                </c:pt>
                <c:pt idx="2">
                  <c:v>122</c:v>
                </c:pt>
              </c:numCache>
            </c:numRef>
          </c:val>
          <c:smooth val="0"/>
          <c:extLst>
            <c:ext xmlns:c16="http://schemas.microsoft.com/office/drawing/2014/chart" uri="{C3380CC4-5D6E-409C-BE32-E72D297353CC}">
              <c16:uniqueId val="{00000000-AAB1-4661-B2A0-144F56252CA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B6B7F"/>
                </a:solidFill>
                <a:latin typeface="Arial"/>
              </a:defRPr>
            </a:pPr>
            <a:endParaRPr lang="en-US"/>
          </a:p>
        </c:txPr>
        <c:crossAx val="2094734552"/>
        <c:crosses val="autoZero"/>
        <c:auto val="1"/>
        <c:lblAlgn val="ctr"/>
        <c:lblOffset val="100"/>
        <c:noMultiLvlLbl val="1"/>
      </c:catAx>
      <c:valAx>
        <c:axId val="2094734552"/>
        <c:scaling>
          <c:orientation val="minMax"/>
          <c:max val="165"/>
        </c:scaling>
        <c:delete val="0"/>
        <c:axPos val="l"/>
        <c:majorGridlines>
          <c:spPr>
            <a:ln w="9525"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100" b="0" i="0" u="none" strike="noStrike" kern="1200" baseline="0">
                <a:solidFill>
                  <a:srgbClr val="1B3B6F"/>
                </a:solidFill>
                <a:latin typeface="Arial"/>
                <a:ea typeface="+mn-ea"/>
                <a:cs typeface="+mn-cs"/>
              </a:defRPr>
            </a:pPr>
            <a:r>
              <a:rPr lang="es-MX" sz="1100" b="0" i="0" u="none" strike="noStrike" dirty="0">
                <a:solidFill>
                  <a:srgbClr val="1B3B6F"/>
                </a:solidFill>
                <a:latin typeface="Livvic Medium" pitchFamily="2" charset="0"/>
              </a:rPr>
              <a:t>Ticket promedio por segmento — ¿casi sin diferencia?</a:t>
            </a:r>
          </a:p>
        </c:rich>
      </c:tx>
      <c:overlay val="0"/>
      <c:spPr>
        <a:noFill/>
        <a:ln>
          <a:noFill/>
        </a:ln>
        <a:effectLst/>
      </c:spPr>
      <c:txPr>
        <a:bodyPr rot="0" spcFirstLastPara="1" vertOverflow="ellipsis" vert="horz" wrap="square" anchor="ctr" anchorCtr="1"/>
        <a:lstStyle/>
        <a:p>
          <a:pPr>
            <a:defRPr sz="1100" b="0" i="0" u="none" strike="noStrike" kern="1200" baseline="0">
              <a:solidFill>
                <a:srgbClr val="1B3B6F"/>
              </a:solidFill>
              <a:latin typeface="Arial"/>
              <a:ea typeface="+mn-ea"/>
              <a:cs typeface="+mn-cs"/>
            </a:defRPr>
          </a:pPr>
          <a:endParaRPr lang="es-AR"/>
        </a:p>
      </c:txPr>
    </c:title>
    <c:autoTitleDeleted val="0"/>
    <c:plotArea>
      <c:layout/>
      <c:barChart>
        <c:barDir val="bar"/>
        <c:grouping val="clustered"/>
        <c:varyColors val="0"/>
        <c:ser>
          <c:idx val="0"/>
          <c:order val="0"/>
          <c:tx>
            <c:strRef>
              <c:f>Sheet1!$B$1</c:f>
              <c:strCache>
                <c:ptCount val="1"/>
                <c:pt idx="0">
                  <c:v>Ticket $</c:v>
                </c:pt>
              </c:strCache>
            </c:strRef>
          </c:tx>
          <c:spPr>
            <a:solidFill>
              <a:schemeClr val="dk1">
                <a:tint val="88500"/>
              </a:schemeClr>
            </a:solidFill>
            <a:ln>
              <a:noFill/>
            </a:ln>
            <a:effectLst/>
          </c:spPr>
          <c:invertIfNegative val="0"/>
          <c:dPt>
            <c:idx val="0"/>
            <c:invertIfNegative val="0"/>
            <c:bubble3D val="0"/>
            <c:spPr>
              <a:solidFill>
                <a:schemeClr val="tx1"/>
              </a:solidFill>
              <a:ln>
                <a:noFill/>
              </a:ln>
              <a:effectLst/>
            </c:spPr>
            <c:extLst>
              <c:ext xmlns:c16="http://schemas.microsoft.com/office/drawing/2014/chart" uri="{C3380CC4-5D6E-409C-BE32-E72D297353CC}">
                <c16:uniqueId val="{00000003-4DC5-4D3A-B742-99C76B96A8F4}"/>
              </c:ext>
            </c:extLst>
          </c:dPt>
          <c:dPt>
            <c:idx val="1"/>
            <c:invertIfNegative val="0"/>
            <c:bubble3D val="0"/>
            <c:spPr>
              <a:solidFill>
                <a:schemeClr val="tx1"/>
              </a:solidFill>
              <a:ln>
                <a:noFill/>
              </a:ln>
              <a:effectLst/>
            </c:spPr>
            <c:extLst>
              <c:ext xmlns:c16="http://schemas.microsoft.com/office/drawing/2014/chart" uri="{C3380CC4-5D6E-409C-BE32-E72D297353CC}">
                <c16:uniqueId val="{00000001-4DC5-4D3A-B742-99C76B96A8F4}"/>
              </c:ext>
            </c:extLst>
          </c:dPt>
          <c:dPt>
            <c:idx val="2"/>
            <c:invertIfNegative val="0"/>
            <c:bubble3D val="0"/>
            <c:spPr>
              <a:solidFill>
                <a:schemeClr val="tx1"/>
              </a:solidFill>
              <a:ln>
                <a:noFill/>
              </a:ln>
              <a:effectLst/>
            </c:spPr>
            <c:extLst>
              <c:ext xmlns:c16="http://schemas.microsoft.com/office/drawing/2014/chart" uri="{C3380CC4-5D6E-409C-BE32-E72D297353CC}">
                <c16:uniqueId val="{00000002-4DC5-4D3A-B742-99C76B96A8F4}"/>
              </c:ext>
            </c:extLst>
          </c:dPt>
          <c:dLbls>
            <c:numFmt formatCode="#,##0" sourceLinked="0"/>
            <c:spPr>
              <a:noFill/>
              <a:ln>
                <a:noFill/>
              </a:ln>
              <a:effectLst/>
            </c:spPr>
            <c:txPr>
              <a:bodyPr rot="0" spcFirstLastPara="1" vertOverflow="ellipsis" vert="horz" wrap="square" anchor="ctr" anchorCtr="1"/>
              <a:lstStyle/>
              <a:p>
                <a:pPr>
                  <a:defRPr sz="800" b="0" i="0" u="none" strike="noStrike" kern="1200" baseline="0">
                    <a:solidFill>
                      <a:srgbClr val="1B1B1B"/>
                    </a:solidFill>
                    <a:latin typeface="Arial"/>
                    <a:ea typeface="+mn-ea"/>
                    <a:cs typeface="+mn-cs"/>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Home Office</c:v>
                </c:pt>
                <c:pt idx="1">
                  <c:v>Corporativo</c:v>
                </c:pt>
                <c:pt idx="2">
                  <c:v>Consumidor</c:v>
                </c:pt>
              </c:strCache>
            </c:strRef>
          </c:cat>
          <c:val>
            <c:numRef>
              <c:f>Sheet1!$B$2:$B$4</c:f>
              <c:numCache>
                <c:formatCode>General</c:formatCode>
                <c:ptCount val="3"/>
                <c:pt idx="0">
                  <c:v>4905</c:v>
                </c:pt>
                <c:pt idx="1">
                  <c:v>4887</c:v>
                </c:pt>
                <c:pt idx="2">
                  <c:v>4875</c:v>
                </c:pt>
              </c:numCache>
            </c:numRef>
          </c:val>
          <c:extLst>
            <c:ext xmlns:c16="http://schemas.microsoft.com/office/drawing/2014/chart" uri="{C3380CC4-5D6E-409C-BE32-E72D297353CC}">
              <c16:uniqueId val="{00000000-4DC5-4D3A-B742-99C76B96A8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850" b="0" i="0" u="none" strike="noStrike" kern="1200" baseline="0">
                <a:solidFill>
                  <a:srgbClr val="5B6B7F"/>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min val="4700"/>
        </c:scaling>
        <c:delete val="0"/>
        <c:axPos val="b"/>
        <c:majorGridlines>
          <c:spPr>
            <a:ln w="9525" cap="flat" cmpd="sng" algn="ctr">
              <a:solidFill>
                <a:srgbClr val="E5E5E5"/>
              </a:solidFill>
              <a:prstDash val="solid"/>
              <a:round/>
            </a:ln>
            <a:effectLst/>
          </c:spPr>
        </c:majorGridlines>
        <c:numFmt formatCode="General" sourceLinked="0"/>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B6B7F"/>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s-A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150" b="1" i="0" u="none" strike="noStrike" kern="1200" baseline="0">
                <a:solidFill>
                  <a:srgbClr val="1B3B6F"/>
                </a:solidFill>
                <a:latin typeface="Arial"/>
                <a:ea typeface="+mn-ea"/>
                <a:cs typeface="+mn-cs"/>
              </a:defRPr>
            </a:pPr>
            <a:r>
              <a:rPr lang="es-AR" sz="1150" b="1" i="0" u="none" strike="noStrike" dirty="0">
                <a:solidFill>
                  <a:schemeClr val="tx1">
                    <a:lumMod val="75000"/>
                  </a:schemeClr>
                </a:solidFill>
                <a:latin typeface="Livvic Medium" pitchFamily="2" charset="0"/>
              </a:rPr>
              <a:t>Top clientes por cantidad de pedidos</a:t>
            </a:r>
          </a:p>
        </c:rich>
      </c:tx>
      <c:overlay val="0"/>
      <c:spPr>
        <a:noFill/>
        <a:ln>
          <a:noFill/>
        </a:ln>
        <a:effectLst/>
      </c:spPr>
      <c:txPr>
        <a:bodyPr rot="0" spcFirstLastPara="1" vertOverflow="ellipsis" vert="horz" wrap="square" anchor="ctr" anchorCtr="1"/>
        <a:lstStyle/>
        <a:p>
          <a:pPr>
            <a:defRPr sz="1150" b="1" i="0" u="none" strike="noStrike" kern="1200" baseline="0">
              <a:solidFill>
                <a:srgbClr val="1B3B6F"/>
              </a:solidFill>
              <a:latin typeface="Arial"/>
              <a:ea typeface="+mn-ea"/>
              <a:cs typeface="+mn-cs"/>
            </a:defRPr>
          </a:pPr>
          <a:endParaRPr lang="es-AR"/>
        </a:p>
      </c:txPr>
    </c:title>
    <c:autoTitleDeleted val="0"/>
    <c:plotArea>
      <c:layout/>
      <c:barChart>
        <c:barDir val="bar"/>
        <c:grouping val="clustered"/>
        <c:varyColors val="0"/>
        <c:ser>
          <c:idx val="0"/>
          <c:order val="0"/>
          <c:tx>
            <c:strRef>
              <c:f>Sheet1!$B$1</c:f>
              <c:strCache>
                <c:ptCount val="1"/>
                <c:pt idx="0">
                  <c:v>Pedidos</c:v>
                </c:pt>
              </c:strCache>
            </c:strRef>
          </c:tx>
          <c:spPr>
            <a:solidFill>
              <a:schemeClr val="tx1">
                <a:lumMod val="75000"/>
              </a:schemeClr>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850" b="0" i="0" u="none" strike="noStrike" kern="1200" baseline="0">
                    <a:solidFill>
                      <a:srgbClr val="1B1B1B"/>
                    </a:solidFill>
                    <a:latin typeface="Arial"/>
                    <a:ea typeface="+mn-ea"/>
                    <a:cs typeface="+mn-cs"/>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Fernanda Díaz</c:v>
                </c:pt>
                <c:pt idx="1">
                  <c:v>Catalina Araya</c:v>
                </c:pt>
                <c:pt idx="2">
                  <c:v>B. González</c:v>
                </c:pt>
                <c:pt idx="3">
                  <c:v>B. Muñoz</c:v>
                </c:pt>
                <c:pt idx="4">
                  <c:v>C. López</c:v>
                </c:pt>
                <c:pt idx="5">
                  <c:v>F. Sepúlveda</c:v>
                </c:pt>
              </c:strCache>
            </c:strRef>
          </c:cat>
          <c:val>
            <c:numRef>
              <c:f>Sheet1!$B$2:$B$7</c:f>
              <c:numCache>
                <c:formatCode>General</c:formatCode>
                <c:ptCount val="6"/>
                <c:pt idx="0">
                  <c:v>12</c:v>
                </c:pt>
                <c:pt idx="1">
                  <c:v>11</c:v>
                </c:pt>
                <c:pt idx="2">
                  <c:v>9</c:v>
                </c:pt>
                <c:pt idx="3">
                  <c:v>9</c:v>
                </c:pt>
                <c:pt idx="4">
                  <c:v>9</c:v>
                </c:pt>
                <c:pt idx="5">
                  <c:v>9</c:v>
                </c:pt>
              </c:numCache>
            </c:numRef>
          </c:val>
          <c:extLst>
            <c:ext xmlns:c16="http://schemas.microsoft.com/office/drawing/2014/chart" uri="{C3380CC4-5D6E-409C-BE32-E72D297353CC}">
              <c16:uniqueId val="{00000000-B6C7-4AC3-ABEC-1239683537C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900" b="0" i="0" u="none" strike="noStrike" kern="1200" baseline="0">
                <a:solidFill>
                  <a:srgbClr val="5B6B7F"/>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cmpd="sng" algn="ctr">
              <a:solidFill>
                <a:srgbClr val="E5E5E5"/>
              </a:solidFill>
              <a:prstDash val="solid"/>
              <a:round/>
            </a:ln>
            <a:effectLst/>
          </c:spPr>
        </c:majorGridlines>
        <c:numFmt formatCode="General" sourceLinked="0"/>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B6B7F"/>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s-A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50" b="1" i="0" u="none" strike="noStrike">
                <a:solidFill>
                  <a:srgbClr val="1B3B6F"/>
                </a:solidFill>
                <a:latin typeface="Arial"/>
              </a:defRPr>
            </a:pPr>
            <a:r>
              <a:rPr lang="es-AR" sz="1150" b="1" i="0" u="none" strike="noStrike" dirty="0">
                <a:solidFill>
                  <a:schemeClr val="tx1">
                    <a:lumMod val="75000"/>
                  </a:schemeClr>
                </a:solidFill>
                <a:latin typeface="Livvic Medium" pitchFamily="2" charset="0"/>
              </a:rPr>
              <a:t>Top clientes por monto comprado</a:t>
            </a:r>
          </a:p>
        </c:rich>
      </c:tx>
      <c:overlay val="0"/>
    </c:title>
    <c:autoTitleDeleted val="0"/>
    <c:plotArea>
      <c:layout/>
      <c:barChart>
        <c:barDir val="bar"/>
        <c:grouping val="clustered"/>
        <c:varyColors val="0"/>
        <c:ser>
          <c:idx val="0"/>
          <c:order val="0"/>
          <c:tx>
            <c:strRef>
              <c:f>Sheet1!$B$1</c:f>
              <c:strCache>
                <c:ptCount val="1"/>
                <c:pt idx="0">
                  <c:v>Monto ($K)</c:v>
                </c:pt>
              </c:strCache>
            </c:strRef>
          </c:tx>
          <c:spPr>
            <a:solidFill>
              <a:schemeClr val="tx1">
                <a:lumMod val="75000"/>
              </a:schemeClr>
            </a:solidFill>
            <a:effectLst/>
          </c:spPr>
          <c:invertIfNegative val="0"/>
          <c:dLbls>
            <c:numFmt formatCode="#,##0" sourceLinked="0"/>
            <c:spPr>
              <a:noFill/>
              <a:ln>
                <a:noFill/>
              </a:ln>
              <a:effectLst/>
            </c:spPr>
            <c:txPr>
              <a:bodyPr/>
              <a:lstStyle/>
              <a:p>
                <a:pPr>
                  <a:defRPr sz="850" b="0" i="0" u="none" strike="noStrike">
                    <a:solidFill>
                      <a:srgbClr val="1B1B1B"/>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Diego Díaz</c:v>
                </c:pt>
                <c:pt idx="1">
                  <c:v>Ana Flores</c:v>
                </c:pt>
                <c:pt idx="2">
                  <c:v>J. Contreras</c:v>
                </c:pt>
                <c:pt idx="3">
                  <c:v>B. González</c:v>
                </c:pt>
                <c:pt idx="4">
                  <c:v>C. Araya</c:v>
                </c:pt>
                <c:pt idx="5">
                  <c:v>I. Silva</c:v>
                </c:pt>
              </c:strCache>
            </c:strRef>
          </c:cat>
          <c:val>
            <c:numRef>
              <c:f>Sheet1!$B$2:$B$7</c:f>
              <c:numCache>
                <c:formatCode>General</c:formatCode>
                <c:ptCount val="6"/>
                <c:pt idx="0">
                  <c:v>57</c:v>
                </c:pt>
                <c:pt idx="1">
                  <c:v>54</c:v>
                </c:pt>
                <c:pt idx="2">
                  <c:v>49</c:v>
                </c:pt>
                <c:pt idx="3">
                  <c:v>45</c:v>
                </c:pt>
                <c:pt idx="4">
                  <c:v>45</c:v>
                </c:pt>
                <c:pt idx="5">
                  <c:v>45</c:v>
                </c:pt>
              </c:numCache>
            </c:numRef>
          </c:val>
          <c:extLst>
            <c:ext xmlns:c16="http://schemas.microsoft.com/office/drawing/2014/chart" uri="{C3380CC4-5D6E-409C-BE32-E72D297353CC}">
              <c16:uniqueId val="{00000000-9C52-44A4-8462-EC10081BE5D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6B7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5E5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50" b="1" i="0" u="none" strike="noStrike">
                <a:solidFill>
                  <a:srgbClr val="1B3B6F"/>
                </a:solidFill>
                <a:latin typeface="Arial"/>
              </a:defRPr>
            </a:pPr>
            <a:r>
              <a:rPr lang="es-AR" sz="1150" b="1" i="0" u="none" strike="noStrike">
                <a:solidFill>
                  <a:srgbClr val="1B3B6F"/>
                </a:solidFill>
                <a:latin typeface="Arial"/>
              </a:rPr>
              <a:t>% de clientes vs. % de ganancia por segmento</a:t>
            </a:r>
          </a:p>
        </c:rich>
      </c:tx>
      <c:overlay val="0"/>
    </c:title>
    <c:autoTitleDeleted val="0"/>
    <c:plotArea>
      <c:layout/>
      <c:barChart>
        <c:barDir val="col"/>
        <c:grouping val="clustered"/>
        <c:varyColors val="0"/>
        <c:ser>
          <c:idx val="0"/>
          <c:order val="0"/>
          <c:tx>
            <c:strRef>
              <c:f>Sheet1!$B$1</c:f>
              <c:strCache>
                <c:ptCount val="1"/>
                <c:pt idx="0">
                  <c:v>% de clientes</c:v>
                </c:pt>
              </c:strCache>
            </c:strRef>
          </c:tx>
          <c:spPr>
            <a:solidFill>
              <a:schemeClr val="tx1">
                <a:lumMod val="75000"/>
              </a:schemeClr>
            </a:solidFill>
            <a:effectLst/>
          </c:spPr>
          <c:invertIfNegative val="0"/>
          <c:dLbls>
            <c:numFmt formatCode="#,##0" sourceLinked="0"/>
            <c:spPr>
              <a:noFill/>
              <a:ln>
                <a:noFill/>
              </a:ln>
              <a:effectLst/>
            </c:spPr>
            <c:txPr>
              <a:bodyPr/>
              <a:lstStyle/>
              <a:p>
                <a:pPr>
                  <a:defRPr sz="850" b="0" i="0" u="none" strike="noStrike">
                    <a:solidFill>
                      <a:srgbClr val="1B1B1B"/>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Alto Valor</c:v>
                </c:pt>
                <c:pt idx="1">
                  <c:v>Recurrentes</c:v>
                </c:pt>
                <c:pt idx="2">
                  <c:v>Ocasionales</c:v>
                </c:pt>
                <c:pt idx="3">
                  <c:v>Sin Compras</c:v>
                </c:pt>
              </c:strCache>
            </c:strRef>
          </c:cat>
          <c:val>
            <c:numRef>
              <c:f>Sheet1!$B$2:$B$5</c:f>
              <c:numCache>
                <c:formatCode>General</c:formatCode>
                <c:ptCount val="4"/>
                <c:pt idx="0">
                  <c:v>16.7</c:v>
                </c:pt>
                <c:pt idx="1">
                  <c:v>40</c:v>
                </c:pt>
                <c:pt idx="2">
                  <c:v>39.700000000000003</c:v>
                </c:pt>
                <c:pt idx="3">
                  <c:v>3.7</c:v>
                </c:pt>
              </c:numCache>
            </c:numRef>
          </c:val>
          <c:extLst>
            <c:ext xmlns:c16="http://schemas.microsoft.com/office/drawing/2014/chart" uri="{C3380CC4-5D6E-409C-BE32-E72D297353CC}">
              <c16:uniqueId val="{00000000-1C44-46C2-BC51-20D72EF78F50}"/>
            </c:ext>
          </c:extLst>
        </c:ser>
        <c:ser>
          <c:idx val="1"/>
          <c:order val="1"/>
          <c:tx>
            <c:strRef>
              <c:f>Sheet1!$C$1</c:f>
              <c:strCache>
                <c:ptCount val="1"/>
                <c:pt idx="0">
                  <c:v>% de ganancia</c:v>
                </c:pt>
              </c:strCache>
            </c:strRef>
          </c:tx>
          <c:spPr>
            <a:solidFill>
              <a:schemeClr val="tx2">
                <a:lumMod val="50000"/>
              </a:schemeClr>
            </a:solidFill>
            <a:effectLst/>
          </c:spPr>
          <c:invertIfNegative val="0"/>
          <c:dLbls>
            <c:numFmt formatCode="#,##0" sourceLinked="0"/>
            <c:spPr>
              <a:noFill/>
              <a:ln>
                <a:noFill/>
              </a:ln>
              <a:effectLst/>
            </c:spPr>
            <c:txPr>
              <a:bodyPr/>
              <a:lstStyle/>
              <a:p>
                <a:pPr>
                  <a:defRPr sz="850" b="0" i="0" u="none" strike="noStrike">
                    <a:solidFill>
                      <a:srgbClr val="1B1B1B"/>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Alto Valor</c:v>
                </c:pt>
                <c:pt idx="1">
                  <c:v>Recurrentes</c:v>
                </c:pt>
                <c:pt idx="2">
                  <c:v>Ocasionales</c:v>
                </c:pt>
                <c:pt idx="3">
                  <c:v>Sin Compras</c:v>
                </c:pt>
              </c:strCache>
            </c:strRef>
          </c:cat>
          <c:val>
            <c:numRef>
              <c:f>Sheet1!$C$2:$C$5</c:f>
              <c:numCache>
                <c:formatCode>General</c:formatCode>
                <c:ptCount val="4"/>
                <c:pt idx="0">
                  <c:v>32.6</c:v>
                </c:pt>
                <c:pt idx="1">
                  <c:v>46.6</c:v>
                </c:pt>
                <c:pt idx="2">
                  <c:v>20.8</c:v>
                </c:pt>
                <c:pt idx="3">
                  <c:v>0</c:v>
                </c:pt>
              </c:numCache>
            </c:numRef>
          </c:val>
          <c:extLst>
            <c:ext xmlns:c16="http://schemas.microsoft.com/office/drawing/2014/chart" uri="{C3380CC4-5D6E-409C-BE32-E72D297353CC}">
              <c16:uniqueId val="{00000001-1C44-46C2-BC51-20D72EF78F5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6B7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17"/>
          <p:cNvSpPr/>
          <p:nvPr/>
        </p:nvSpPr>
        <p:spPr>
          <a:xfrm>
            <a:off x="554469" y="4438606"/>
            <a:ext cx="331056" cy="330997"/>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 name="Google Shape;10;p17"/>
          <p:cNvGrpSpPr/>
          <p:nvPr/>
        </p:nvGrpSpPr>
        <p:grpSpPr>
          <a:xfrm>
            <a:off x="719100" y="539400"/>
            <a:ext cx="7705800" cy="4064700"/>
            <a:chOff x="719100" y="539400"/>
            <a:chExt cx="7705800" cy="4064700"/>
          </a:xfrm>
        </p:grpSpPr>
        <p:cxnSp>
          <p:nvCxnSpPr>
            <p:cNvPr id="11" name="Google Shape;11;p17"/>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12" name="Google Shape;12;p17"/>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sp>
        <p:nvSpPr>
          <p:cNvPr id="13" name="Google Shape;13;p17"/>
          <p:cNvSpPr txBox="1"/>
          <p:nvPr>
            <p:ph type="ctrTitle"/>
          </p:nvPr>
        </p:nvSpPr>
        <p:spPr>
          <a:xfrm>
            <a:off x="1120175" y="951399"/>
            <a:ext cx="5874300" cy="2556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8500"/>
              <a:buNone/>
              <a:defRPr sz="7200"/>
            </a:lvl1pPr>
            <a:lvl2pPr lvl="1" algn="ctr">
              <a:lnSpc>
                <a:spcPct val="100000"/>
              </a:lnSpc>
              <a:spcBef>
                <a:spcPts val="0"/>
              </a:spcBef>
              <a:spcAft>
                <a:spcPts val="0"/>
              </a:spcAft>
              <a:buSzPts val="8500"/>
              <a:buNone/>
              <a:defRPr sz="8500"/>
            </a:lvl2pPr>
            <a:lvl3pPr lvl="2" algn="ctr">
              <a:lnSpc>
                <a:spcPct val="100000"/>
              </a:lnSpc>
              <a:spcBef>
                <a:spcPts val="0"/>
              </a:spcBef>
              <a:spcAft>
                <a:spcPts val="0"/>
              </a:spcAft>
              <a:buSzPts val="8500"/>
              <a:buNone/>
              <a:defRPr sz="8500"/>
            </a:lvl3pPr>
            <a:lvl4pPr lvl="3" algn="ctr">
              <a:lnSpc>
                <a:spcPct val="100000"/>
              </a:lnSpc>
              <a:spcBef>
                <a:spcPts val="0"/>
              </a:spcBef>
              <a:spcAft>
                <a:spcPts val="0"/>
              </a:spcAft>
              <a:buSzPts val="8500"/>
              <a:buNone/>
              <a:defRPr sz="8500"/>
            </a:lvl4pPr>
            <a:lvl5pPr lvl="4" algn="ctr">
              <a:lnSpc>
                <a:spcPct val="100000"/>
              </a:lnSpc>
              <a:spcBef>
                <a:spcPts val="0"/>
              </a:spcBef>
              <a:spcAft>
                <a:spcPts val="0"/>
              </a:spcAft>
              <a:buSzPts val="8500"/>
              <a:buNone/>
              <a:defRPr sz="8500"/>
            </a:lvl5pPr>
            <a:lvl6pPr lvl="5" algn="ctr">
              <a:lnSpc>
                <a:spcPct val="100000"/>
              </a:lnSpc>
              <a:spcBef>
                <a:spcPts val="0"/>
              </a:spcBef>
              <a:spcAft>
                <a:spcPts val="0"/>
              </a:spcAft>
              <a:buSzPts val="8500"/>
              <a:buNone/>
              <a:defRPr sz="8500"/>
            </a:lvl6pPr>
            <a:lvl7pPr lvl="6" algn="ctr">
              <a:lnSpc>
                <a:spcPct val="100000"/>
              </a:lnSpc>
              <a:spcBef>
                <a:spcPts val="0"/>
              </a:spcBef>
              <a:spcAft>
                <a:spcPts val="0"/>
              </a:spcAft>
              <a:buSzPts val="8500"/>
              <a:buNone/>
              <a:defRPr sz="8500"/>
            </a:lvl7pPr>
            <a:lvl8pPr lvl="7" algn="ctr">
              <a:lnSpc>
                <a:spcPct val="100000"/>
              </a:lnSpc>
              <a:spcBef>
                <a:spcPts val="0"/>
              </a:spcBef>
              <a:spcAft>
                <a:spcPts val="0"/>
              </a:spcAft>
              <a:buSzPts val="8500"/>
              <a:buNone/>
              <a:defRPr sz="8500"/>
            </a:lvl8pPr>
            <a:lvl9pPr lvl="8" algn="ctr">
              <a:lnSpc>
                <a:spcPct val="100000"/>
              </a:lnSpc>
              <a:spcBef>
                <a:spcPts val="0"/>
              </a:spcBef>
              <a:spcAft>
                <a:spcPts val="0"/>
              </a:spcAft>
              <a:buSzPts val="8500"/>
              <a:buNone/>
              <a:defRPr sz="8500"/>
            </a:lvl9pPr>
          </a:lstStyle>
          <a:p/>
        </p:txBody>
      </p:sp>
      <p:sp>
        <p:nvSpPr>
          <p:cNvPr id="14" name="Google Shape;14;p17"/>
          <p:cNvSpPr txBox="1"/>
          <p:nvPr>
            <p:ph idx="1" type="subTitle"/>
          </p:nvPr>
        </p:nvSpPr>
        <p:spPr>
          <a:xfrm>
            <a:off x="1237375" y="3620702"/>
            <a:ext cx="3969300" cy="3258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 name="Shape 15"/>
        <p:cNvGrpSpPr/>
        <p:nvPr/>
      </p:nvGrpSpPr>
      <p:grpSpPr>
        <a:xfrm>
          <a:off x="0" y="0"/>
          <a:ext cx="0" cy="0"/>
          <a:chOff x="0" y="0"/>
          <a:chExt cx="0" cy="0"/>
        </a:xfrm>
      </p:grpSpPr>
      <p:sp>
        <p:nvSpPr>
          <p:cNvPr id="16" name="Google Shape;16;p18"/>
          <p:cNvSpPr/>
          <p:nvPr/>
        </p:nvSpPr>
        <p:spPr>
          <a:xfrm flipH="1"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8"/>
          <p:cNvSpPr txBox="1"/>
          <p:nvPr>
            <p:ph type="title"/>
          </p:nvPr>
        </p:nvSpPr>
        <p:spPr>
          <a:xfrm>
            <a:off x="1302700" y="1389775"/>
            <a:ext cx="5490000" cy="132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2400"/>
              <a:buNone/>
              <a:defRPr b="1" sz="4000">
                <a:latin typeface="Poppins"/>
                <a:ea typeface="Poppins"/>
                <a:cs typeface="Poppins"/>
                <a:sym typeface="Poppins"/>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
        <p:nvSpPr>
          <p:cNvPr id="18" name="Google Shape;18;p18"/>
          <p:cNvSpPr txBox="1"/>
          <p:nvPr>
            <p:ph idx="1" type="subTitle"/>
          </p:nvPr>
        </p:nvSpPr>
        <p:spPr>
          <a:xfrm>
            <a:off x="1302700" y="2793725"/>
            <a:ext cx="5490000" cy="8682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1200"/>
              <a:buNone/>
              <a:defRPr sz="1400"/>
            </a:lvl1pPr>
            <a:lvl2pPr lvl="1" algn="l">
              <a:lnSpc>
                <a:spcPct val="115000"/>
              </a:lnSpc>
              <a:spcBef>
                <a:spcPts val="0"/>
              </a:spcBef>
              <a:spcAft>
                <a:spcPts val="0"/>
              </a:spcAft>
              <a:buClr>
                <a:schemeClr val="lt1"/>
              </a:buClr>
              <a:buSzPts val="1200"/>
              <a:buNone/>
              <a:defRPr>
                <a:solidFill>
                  <a:schemeClr val="lt1"/>
                </a:solidFill>
              </a:defRPr>
            </a:lvl2pPr>
            <a:lvl3pPr lvl="2" algn="l">
              <a:lnSpc>
                <a:spcPct val="115000"/>
              </a:lnSpc>
              <a:spcBef>
                <a:spcPts val="0"/>
              </a:spcBef>
              <a:spcAft>
                <a:spcPts val="0"/>
              </a:spcAft>
              <a:buClr>
                <a:schemeClr val="lt1"/>
              </a:buClr>
              <a:buSzPts val="1200"/>
              <a:buNone/>
              <a:defRPr>
                <a:solidFill>
                  <a:schemeClr val="lt1"/>
                </a:solidFill>
              </a:defRPr>
            </a:lvl3pPr>
            <a:lvl4pPr lvl="3" algn="l">
              <a:lnSpc>
                <a:spcPct val="115000"/>
              </a:lnSpc>
              <a:spcBef>
                <a:spcPts val="0"/>
              </a:spcBef>
              <a:spcAft>
                <a:spcPts val="0"/>
              </a:spcAft>
              <a:buClr>
                <a:schemeClr val="lt1"/>
              </a:buClr>
              <a:buSzPts val="1200"/>
              <a:buNone/>
              <a:defRPr>
                <a:solidFill>
                  <a:schemeClr val="lt1"/>
                </a:solidFill>
              </a:defRPr>
            </a:lvl4pPr>
            <a:lvl5pPr lvl="4" algn="l">
              <a:lnSpc>
                <a:spcPct val="115000"/>
              </a:lnSpc>
              <a:spcBef>
                <a:spcPts val="0"/>
              </a:spcBef>
              <a:spcAft>
                <a:spcPts val="0"/>
              </a:spcAft>
              <a:buClr>
                <a:schemeClr val="lt1"/>
              </a:buClr>
              <a:buSzPts val="1200"/>
              <a:buNone/>
              <a:defRPr>
                <a:solidFill>
                  <a:schemeClr val="lt1"/>
                </a:solidFill>
              </a:defRPr>
            </a:lvl5pPr>
            <a:lvl6pPr lvl="5" algn="l">
              <a:lnSpc>
                <a:spcPct val="115000"/>
              </a:lnSpc>
              <a:spcBef>
                <a:spcPts val="0"/>
              </a:spcBef>
              <a:spcAft>
                <a:spcPts val="0"/>
              </a:spcAft>
              <a:buClr>
                <a:schemeClr val="lt1"/>
              </a:buClr>
              <a:buSzPts val="1200"/>
              <a:buNone/>
              <a:defRPr>
                <a:solidFill>
                  <a:schemeClr val="lt1"/>
                </a:solidFill>
              </a:defRPr>
            </a:lvl6pPr>
            <a:lvl7pPr lvl="6" algn="l">
              <a:lnSpc>
                <a:spcPct val="115000"/>
              </a:lnSpc>
              <a:spcBef>
                <a:spcPts val="0"/>
              </a:spcBef>
              <a:spcAft>
                <a:spcPts val="0"/>
              </a:spcAft>
              <a:buClr>
                <a:schemeClr val="lt1"/>
              </a:buClr>
              <a:buSzPts val="1200"/>
              <a:buNone/>
              <a:defRPr>
                <a:solidFill>
                  <a:schemeClr val="lt1"/>
                </a:solidFill>
              </a:defRPr>
            </a:lvl7pPr>
            <a:lvl8pPr lvl="7" algn="l">
              <a:lnSpc>
                <a:spcPct val="115000"/>
              </a:lnSpc>
              <a:spcBef>
                <a:spcPts val="0"/>
              </a:spcBef>
              <a:spcAft>
                <a:spcPts val="0"/>
              </a:spcAft>
              <a:buClr>
                <a:schemeClr val="lt1"/>
              </a:buClr>
              <a:buSzPts val="1200"/>
              <a:buNone/>
              <a:defRPr>
                <a:solidFill>
                  <a:schemeClr val="lt1"/>
                </a:solidFill>
              </a:defRPr>
            </a:lvl8pPr>
            <a:lvl9pPr lvl="8" algn="l">
              <a:lnSpc>
                <a:spcPct val="115000"/>
              </a:lnSpc>
              <a:spcBef>
                <a:spcPts val="0"/>
              </a:spcBef>
              <a:spcAft>
                <a:spcPts val="0"/>
              </a:spcAft>
              <a:buClr>
                <a:schemeClr val="lt1"/>
              </a:buClr>
              <a:buSzPts val="1200"/>
              <a:buNone/>
              <a:defRPr>
                <a:solidFill>
                  <a:schemeClr val="lt1"/>
                </a:solidFill>
              </a:defRPr>
            </a:lvl9pPr>
          </a:lstStyle>
          <a:p/>
        </p:txBody>
      </p:sp>
      <p:grpSp>
        <p:nvGrpSpPr>
          <p:cNvPr id="19" name="Google Shape;19;p18"/>
          <p:cNvGrpSpPr/>
          <p:nvPr/>
        </p:nvGrpSpPr>
        <p:grpSpPr>
          <a:xfrm>
            <a:off x="719100" y="539400"/>
            <a:ext cx="7705800" cy="4064700"/>
            <a:chOff x="719100" y="539400"/>
            <a:chExt cx="7705800" cy="4064700"/>
          </a:xfrm>
        </p:grpSpPr>
        <p:cxnSp>
          <p:nvCxnSpPr>
            <p:cNvPr id="20" name="Google Shape;20;p18"/>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21" name="Google Shape;21;p18"/>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sp>
        <p:nvSpPr>
          <p:cNvPr id="22" name="Google Shape;22;p18"/>
          <p:cNvSpPr/>
          <p:nvPr/>
        </p:nvSpPr>
        <p:spPr>
          <a:xfrm rot="5400000">
            <a:off x="8020160" y="204135"/>
            <a:ext cx="670627" cy="670508"/>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2"/>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9"/>
          <p:cNvSpPr/>
          <p:nvPr/>
        </p:nvSpPr>
        <p:spPr>
          <a:xfrm rot="5400000">
            <a:off x="8243792" y="4413356"/>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9"/>
          <p:cNvSpPr txBox="1"/>
          <p:nvPr>
            <p:ph type="title"/>
          </p:nvPr>
        </p:nvSpPr>
        <p:spPr>
          <a:xfrm>
            <a:off x="4085025" y="2155800"/>
            <a:ext cx="4050000" cy="1480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b="1" sz="4500">
                <a:latin typeface="Poppins"/>
                <a:ea typeface="Poppins"/>
                <a:cs typeface="Poppins"/>
                <a:sym typeface="Poppi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6" name="Google Shape;26;p19"/>
          <p:cNvSpPr txBox="1"/>
          <p:nvPr>
            <p:ph idx="2" type="title"/>
          </p:nvPr>
        </p:nvSpPr>
        <p:spPr>
          <a:xfrm>
            <a:off x="4201400" y="1072275"/>
            <a:ext cx="977400" cy="9774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10000"/>
              <a:buNone/>
              <a:defRPr sz="5000"/>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p:txBody>
      </p:sp>
      <p:sp>
        <p:nvSpPr>
          <p:cNvPr id="27" name="Google Shape;27;p19"/>
          <p:cNvSpPr txBox="1"/>
          <p:nvPr>
            <p:ph idx="1" type="subTitle"/>
          </p:nvPr>
        </p:nvSpPr>
        <p:spPr>
          <a:xfrm>
            <a:off x="4085025" y="3742125"/>
            <a:ext cx="40500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l">
              <a:lnSpc>
                <a:spcPct val="100000"/>
              </a:lnSpc>
              <a:spcBef>
                <a:spcPts val="0"/>
              </a:spcBef>
              <a:spcAft>
                <a:spcPts val="0"/>
              </a:spcAft>
              <a:buSzPts val="1200"/>
              <a:buNone/>
              <a:defRPr sz="1400"/>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
        <p:nvSpPr>
          <p:cNvPr id="28" name="Google Shape;28;p19"/>
          <p:cNvSpPr/>
          <p:nvPr>
            <p:ph idx="3" type="pic"/>
          </p:nvPr>
        </p:nvSpPr>
        <p:spPr>
          <a:xfrm>
            <a:off x="1116290" y="947839"/>
            <a:ext cx="2381700" cy="3247800"/>
          </a:xfrm>
          <a:prstGeom prst="round2SameRect">
            <a:avLst>
              <a:gd fmla="val 50000" name="adj1"/>
              <a:gd fmla="val 0" name="adj2"/>
            </a:avLst>
          </a:prstGeom>
          <a:noFill/>
          <a:ln>
            <a:noFill/>
          </a:ln>
        </p:spPr>
      </p:sp>
      <p:cxnSp>
        <p:nvCxnSpPr>
          <p:cNvPr id="29" name="Google Shape;29;p19"/>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30" name="Google Shape;30;p19"/>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20"/>
          <p:cNvSpPr/>
          <p:nvPr/>
        </p:nvSpPr>
        <p:spPr>
          <a:xfrm rot="10800000">
            <a:off x="8243792" y="4413356"/>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20"/>
          <p:cNvGrpSpPr/>
          <p:nvPr/>
        </p:nvGrpSpPr>
        <p:grpSpPr>
          <a:xfrm>
            <a:off x="719100" y="539400"/>
            <a:ext cx="7705800" cy="4064700"/>
            <a:chOff x="719100" y="539400"/>
            <a:chExt cx="7705800" cy="4064700"/>
          </a:xfrm>
        </p:grpSpPr>
        <p:cxnSp>
          <p:nvCxnSpPr>
            <p:cNvPr id="34" name="Google Shape;34;p20"/>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35" name="Google Shape;35;p20"/>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sp>
        <p:nvSpPr>
          <p:cNvPr id="36" name="Google Shape;36;p20"/>
          <p:cNvSpPr txBox="1"/>
          <p:nvPr>
            <p:ph type="title"/>
          </p:nvPr>
        </p:nvSpPr>
        <p:spPr>
          <a:xfrm>
            <a:off x="3270000" y="1517550"/>
            <a:ext cx="5154000" cy="21084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None/>
              <a:defRPr sz="7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3">
    <p:spTree>
      <p:nvGrpSpPr>
        <p:cNvPr id="37" name="Shape 37"/>
        <p:cNvGrpSpPr/>
        <p:nvPr/>
      </p:nvGrpSpPr>
      <p:grpSpPr>
        <a:xfrm>
          <a:off x="0" y="0"/>
          <a:ext cx="0" cy="0"/>
          <a:chOff x="0" y="0"/>
          <a:chExt cx="0" cy="0"/>
        </a:xfrm>
      </p:grpSpPr>
      <p:sp>
        <p:nvSpPr>
          <p:cNvPr id="38" name="Google Shape;38;p21"/>
          <p:cNvSpPr/>
          <p:nvPr/>
        </p:nvSpPr>
        <p:spPr>
          <a:xfrm rot="5400000">
            <a:off x="8243792" y="4413356"/>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 name="Google Shape;39;p21"/>
          <p:cNvGrpSpPr/>
          <p:nvPr/>
        </p:nvGrpSpPr>
        <p:grpSpPr>
          <a:xfrm>
            <a:off x="719100" y="539400"/>
            <a:ext cx="7705800" cy="4064700"/>
            <a:chOff x="719100" y="539400"/>
            <a:chExt cx="7705800" cy="4064700"/>
          </a:xfrm>
        </p:grpSpPr>
        <p:cxnSp>
          <p:nvCxnSpPr>
            <p:cNvPr id="40" name="Google Shape;40;p21"/>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41" name="Google Shape;41;p21"/>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sp>
        <p:nvSpPr>
          <p:cNvPr id="42" name="Google Shape;42;p21"/>
          <p:cNvSpPr txBox="1"/>
          <p:nvPr>
            <p:ph type="title"/>
          </p:nvPr>
        </p:nvSpPr>
        <p:spPr>
          <a:xfrm>
            <a:off x="720000" y="539400"/>
            <a:ext cx="7704000" cy="51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22"/>
          <p:cNvSpPr/>
          <p:nvPr/>
        </p:nvSpPr>
        <p:spPr>
          <a:xfrm rot="-5400000">
            <a:off x="529251" y="3819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45" name="Google Shape;45;p22"/>
          <p:cNvSpPr txBox="1"/>
          <p:nvPr>
            <p:ph hasCustomPrompt="1" type="title"/>
          </p:nvPr>
        </p:nvSpPr>
        <p:spPr>
          <a:xfrm>
            <a:off x="720000" y="1721075"/>
            <a:ext cx="5253000" cy="1372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0000"/>
              <a:buNone/>
              <a:defRPr sz="7200"/>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a:r>
              <a:t>xx%</a:t>
            </a:r>
          </a:p>
        </p:txBody>
      </p:sp>
      <p:sp>
        <p:nvSpPr>
          <p:cNvPr id="46" name="Google Shape;46;p22"/>
          <p:cNvSpPr txBox="1"/>
          <p:nvPr>
            <p:ph idx="1" type="subTitle"/>
          </p:nvPr>
        </p:nvSpPr>
        <p:spPr>
          <a:xfrm>
            <a:off x="720000" y="3093325"/>
            <a:ext cx="52530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1200"/>
              <a:buNone/>
              <a:defRPr sz="1400"/>
            </a:lvl1pPr>
            <a:lvl2pPr lvl="1" algn="ctr">
              <a:lnSpc>
                <a:spcPct val="115000"/>
              </a:lnSpc>
              <a:spcBef>
                <a:spcPts val="0"/>
              </a:spcBef>
              <a:spcAft>
                <a:spcPts val="0"/>
              </a:spcAft>
              <a:buSzPts val="1200"/>
              <a:buNone/>
              <a:defRPr/>
            </a:lvl2pPr>
            <a:lvl3pPr lvl="2" algn="ctr">
              <a:lnSpc>
                <a:spcPct val="115000"/>
              </a:lnSpc>
              <a:spcBef>
                <a:spcPts val="0"/>
              </a:spcBef>
              <a:spcAft>
                <a:spcPts val="0"/>
              </a:spcAft>
              <a:buSzPts val="1200"/>
              <a:buNone/>
              <a:defRPr/>
            </a:lvl3pPr>
            <a:lvl4pPr lvl="3" algn="ctr">
              <a:lnSpc>
                <a:spcPct val="115000"/>
              </a:lnSpc>
              <a:spcBef>
                <a:spcPts val="0"/>
              </a:spcBef>
              <a:spcAft>
                <a:spcPts val="0"/>
              </a:spcAft>
              <a:buSzPts val="1200"/>
              <a:buNone/>
              <a:defRPr/>
            </a:lvl4pPr>
            <a:lvl5pPr lvl="4" algn="ctr">
              <a:lnSpc>
                <a:spcPct val="115000"/>
              </a:lnSpc>
              <a:spcBef>
                <a:spcPts val="0"/>
              </a:spcBef>
              <a:spcAft>
                <a:spcPts val="0"/>
              </a:spcAft>
              <a:buSzPts val="1200"/>
              <a:buNone/>
              <a:defRPr/>
            </a:lvl5pPr>
            <a:lvl6pPr lvl="5" algn="ctr">
              <a:lnSpc>
                <a:spcPct val="115000"/>
              </a:lnSpc>
              <a:spcBef>
                <a:spcPts val="0"/>
              </a:spcBef>
              <a:spcAft>
                <a:spcPts val="0"/>
              </a:spcAft>
              <a:buSzPts val="1200"/>
              <a:buNone/>
              <a:defRPr/>
            </a:lvl6pPr>
            <a:lvl7pPr lvl="6" algn="ctr">
              <a:lnSpc>
                <a:spcPct val="115000"/>
              </a:lnSpc>
              <a:spcBef>
                <a:spcPts val="0"/>
              </a:spcBef>
              <a:spcAft>
                <a:spcPts val="0"/>
              </a:spcAft>
              <a:buSzPts val="1200"/>
              <a:buNone/>
              <a:defRPr/>
            </a:lvl7pPr>
            <a:lvl8pPr lvl="7" algn="ctr">
              <a:lnSpc>
                <a:spcPct val="115000"/>
              </a:lnSpc>
              <a:spcBef>
                <a:spcPts val="0"/>
              </a:spcBef>
              <a:spcAft>
                <a:spcPts val="0"/>
              </a:spcAft>
              <a:buSzPts val="1200"/>
              <a:buNone/>
              <a:defRPr/>
            </a:lvl8pPr>
            <a:lvl9pPr lvl="8" algn="ctr">
              <a:lnSpc>
                <a:spcPct val="115000"/>
              </a:lnSpc>
              <a:spcBef>
                <a:spcPts val="0"/>
              </a:spcBef>
              <a:spcAft>
                <a:spcPts val="0"/>
              </a:spcAft>
              <a:buSzPts val="1200"/>
              <a:buNone/>
              <a:defRPr/>
            </a:lvl9pPr>
          </a:lstStyle>
          <a:p/>
        </p:txBody>
      </p:sp>
      <p:grpSp>
        <p:nvGrpSpPr>
          <p:cNvPr id="47" name="Google Shape;47;p22"/>
          <p:cNvGrpSpPr/>
          <p:nvPr/>
        </p:nvGrpSpPr>
        <p:grpSpPr>
          <a:xfrm>
            <a:off x="719100" y="539400"/>
            <a:ext cx="7705800" cy="4064700"/>
            <a:chOff x="719100" y="539400"/>
            <a:chExt cx="7705800" cy="4064700"/>
          </a:xfrm>
        </p:grpSpPr>
        <p:cxnSp>
          <p:nvCxnSpPr>
            <p:cNvPr id="48" name="Google Shape;48;p22"/>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49" name="Google Shape;49;p22"/>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grpSp>
        <p:nvGrpSpPr>
          <p:cNvPr id="50" name="Google Shape;50;p22"/>
          <p:cNvGrpSpPr/>
          <p:nvPr/>
        </p:nvGrpSpPr>
        <p:grpSpPr>
          <a:xfrm flipH="1" rot="-5400000">
            <a:off x="6513141" y="2883266"/>
            <a:ext cx="1743359" cy="2853115"/>
            <a:chOff x="7400641" y="0"/>
            <a:chExt cx="1743359" cy="2853116"/>
          </a:xfrm>
        </p:grpSpPr>
        <p:sp>
          <p:nvSpPr>
            <p:cNvPr id="51" name="Google Shape;51;p22"/>
            <p:cNvSpPr/>
            <p:nvPr/>
          </p:nvSpPr>
          <p:spPr>
            <a:xfrm rot="5400000">
              <a:off x="7400641" y="1109756"/>
              <a:ext cx="1743359" cy="1743359"/>
            </a:xfrm>
            <a:custGeom>
              <a:rect b="b" l="l" r="r" t="t"/>
              <a:pathLst>
                <a:path extrusionOk="0" h="23818" w="23818">
                  <a:moveTo>
                    <a:pt x="0" y="1"/>
                  </a:moveTo>
                  <a:lnTo>
                    <a:pt x="0" y="23817"/>
                  </a:lnTo>
                  <a:cubicBezTo>
                    <a:pt x="13155" y="23817"/>
                    <a:pt x="23817" y="13155"/>
                    <a:pt x="23817" y="1"/>
                  </a:cubicBezTo>
                  <a:close/>
                </a:path>
              </a:pathLst>
            </a:custGeom>
            <a:gradFill>
              <a:gsLst>
                <a:gs pos="0">
                  <a:srgbClr val="174B67">
                    <a:alpha val="34902"/>
                  </a:srgbClr>
                </a:gs>
                <a:gs pos="100000">
                  <a:srgbClr val="174B67">
                    <a:alpha val="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2"/>
            <p:cNvSpPr/>
            <p:nvPr/>
          </p:nvSpPr>
          <p:spPr>
            <a:xfrm rot="5400000">
              <a:off x="8034154" y="1109707"/>
              <a:ext cx="1109800" cy="1109893"/>
            </a:xfrm>
            <a:custGeom>
              <a:rect b="b" l="l" r="r" t="t"/>
              <a:pathLst>
                <a:path extrusionOk="0" h="11910" w="11909">
                  <a:moveTo>
                    <a:pt x="0" y="1"/>
                  </a:moveTo>
                  <a:lnTo>
                    <a:pt x="0" y="11909"/>
                  </a:lnTo>
                  <a:cubicBezTo>
                    <a:pt x="6581" y="11909"/>
                    <a:pt x="11909" y="6581"/>
                    <a:pt x="11909" y="1"/>
                  </a:cubicBezTo>
                  <a:close/>
                </a:path>
              </a:pathLst>
            </a:custGeom>
            <a:gradFill>
              <a:gsLst>
                <a:gs pos="0">
                  <a:srgbClr val="174B67">
                    <a:alpha val="14902"/>
                  </a:srgbClr>
                </a:gs>
                <a:gs pos="100000">
                  <a:srgbClr val="174B67">
                    <a:alpha val="14902"/>
                  </a:srgbClr>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2"/>
            <p:cNvSpPr/>
            <p:nvPr/>
          </p:nvSpPr>
          <p:spPr>
            <a:xfrm rot="5400000">
              <a:off x="8034154" y="-47"/>
              <a:ext cx="1109800" cy="1109893"/>
            </a:xfrm>
            <a:custGeom>
              <a:rect b="b" l="l" r="r" t="t"/>
              <a:pathLst>
                <a:path extrusionOk="0" h="11910" w="11909">
                  <a:moveTo>
                    <a:pt x="0" y="1"/>
                  </a:moveTo>
                  <a:cubicBezTo>
                    <a:pt x="0" y="6581"/>
                    <a:pt x="5334" y="11909"/>
                    <a:pt x="11908" y="11909"/>
                  </a:cubicBezTo>
                  <a:lnTo>
                    <a:pt x="11908" y="1"/>
                  </a:lnTo>
                  <a:close/>
                </a:path>
              </a:pathLst>
            </a:custGeom>
            <a:gradFill>
              <a:gsLst>
                <a:gs pos="0">
                  <a:srgbClr val="293F5D">
                    <a:alpha val="20000"/>
                  </a:srgbClr>
                </a:gs>
                <a:gs pos="100000">
                  <a:srgbClr val="4B4F73">
                    <a:alpha val="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2">
    <p:spTree>
      <p:nvGrpSpPr>
        <p:cNvPr id="54" name="Shape 54"/>
        <p:cNvGrpSpPr/>
        <p:nvPr/>
      </p:nvGrpSpPr>
      <p:grpSpPr>
        <a:xfrm>
          <a:off x="0" y="0"/>
          <a:ext cx="0" cy="0"/>
          <a:chOff x="0" y="0"/>
          <a:chExt cx="0" cy="0"/>
        </a:xfrm>
      </p:grpSpPr>
      <p:sp>
        <p:nvSpPr>
          <p:cNvPr id="55" name="Google Shape;55;p23"/>
          <p:cNvSpPr/>
          <p:nvPr/>
        </p:nvSpPr>
        <p:spPr>
          <a:xfrm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 name="Google Shape;56;p23"/>
          <p:cNvGrpSpPr/>
          <p:nvPr/>
        </p:nvGrpSpPr>
        <p:grpSpPr>
          <a:xfrm>
            <a:off x="719100" y="539400"/>
            <a:ext cx="7705800" cy="4064700"/>
            <a:chOff x="719100" y="539400"/>
            <a:chExt cx="7705800" cy="4064700"/>
          </a:xfrm>
        </p:grpSpPr>
        <p:cxnSp>
          <p:nvCxnSpPr>
            <p:cNvPr id="57" name="Google Shape;57;p23"/>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58" name="Google Shape;58;p23"/>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sp>
        <p:nvSpPr>
          <p:cNvPr id="59" name="Google Shape;59;p23"/>
          <p:cNvSpPr txBox="1"/>
          <p:nvPr>
            <p:ph type="title"/>
          </p:nvPr>
        </p:nvSpPr>
        <p:spPr>
          <a:xfrm>
            <a:off x="720000" y="539400"/>
            <a:ext cx="7704000" cy="51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
    <p:spTree>
      <p:nvGrpSpPr>
        <p:cNvPr id="60" name="Shape 60"/>
        <p:cNvGrpSpPr/>
        <p:nvPr/>
      </p:nvGrpSpPr>
      <p:grpSpPr>
        <a:xfrm>
          <a:off x="0" y="0"/>
          <a:ext cx="0" cy="0"/>
          <a:chOff x="0" y="0"/>
          <a:chExt cx="0" cy="0"/>
        </a:xfrm>
      </p:grpSpPr>
      <p:sp>
        <p:nvSpPr>
          <p:cNvPr id="61" name="Google Shape;61;p24"/>
          <p:cNvSpPr/>
          <p:nvPr/>
        </p:nvSpPr>
        <p:spPr>
          <a:xfrm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4"/>
          <p:cNvSpPr txBox="1"/>
          <p:nvPr>
            <p:ph type="title"/>
          </p:nvPr>
        </p:nvSpPr>
        <p:spPr>
          <a:xfrm>
            <a:off x="2311527" y="1561425"/>
            <a:ext cx="1934400" cy="393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b="0" sz="1800">
                <a:latin typeface="Poppins SemiBold"/>
                <a:ea typeface="Poppins SemiBold"/>
                <a:cs typeface="Poppins SemiBold"/>
                <a:sym typeface="Poppins SemiBold"/>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63" name="Google Shape;63;p24"/>
          <p:cNvSpPr txBox="1"/>
          <p:nvPr>
            <p:ph idx="2" type="title"/>
          </p:nvPr>
        </p:nvSpPr>
        <p:spPr>
          <a:xfrm>
            <a:off x="5638486" y="1561425"/>
            <a:ext cx="1934400" cy="393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b="0" sz="1800">
                <a:latin typeface="Poppins SemiBold"/>
                <a:ea typeface="Poppins SemiBold"/>
                <a:cs typeface="Poppins SemiBold"/>
                <a:sym typeface="Poppins SemiBold"/>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64" name="Google Shape;64;p24"/>
          <p:cNvSpPr txBox="1"/>
          <p:nvPr>
            <p:ph idx="1" type="subTitle"/>
          </p:nvPr>
        </p:nvSpPr>
        <p:spPr>
          <a:xfrm>
            <a:off x="2311525" y="1878825"/>
            <a:ext cx="1934400" cy="716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15000"/>
              </a:lnSpc>
              <a:spcBef>
                <a:spcPts val="0"/>
              </a:spcBef>
              <a:spcAft>
                <a:spcPts val="0"/>
              </a:spcAft>
              <a:buSzPts val="1200"/>
              <a:buNone/>
              <a:defRPr/>
            </a:lvl2pPr>
            <a:lvl3pPr lvl="2" algn="ctr">
              <a:lnSpc>
                <a:spcPct val="115000"/>
              </a:lnSpc>
              <a:spcBef>
                <a:spcPts val="0"/>
              </a:spcBef>
              <a:spcAft>
                <a:spcPts val="0"/>
              </a:spcAft>
              <a:buSzPts val="1200"/>
              <a:buNone/>
              <a:defRPr/>
            </a:lvl3pPr>
            <a:lvl4pPr lvl="3" algn="ctr">
              <a:lnSpc>
                <a:spcPct val="115000"/>
              </a:lnSpc>
              <a:spcBef>
                <a:spcPts val="0"/>
              </a:spcBef>
              <a:spcAft>
                <a:spcPts val="0"/>
              </a:spcAft>
              <a:buSzPts val="1200"/>
              <a:buNone/>
              <a:defRPr/>
            </a:lvl4pPr>
            <a:lvl5pPr lvl="4" algn="ctr">
              <a:lnSpc>
                <a:spcPct val="115000"/>
              </a:lnSpc>
              <a:spcBef>
                <a:spcPts val="0"/>
              </a:spcBef>
              <a:spcAft>
                <a:spcPts val="0"/>
              </a:spcAft>
              <a:buSzPts val="1200"/>
              <a:buNone/>
              <a:defRPr/>
            </a:lvl5pPr>
            <a:lvl6pPr lvl="5" algn="ctr">
              <a:lnSpc>
                <a:spcPct val="115000"/>
              </a:lnSpc>
              <a:spcBef>
                <a:spcPts val="0"/>
              </a:spcBef>
              <a:spcAft>
                <a:spcPts val="0"/>
              </a:spcAft>
              <a:buSzPts val="1200"/>
              <a:buNone/>
              <a:defRPr/>
            </a:lvl6pPr>
            <a:lvl7pPr lvl="6" algn="ctr">
              <a:lnSpc>
                <a:spcPct val="115000"/>
              </a:lnSpc>
              <a:spcBef>
                <a:spcPts val="0"/>
              </a:spcBef>
              <a:spcAft>
                <a:spcPts val="0"/>
              </a:spcAft>
              <a:buSzPts val="1200"/>
              <a:buNone/>
              <a:defRPr/>
            </a:lvl7pPr>
            <a:lvl8pPr lvl="7" algn="ctr">
              <a:lnSpc>
                <a:spcPct val="115000"/>
              </a:lnSpc>
              <a:spcBef>
                <a:spcPts val="0"/>
              </a:spcBef>
              <a:spcAft>
                <a:spcPts val="0"/>
              </a:spcAft>
              <a:buSzPts val="1200"/>
              <a:buNone/>
              <a:defRPr/>
            </a:lvl8pPr>
            <a:lvl9pPr lvl="8" algn="ctr">
              <a:lnSpc>
                <a:spcPct val="115000"/>
              </a:lnSpc>
              <a:spcBef>
                <a:spcPts val="0"/>
              </a:spcBef>
              <a:spcAft>
                <a:spcPts val="0"/>
              </a:spcAft>
              <a:buSzPts val="1200"/>
              <a:buNone/>
              <a:defRPr/>
            </a:lvl9pPr>
          </a:lstStyle>
          <a:p/>
        </p:txBody>
      </p:sp>
      <p:sp>
        <p:nvSpPr>
          <p:cNvPr id="65" name="Google Shape;65;p24"/>
          <p:cNvSpPr txBox="1"/>
          <p:nvPr>
            <p:ph idx="3" type="subTitle"/>
          </p:nvPr>
        </p:nvSpPr>
        <p:spPr>
          <a:xfrm>
            <a:off x="5638476" y="1878825"/>
            <a:ext cx="1934400" cy="716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15000"/>
              </a:lnSpc>
              <a:spcBef>
                <a:spcPts val="0"/>
              </a:spcBef>
              <a:spcAft>
                <a:spcPts val="0"/>
              </a:spcAft>
              <a:buSzPts val="1200"/>
              <a:buNone/>
              <a:defRPr/>
            </a:lvl2pPr>
            <a:lvl3pPr lvl="2" algn="ctr">
              <a:lnSpc>
                <a:spcPct val="115000"/>
              </a:lnSpc>
              <a:spcBef>
                <a:spcPts val="0"/>
              </a:spcBef>
              <a:spcAft>
                <a:spcPts val="0"/>
              </a:spcAft>
              <a:buSzPts val="1200"/>
              <a:buNone/>
              <a:defRPr/>
            </a:lvl3pPr>
            <a:lvl4pPr lvl="3" algn="ctr">
              <a:lnSpc>
                <a:spcPct val="115000"/>
              </a:lnSpc>
              <a:spcBef>
                <a:spcPts val="0"/>
              </a:spcBef>
              <a:spcAft>
                <a:spcPts val="0"/>
              </a:spcAft>
              <a:buSzPts val="1200"/>
              <a:buNone/>
              <a:defRPr/>
            </a:lvl4pPr>
            <a:lvl5pPr lvl="4" algn="ctr">
              <a:lnSpc>
                <a:spcPct val="115000"/>
              </a:lnSpc>
              <a:spcBef>
                <a:spcPts val="0"/>
              </a:spcBef>
              <a:spcAft>
                <a:spcPts val="0"/>
              </a:spcAft>
              <a:buSzPts val="1200"/>
              <a:buNone/>
              <a:defRPr/>
            </a:lvl5pPr>
            <a:lvl6pPr lvl="5" algn="ctr">
              <a:lnSpc>
                <a:spcPct val="115000"/>
              </a:lnSpc>
              <a:spcBef>
                <a:spcPts val="0"/>
              </a:spcBef>
              <a:spcAft>
                <a:spcPts val="0"/>
              </a:spcAft>
              <a:buSzPts val="1200"/>
              <a:buNone/>
              <a:defRPr/>
            </a:lvl6pPr>
            <a:lvl7pPr lvl="6" algn="ctr">
              <a:lnSpc>
                <a:spcPct val="115000"/>
              </a:lnSpc>
              <a:spcBef>
                <a:spcPts val="0"/>
              </a:spcBef>
              <a:spcAft>
                <a:spcPts val="0"/>
              </a:spcAft>
              <a:buSzPts val="1200"/>
              <a:buNone/>
              <a:defRPr/>
            </a:lvl7pPr>
            <a:lvl8pPr lvl="7" algn="ctr">
              <a:lnSpc>
                <a:spcPct val="115000"/>
              </a:lnSpc>
              <a:spcBef>
                <a:spcPts val="0"/>
              </a:spcBef>
              <a:spcAft>
                <a:spcPts val="0"/>
              </a:spcAft>
              <a:buSzPts val="1200"/>
              <a:buNone/>
              <a:defRPr/>
            </a:lvl8pPr>
            <a:lvl9pPr lvl="8" algn="ctr">
              <a:lnSpc>
                <a:spcPct val="115000"/>
              </a:lnSpc>
              <a:spcBef>
                <a:spcPts val="0"/>
              </a:spcBef>
              <a:spcAft>
                <a:spcPts val="0"/>
              </a:spcAft>
              <a:buSzPts val="1200"/>
              <a:buNone/>
              <a:defRPr/>
            </a:lvl9pPr>
          </a:lstStyle>
          <a:p/>
        </p:txBody>
      </p:sp>
      <p:sp>
        <p:nvSpPr>
          <p:cNvPr id="66" name="Google Shape;66;p24"/>
          <p:cNvSpPr txBox="1"/>
          <p:nvPr>
            <p:ph idx="4" type="title"/>
          </p:nvPr>
        </p:nvSpPr>
        <p:spPr>
          <a:xfrm>
            <a:off x="2311527" y="3136075"/>
            <a:ext cx="1934400" cy="393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b="0" sz="1800">
                <a:latin typeface="Poppins SemiBold"/>
                <a:ea typeface="Poppins SemiBold"/>
                <a:cs typeface="Poppins SemiBold"/>
                <a:sym typeface="Poppins SemiBold"/>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67" name="Google Shape;67;p24"/>
          <p:cNvSpPr txBox="1"/>
          <p:nvPr>
            <p:ph idx="5" type="title"/>
          </p:nvPr>
        </p:nvSpPr>
        <p:spPr>
          <a:xfrm>
            <a:off x="5638475" y="3136075"/>
            <a:ext cx="1934400" cy="393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b="0" sz="1800">
                <a:latin typeface="Poppins SemiBold"/>
                <a:ea typeface="Poppins SemiBold"/>
                <a:cs typeface="Poppins SemiBold"/>
                <a:sym typeface="Poppins SemiBold"/>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68" name="Google Shape;68;p24"/>
          <p:cNvSpPr txBox="1"/>
          <p:nvPr>
            <p:ph idx="6" type="subTitle"/>
          </p:nvPr>
        </p:nvSpPr>
        <p:spPr>
          <a:xfrm>
            <a:off x="2311525" y="3453475"/>
            <a:ext cx="1934400" cy="716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15000"/>
              </a:lnSpc>
              <a:spcBef>
                <a:spcPts val="0"/>
              </a:spcBef>
              <a:spcAft>
                <a:spcPts val="0"/>
              </a:spcAft>
              <a:buSzPts val="1200"/>
              <a:buNone/>
              <a:defRPr/>
            </a:lvl2pPr>
            <a:lvl3pPr lvl="2" algn="ctr">
              <a:lnSpc>
                <a:spcPct val="115000"/>
              </a:lnSpc>
              <a:spcBef>
                <a:spcPts val="0"/>
              </a:spcBef>
              <a:spcAft>
                <a:spcPts val="0"/>
              </a:spcAft>
              <a:buSzPts val="1200"/>
              <a:buNone/>
              <a:defRPr/>
            </a:lvl3pPr>
            <a:lvl4pPr lvl="3" algn="ctr">
              <a:lnSpc>
                <a:spcPct val="115000"/>
              </a:lnSpc>
              <a:spcBef>
                <a:spcPts val="0"/>
              </a:spcBef>
              <a:spcAft>
                <a:spcPts val="0"/>
              </a:spcAft>
              <a:buSzPts val="1200"/>
              <a:buNone/>
              <a:defRPr/>
            </a:lvl4pPr>
            <a:lvl5pPr lvl="4" algn="ctr">
              <a:lnSpc>
                <a:spcPct val="115000"/>
              </a:lnSpc>
              <a:spcBef>
                <a:spcPts val="0"/>
              </a:spcBef>
              <a:spcAft>
                <a:spcPts val="0"/>
              </a:spcAft>
              <a:buSzPts val="1200"/>
              <a:buNone/>
              <a:defRPr/>
            </a:lvl5pPr>
            <a:lvl6pPr lvl="5" algn="ctr">
              <a:lnSpc>
                <a:spcPct val="115000"/>
              </a:lnSpc>
              <a:spcBef>
                <a:spcPts val="0"/>
              </a:spcBef>
              <a:spcAft>
                <a:spcPts val="0"/>
              </a:spcAft>
              <a:buSzPts val="1200"/>
              <a:buNone/>
              <a:defRPr/>
            </a:lvl6pPr>
            <a:lvl7pPr lvl="6" algn="ctr">
              <a:lnSpc>
                <a:spcPct val="115000"/>
              </a:lnSpc>
              <a:spcBef>
                <a:spcPts val="0"/>
              </a:spcBef>
              <a:spcAft>
                <a:spcPts val="0"/>
              </a:spcAft>
              <a:buSzPts val="1200"/>
              <a:buNone/>
              <a:defRPr/>
            </a:lvl7pPr>
            <a:lvl8pPr lvl="7" algn="ctr">
              <a:lnSpc>
                <a:spcPct val="115000"/>
              </a:lnSpc>
              <a:spcBef>
                <a:spcPts val="0"/>
              </a:spcBef>
              <a:spcAft>
                <a:spcPts val="0"/>
              </a:spcAft>
              <a:buSzPts val="1200"/>
              <a:buNone/>
              <a:defRPr/>
            </a:lvl8pPr>
            <a:lvl9pPr lvl="8" algn="ctr">
              <a:lnSpc>
                <a:spcPct val="115000"/>
              </a:lnSpc>
              <a:spcBef>
                <a:spcPts val="0"/>
              </a:spcBef>
              <a:spcAft>
                <a:spcPts val="0"/>
              </a:spcAft>
              <a:buSzPts val="1200"/>
              <a:buNone/>
              <a:defRPr/>
            </a:lvl9pPr>
          </a:lstStyle>
          <a:p/>
        </p:txBody>
      </p:sp>
      <p:sp>
        <p:nvSpPr>
          <p:cNvPr id="69" name="Google Shape;69;p24"/>
          <p:cNvSpPr txBox="1"/>
          <p:nvPr>
            <p:ph idx="7" type="subTitle"/>
          </p:nvPr>
        </p:nvSpPr>
        <p:spPr>
          <a:xfrm>
            <a:off x="5638475" y="3453475"/>
            <a:ext cx="1934400" cy="716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15000"/>
              </a:lnSpc>
              <a:spcBef>
                <a:spcPts val="0"/>
              </a:spcBef>
              <a:spcAft>
                <a:spcPts val="0"/>
              </a:spcAft>
              <a:buSzPts val="1200"/>
              <a:buNone/>
              <a:defRPr/>
            </a:lvl2pPr>
            <a:lvl3pPr lvl="2" algn="ctr">
              <a:lnSpc>
                <a:spcPct val="115000"/>
              </a:lnSpc>
              <a:spcBef>
                <a:spcPts val="0"/>
              </a:spcBef>
              <a:spcAft>
                <a:spcPts val="0"/>
              </a:spcAft>
              <a:buSzPts val="1200"/>
              <a:buNone/>
              <a:defRPr/>
            </a:lvl3pPr>
            <a:lvl4pPr lvl="3" algn="ctr">
              <a:lnSpc>
                <a:spcPct val="115000"/>
              </a:lnSpc>
              <a:spcBef>
                <a:spcPts val="0"/>
              </a:spcBef>
              <a:spcAft>
                <a:spcPts val="0"/>
              </a:spcAft>
              <a:buSzPts val="1200"/>
              <a:buNone/>
              <a:defRPr/>
            </a:lvl4pPr>
            <a:lvl5pPr lvl="4" algn="ctr">
              <a:lnSpc>
                <a:spcPct val="115000"/>
              </a:lnSpc>
              <a:spcBef>
                <a:spcPts val="0"/>
              </a:spcBef>
              <a:spcAft>
                <a:spcPts val="0"/>
              </a:spcAft>
              <a:buSzPts val="1200"/>
              <a:buNone/>
              <a:defRPr/>
            </a:lvl5pPr>
            <a:lvl6pPr lvl="5" algn="ctr">
              <a:lnSpc>
                <a:spcPct val="115000"/>
              </a:lnSpc>
              <a:spcBef>
                <a:spcPts val="0"/>
              </a:spcBef>
              <a:spcAft>
                <a:spcPts val="0"/>
              </a:spcAft>
              <a:buSzPts val="1200"/>
              <a:buNone/>
              <a:defRPr/>
            </a:lvl6pPr>
            <a:lvl7pPr lvl="6" algn="ctr">
              <a:lnSpc>
                <a:spcPct val="115000"/>
              </a:lnSpc>
              <a:spcBef>
                <a:spcPts val="0"/>
              </a:spcBef>
              <a:spcAft>
                <a:spcPts val="0"/>
              </a:spcAft>
              <a:buSzPts val="1200"/>
              <a:buNone/>
              <a:defRPr/>
            </a:lvl7pPr>
            <a:lvl8pPr lvl="7" algn="ctr">
              <a:lnSpc>
                <a:spcPct val="115000"/>
              </a:lnSpc>
              <a:spcBef>
                <a:spcPts val="0"/>
              </a:spcBef>
              <a:spcAft>
                <a:spcPts val="0"/>
              </a:spcAft>
              <a:buSzPts val="1200"/>
              <a:buNone/>
              <a:defRPr/>
            </a:lvl8pPr>
            <a:lvl9pPr lvl="8" algn="ctr">
              <a:lnSpc>
                <a:spcPct val="115000"/>
              </a:lnSpc>
              <a:spcBef>
                <a:spcPts val="0"/>
              </a:spcBef>
              <a:spcAft>
                <a:spcPts val="0"/>
              </a:spcAft>
              <a:buSzPts val="1200"/>
              <a:buNone/>
              <a:defRPr/>
            </a:lvl9pPr>
          </a:lstStyle>
          <a:p/>
        </p:txBody>
      </p:sp>
      <p:sp>
        <p:nvSpPr>
          <p:cNvPr id="70" name="Google Shape;70;p24"/>
          <p:cNvSpPr txBox="1"/>
          <p:nvPr>
            <p:ph idx="8" type="title"/>
          </p:nvPr>
        </p:nvSpPr>
        <p:spPr>
          <a:xfrm>
            <a:off x="720000" y="539400"/>
            <a:ext cx="7704000" cy="51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71" name="Google Shape;71;p24"/>
          <p:cNvGrpSpPr/>
          <p:nvPr/>
        </p:nvGrpSpPr>
        <p:grpSpPr>
          <a:xfrm>
            <a:off x="719100" y="539400"/>
            <a:ext cx="7705800" cy="4064700"/>
            <a:chOff x="719100" y="539400"/>
            <a:chExt cx="7705800" cy="4064700"/>
          </a:xfrm>
        </p:grpSpPr>
        <p:cxnSp>
          <p:nvCxnSpPr>
            <p:cNvPr id="72" name="Google Shape;72;p24"/>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73" name="Google Shape;73;p24"/>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4">
    <p:spTree>
      <p:nvGrpSpPr>
        <p:cNvPr id="74" name="Shape 74"/>
        <p:cNvGrpSpPr/>
        <p:nvPr/>
      </p:nvGrpSpPr>
      <p:grpSpPr>
        <a:xfrm>
          <a:off x="0" y="0"/>
          <a:ext cx="0" cy="0"/>
          <a:chOff x="0" y="0"/>
          <a:chExt cx="0" cy="0"/>
        </a:xfrm>
      </p:grpSpPr>
      <p:sp>
        <p:nvSpPr>
          <p:cNvPr id="75" name="Google Shape;75;p25"/>
          <p:cNvSpPr/>
          <p:nvPr/>
        </p:nvSpPr>
        <p:spPr>
          <a:xfrm rot="5400000">
            <a:off x="8309239" y="3486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5"/>
          <p:cNvSpPr txBox="1"/>
          <p:nvPr>
            <p:ph type="title"/>
          </p:nvPr>
        </p:nvSpPr>
        <p:spPr>
          <a:xfrm>
            <a:off x="720000" y="932624"/>
            <a:ext cx="3376200" cy="825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0000"/>
              <a:buNone/>
              <a:defRPr sz="4800"/>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p:txBody>
      </p:sp>
      <p:sp>
        <p:nvSpPr>
          <p:cNvPr id="77" name="Google Shape;77;p25"/>
          <p:cNvSpPr txBox="1"/>
          <p:nvPr>
            <p:ph idx="1" type="subTitle"/>
          </p:nvPr>
        </p:nvSpPr>
        <p:spPr>
          <a:xfrm>
            <a:off x="720000" y="1758403"/>
            <a:ext cx="33762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1200"/>
              <a:buNone/>
              <a:defRPr sz="1400"/>
            </a:lvl1pPr>
            <a:lvl2pPr lvl="1" algn="ctr">
              <a:lnSpc>
                <a:spcPct val="115000"/>
              </a:lnSpc>
              <a:spcBef>
                <a:spcPts val="0"/>
              </a:spcBef>
              <a:spcAft>
                <a:spcPts val="0"/>
              </a:spcAft>
              <a:buSzPts val="1200"/>
              <a:buNone/>
              <a:defRPr/>
            </a:lvl2pPr>
            <a:lvl3pPr lvl="2" algn="ctr">
              <a:lnSpc>
                <a:spcPct val="115000"/>
              </a:lnSpc>
              <a:spcBef>
                <a:spcPts val="0"/>
              </a:spcBef>
              <a:spcAft>
                <a:spcPts val="0"/>
              </a:spcAft>
              <a:buSzPts val="1200"/>
              <a:buNone/>
              <a:defRPr/>
            </a:lvl3pPr>
            <a:lvl4pPr lvl="3" algn="ctr">
              <a:lnSpc>
                <a:spcPct val="115000"/>
              </a:lnSpc>
              <a:spcBef>
                <a:spcPts val="0"/>
              </a:spcBef>
              <a:spcAft>
                <a:spcPts val="0"/>
              </a:spcAft>
              <a:buSzPts val="1200"/>
              <a:buNone/>
              <a:defRPr/>
            </a:lvl4pPr>
            <a:lvl5pPr lvl="4" algn="ctr">
              <a:lnSpc>
                <a:spcPct val="115000"/>
              </a:lnSpc>
              <a:spcBef>
                <a:spcPts val="0"/>
              </a:spcBef>
              <a:spcAft>
                <a:spcPts val="0"/>
              </a:spcAft>
              <a:buSzPts val="1200"/>
              <a:buNone/>
              <a:defRPr/>
            </a:lvl5pPr>
            <a:lvl6pPr lvl="5" algn="ctr">
              <a:lnSpc>
                <a:spcPct val="115000"/>
              </a:lnSpc>
              <a:spcBef>
                <a:spcPts val="0"/>
              </a:spcBef>
              <a:spcAft>
                <a:spcPts val="0"/>
              </a:spcAft>
              <a:buSzPts val="1200"/>
              <a:buNone/>
              <a:defRPr/>
            </a:lvl6pPr>
            <a:lvl7pPr lvl="6" algn="ctr">
              <a:lnSpc>
                <a:spcPct val="115000"/>
              </a:lnSpc>
              <a:spcBef>
                <a:spcPts val="0"/>
              </a:spcBef>
              <a:spcAft>
                <a:spcPts val="0"/>
              </a:spcAft>
              <a:buSzPts val="1200"/>
              <a:buNone/>
              <a:defRPr/>
            </a:lvl7pPr>
            <a:lvl8pPr lvl="7" algn="ctr">
              <a:lnSpc>
                <a:spcPct val="115000"/>
              </a:lnSpc>
              <a:spcBef>
                <a:spcPts val="0"/>
              </a:spcBef>
              <a:spcAft>
                <a:spcPts val="0"/>
              </a:spcAft>
              <a:buSzPts val="1200"/>
              <a:buNone/>
              <a:defRPr/>
            </a:lvl8pPr>
            <a:lvl9pPr lvl="8" algn="ctr">
              <a:lnSpc>
                <a:spcPct val="115000"/>
              </a:lnSpc>
              <a:spcBef>
                <a:spcPts val="0"/>
              </a:spcBef>
              <a:spcAft>
                <a:spcPts val="0"/>
              </a:spcAft>
              <a:buSzPts val="1200"/>
              <a:buNone/>
              <a:defRPr/>
            </a:lvl9pPr>
          </a:lstStyle>
          <a:p/>
        </p:txBody>
      </p:sp>
      <p:sp>
        <p:nvSpPr>
          <p:cNvPr id="78" name="Google Shape;78;p25"/>
          <p:cNvSpPr txBox="1"/>
          <p:nvPr>
            <p:ph idx="2" type="title"/>
          </p:nvPr>
        </p:nvSpPr>
        <p:spPr>
          <a:xfrm>
            <a:off x="5047800" y="932624"/>
            <a:ext cx="3376200" cy="825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0000"/>
              <a:buNone/>
              <a:defRPr sz="4800"/>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p:txBody>
      </p:sp>
      <p:sp>
        <p:nvSpPr>
          <p:cNvPr id="79" name="Google Shape;79;p25"/>
          <p:cNvSpPr txBox="1"/>
          <p:nvPr>
            <p:ph idx="3" type="subTitle"/>
          </p:nvPr>
        </p:nvSpPr>
        <p:spPr>
          <a:xfrm>
            <a:off x="5047800" y="1758403"/>
            <a:ext cx="33762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1200"/>
              <a:buNone/>
              <a:defRPr sz="1400"/>
            </a:lvl1pPr>
            <a:lvl2pPr lvl="1" algn="ctr">
              <a:lnSpc>
                <a:spcPct val="115000"/>
              </a:lnSpc>
              <a:spcBef>
                <a:spcPts val="0"/>
              </a:spcBef>
              <a:spcAft>
                <a:spcPts val="0"/>
              </a:spcAft>
              <a:buSzPts val="1200"/>
              <a:buNone/>
              <a:defRPr/>
            </a:lvl2pPr>
            <a:lvl3pPr lvl="2" algn="ctr">
              <a:lnSpc>
                <a:spcPct val="115000"/>
              </a:lnSpc>
              <a:spcBef>
                <a:spcPts val="0"/>
              </a:spcBef>
              <a:spcAft>
                <a:spcPts val="0"/>
              </a:spcAft>
              <a:buSzPts val="1200"/>
              <a:buNone/>
              <a:defRPr/>
            </a:lvl3pPr>
            <a:lvl4pPr lvl="3" algn="ctr">
              <a:lnSpc>
                <a:spcPct val="115000"/>
              </a:lnSpc>
              <a:spcBef>
                <a:spcPts val="0"/>
              </a:spcBef>
              <a:spcAft>
                <a:spcPts val="0"/>
              </a:spcAft>
              <a:buSzPts val="1200"/>
              <a:buNone/>
              <a:defRPr/>
            </a:lvl4pPr>
            <a:lvl5pPr lvl="4" algn="ctr">
              <a:lnSpc>
                <a:spcPct val="115000"/>
              </a:lnSpc>
              <a:spcBef>
                <a:spcPts val="0"/>
              </a:spcBef>
              <a:spcAft>
                <a:spcPts val="0"/>
              </a:spcAft>
              <a:buSzPts val="1200"/>
              <a:buNone/>
              <a:defRPr/>
            </a:lvl5pPr>
            <a:lvl6pPr lvl="5" algn="ctr">
              <a:lnSpc>
                <a:spcPct val="115000"/>
              </a:lnSpc>
              <a:spcBef>
                <a:spcPts val="0"/>
              </a:spcBef>
              <a:spcAft>
                <a:spcPts val="0"/>
              </a:spcAft>
              <a:buSzPts val="1200"/>
              <a:buNone/>
              <a:defRPr/>
            </a:lvl6pPr>
            <a:lvl7pPr lvl="6" algn="ctr">
              <a:lnSpc>
                <a:spcPct val="115000"/>
              </a:lnSpc>
              <a:spcBef>
                <a:spcPts val="0"/>
              </a:spcBef>
              <a:spcAft>
                <a:spcPts val="0"/>
              </a:spcAft>
              <a:buSzPts val="1200"/>
              <a:buNone/>
              <a:defRPr/>
            </a:lvl7pPr>
            <a:lvl8pPr lvl="7" algn="ctr">
              <a:lnSpc>
                <a:spcPct val="115000"/>
              </a:lnSpc>
              <a:spcBef>
                <a:spcPts val="0"/>
              </a:spcBef>
              <a:spcAft>
                <a:spcPts val="0"/>
              </a:spcAft>
              <a:buSzPts val="1200"/>
              <a:buNone/>
              <a:defRPr/>
            </a:lvl8pPr>
            <a:lvl9pPr lvl="8" algn="ctr">
              <a:lnSpc>
                <a:spcPct val="115000"/>
              </a:lnSpc>
              <a:spcBef>
                <a:spcPts val="0"/>
              </a:spcBef>
              <a:spcAft>
                <a:spcPts val="0"/>
              </a:spcAft>
              <a:buSzPts val="1200"/>
              <a:buNone/>
              <a:defRPr/>
            </a:lvl9pPr>
          </a:lstStyle>
          <a:p/>
        </p:txBody>
      </p:sp>
      <p:sp>
        <p:nvSpPr>
          <p:cNvPr id="80" name="Google Shape;80;p25"/>
          <p:cNvSpPr txBox="1"/>
          <p:nvPr>
            <p:ph idx="4" type="title"/>
          </p:nvPr>
        </p:nvSpPr>
        <p:spPr>
          <a:xfrm>
            <a:off x="5047800" y="2751199"/>
            <a:ext cx="3376200" cy="825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0000"/>
              <a:buNone/>
              <a:defRPr sz="4800"/>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p:txBody>
      </p:sp>
      <p:sp>
        <p:nvSpPr>
          <p:cNvPr id="81" name="Google Shape;81;p25"/>
          <p:cNvSpPr txBox="1"/>
          <p:nvPr>
            <p:ph idx="5" type="subTitle"/>
          </p:nvPr>
        </p:nvSpPr>
        <p:spPr>
          <a:xfrm>
            <a:off x="5047800" y="3576978"/>
            <a:ext cx="33762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1200"/>
              <a:buNone/>
              <a:defRPr sz="1400"/>
            </a:lvl1pPr>
            <a:lvl2pPr lvl="1" algn="ctr">
              <a:lnSpc>
                <a:spcPct val="115000"/>
              </a:lnSpc>
              <a:spcBef>
                <a:spcPts val="0"/>
              </a:spcBef>
              <a:spcAft>
                <a:spcPts val="0"/>
              </a:spcAft>
              <a:buSzPts val="1200"/>
              <a:buNone/>
              <a:defRPr/>
            </a:lvl2pPr>
            <a:lvl3pPr lvl="2" algn="ctr">
              <a:lnSpc>
                <a:spcPct val="115000"/>
              </a:lnSpc>
              <a:spcBef>
                <a:spcPts val="0"/>
              </a:spcBef>
              <a:spcAft>
                <a:spcPts val="0"/>
              </a:spcAft>
              <a:buSzPts val="1200"/>
              <a:buNone/>
              <a:defRPr/>
            </a:lvl3pPr>
            <a:lvl4pPr lvl="3" algn="ctr">
              <a:lnSpc>
                <a:spcPct val="115000"/>
              </a:lnSpc>
              <a:spcBef>
                <a:spcPts val="0"/>
              </a:spcBef>
              <a:spcAft>
                <a:spcPts val="0"/>
              </a:spcAft>
              <a:buSzPts val="1200"/>
              <a:buNone/>
              <a:defRPr/>
            </a:lvl4pPr>
            <a:lvl5pPr lvl="4" algn="ctr">
              <a:lnSpc>
                <a:spcPct val="115000"/>
              </a:lnSpc>
              <a:spcBef>
                <a:spcPts val="0"/>
              </a:spcBef>
              <a:spcAft>
                <a:spcPts val="0"/>
              </a:spcAft>
              <a:buSzPts val="1200"/>
              <a:buNone/>
              <a:defRPr/>
            </a:lvl5pPr>
            <a:lvl6pPr lvl="5" algn="ctr">
              <a:lnSpc>
                <a:spcPct val="115000"/>
              </a:lnSpc>
              <a:spcBef>
                <a:spcPts val="0"/>
              </a:spcBef>
              <a:spcAft>
                <a:spcPts val="0"/>
              </a:spcAft>
              <a:buSzPts val="1200"/>
              <a:buNone/>
              <a:defRPr/>
            </a:lvl6pPr>
            <a:lvl7pPr lvl="6" algn="ctr">
              <a:lnSpc>
                <a:spcPct val="115000"/>
              </a:lnSpc>
              <a:spcBef>
                <a:spcPts val="0"/>
              </a:spcBef>
              <a:spcAft>
                <a:spcPts val="0"/>
              </a:spcAft>
              <a:buSzPts val="1200"/>
              <a:buNone/>
              <a:defRPr/>
            </a:lvl7pPr>
            <a:lvl8pPr lvl="7" algn="ctr">
              <a:lnSpc>
                <a:spcPct val="115000"/>
              </a:lnSpc>
              <a:spcBef>
                <a:spcPts val="0"/>
              </a:spcBef>
              <a:spcAft>
                <a:spcPts val="0"/>
              </a:spcAft>
              <a:buSzPts val="1200"/>
              <a:buNone/>
              <a:defRPr/>
            </a:lvl8pPr>
            <a:lvl9pPr lvl="8" algn="ctr">
              <a:lnSpc>
                <a:spcPct val="115000"/>
              </a:lnSpc>
              <a:spcBef>
                <a:spcPts val="0"/>
              </a:spcBef>
              <a:spcAft>
                <a:spcPts val="0"/>
              </a:spcAft>
              <a:buSzPts val="1200"/>
              <a:buNone/>
              <a:defRPr/>
            </a:lvl9pPr>
          </a:lstStyle>
          <a:p/>
        </p:txBody>
      </p:sp>
      <p:sp>
        <p:nvSpPr>
          <p:cNvPr id="82" name="Google Shape;82;p25"/>
          <p:cNvSpPr txBox="1"/>
          <p:nvPr>
            <p:ph idx="6" type="title"/>
          </p:nvPr>
        </p:nvSpPr>
        <p:spPr>
          <a:xfrm>
            <a:off x="720000" y="2751199"/>
            <a:ext cx="3376200" cy="825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0000"/>
              <a:buNone/>
              <a:defRPr sz="4800"/>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p:txBody>
      </p:sp>
      <p:sp>
        <p:nvSpPr>
          <p:cNvPr id="83" name="Google Shape;83;p25"/>
          <p:cNvSpPr txBox="1"/>
          <p:nvPr>
            <p:ph idx="7" type="subTitle"/>
          </p:nvPr>
        </p:nvSpPr>
        <p:spPr>
          <a:xfrm>
            <a:off x="720000" y="3576978"/>
            <a:ext cx="33762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1200"/>
              <a:buNone/>
              <a:defRPr sz="1400"/>
            </a:lvl1pPr>
            <a:lvl2pPr lvl="1" algn="ctr">
              <a:lnSpc>
                <a:spcPct val="115000"/>
              </a:lnSpc>
              <a:spcBef>
                <a:spcPts val="0"/>
              </a:spcBef>
              <a:spcAft>
                <a:spcPts val="0"/>
              </a:spcAft>
              <a:buSzPts val="1200"/>
              <a:buNone/>
              <a:defRPr/>
            </a:lvl2pPr>
            <a:lvl3pPr lvl="2" algn="ctr">
              <a:lnSpc>
                <a:spcPct val="115000"/>
              </a:lnSpc>
              <a:spcBef>
                <a:spcPts val="0"/>
              </a:spcBef>
              <a:spcAft>
                <a:spcPts val="0"/>
              </a:spcAft>
              <a:buSzPts val="1200"/>
              <a:buNone/>
              <a:defRPr/>
            </a:lvl3pPr>
            <a:lvl4pPr lvl="3" algn="ctr">
              <a:lnSpc>
                <a:spcPct val="115000"/>
              </a:lnSpc>
              <a:spcBef>
                <a:spcPts val="0"/>
              </a:spcBef>
              <a:spcAft>
                <a:spcPts val="0"/>
              </a:spcAft>
              <a:buSzPts val="1200"/>
              <a:buNone/>
              <a:defRPr/>
            </a:lvl4pPr>
            <a:lvl5pPr lvl="4" algn="ctr">
              <a:lnSpc>
                <a:spcPct val="115000"/>
              </a:lnSpc>
              <a:spcBef>
                <a:spcPts val="0"/>
              </a:spcBef>
              <a:spcAft>
                <a:spcPts val="0"/>
              </a:spcAft>
              <a:buSzPts val="1200"/>
              <a:buNone/>
              <a:defRPr/>
            </a:lvl5pPr>
            <a:lvl6pPr lvl="5" algn="ctr">
              <a:lnSpc>
                <a:spcPct val="115000"/>
              </a:lnSpc>
              <a:spcBef>
                <a:spcPts val="0"/>
              </a:spcBef>
              <a:spcAft>
                <a:spcPts val="0"/>
              </a:spcAft>
              <a:buSzPts val="1200"/>
              <a:buNone/>
              <a:defRPr/>
            </a:lvl6pPr>
            <a:lvl7pPr lvl="6" algn="ctr">
              <a:lnSpc>
                <a:spcPct val="115000"/>
              </a:lnSpc>
              <a:spcBef>
                <a:spcPts val="0"/>
              </a:spcBef>
              <a:spcAft>
                <a:spcPts val="0"/>
              </a:spcAft>
              <a:buSzPts val="1200"/>
              <a:buNone/>
              <a:defRPr/>
            </a:lvl7pPr>
            <a:lvl8pPr lvl="7" algn="ctr">
              <a:lnSpc>
                <a:spcPct val="115000"/>
              </a:lnSpc>
              <a:spcBef>
                <a:spcPts val="0"/>
              </a:spcBef>
              <a:spcAft>
                <a:spcPts val="0"/>
              </a:spcAft>
              <a:buSzPts val="1200"/>
              <a:buNone/>
              <a:defRPr/>
            </a:lvl8pPr>
            <a:lvl9pPr lvl="8" algn="ctr">
              <a:lnSpc>
                <a:spcPct val="115000"/>
              </a:lnSpc>
              <a:spcBef>
                <a:spcPts val="0"/>
              </a:spcBef>
              <a:spcAft>
                <a:spcPts val="0"/>
              </a:spcAft>
              <a:buSzPts val="1200"/>
              <a:buNone/>
              <a:defRPr/>
            </a:lvl9pPr>
          </a:lstStyle>
          <a:p/>
        </p:txBody>
      </p:sp>
      <p:grpSp>
        <p:nvGrpSpPr>
          <p:cNvPr id="84" name="Google Shape;84;p25"/>
          <p:cNvGrpSpPr/>
          <p:nvPr/>
        </p:nvGrpSpPr>
        <p:grpSpPr>
          <a:xfrm>
            <a:off x="719100" y="539400"/>
            <a:ext cx="7705800" cy="4064700"/>
            <a:chOff x="719100" y="539400"/>
            <a:chExt cx="7705800" cy="4064700"/>
          </a:xfrm>
        </p:grpSpPr>
        <p:cxnSp>
          <p:nvCxnSpPr>
            <p:cNvPr id="85" name="Google Shape;85;p25"/>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86" name="Google Shape;86;p25"/>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sp>
        <p:nvSpPr>
          <p:cNvPr id="87" name="Google Shape;87;p25"/>
          <p:cNvSpPr/>
          <p:nvPr/>
        </p:nvSpPr>
        <p:spPr>
          <a:xfrm flipH="1" rot="-5400000">
            <a:off x="529192" y="4268848"/>
            <a:ext cx="670627" cy="670508"/>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2"/>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88" name="Shape 88"/>
        <p:cNvGrpSpPr/>
        <p:nvPr/>
      </p:nvGrpSpPr>
      <p:grpSpPr>
        <a:xfrm>
          <a:off x="0" y="0"/>
          <a:ext cx="0" cy="0"/>
          <a:chOff x="0" y="0"/>
          <a:chExt cx="0" cy="0"/>
        </a:xfrm>
      </p:grpSpPr>
      <p:sp>
        <p:nvSpPr>
          <p:cNvPr id="89" name="Google Shape;89;p26"/>
          <p:cNvSpPr/>
          <p:nvPr/>
        </p:nvSpPr>
        <p:spPr>
          <a:xfrm rot="5400000">
            <a:off x="8309239" y="3486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0" name="Google Shape;90;p26"/>
          <p:cNvGrpSpPr/>
          <p:nvPr/>
        </p:nvGrpSpPr>
        <p:grpSpPr>
          <a:xfrm>
            <a:off x="719100" y="539400"/>
            <a:ext cx="7705800" cy="4064700"/>
            <a:chOff x="719100" y="539400"/>
            <a:chExt cx="7705800" cy="4064700"/>
          </a:xfrm>
        </p:grpSpPr>
        <p:cxnSp>
          <p:nvCxnSpPr>
            <p:cNvPr id="91" name="Google Shape;91;p26"/>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92" name="Google Shape;92;p26"/>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sp>
        <p:nvSpPr>
          <p:cNvPr id="93" name="Google Shape;93;p26"/>
          <p:cNvSpPr txBox="1"/>
          <p:nvPr>
            <p:ph type="ctrTitle"/>
          </p:nvPr>
        </p:nvSpPr>
        <p:spPr>
          <a:xfrm>
            <a:off x="2998200" y="601750"/>
            <a:ext cx="4892400" cy="1280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8500"/>
              <a:buNone/>
              <a:defRPr sz="7200"/>
            </a:lvl1pPr>
            <a:lvl2pPr lvl="1" algn="ctr">
              <a:lnSpc>
                <a:spcPct val="100000"/>
              </a:lnSpc>
              <a:spcBef>
                <a:spcPts val="0"/>
              </a:spcBef>
              <a:spcAft>
                <a:spcPts val="0"/>
              </a:spcAft>
              <a:buSzPts val="8500"/>
              <a:buNone/>
              <a:defRPr sz="8500"/>
            </a:lvl2pPr>
            <a:lvl3pPr lvl="2" algn="ctr">
              <a:lnSpc>
                <a:spcPct val="100000"/>
              </a:lnSpc>
              <a:spcBef>
                <a:spcPts val="0"/>
              </a:spcBef>
              <a:spcAft>
                <a:spcPts val="0"/>
              </a:spcAft>
              <a:buSzPts val="8500"/>
              <a:buNone/>
              <a:defRPr sz="8500"/>
            </a:lvl3pPr>
            <a:lvl4pPr lvl="3" algn="ctr">
              <a:lnSpc>
                <a:spcPct val="100000"/>
              </a:lnSpc>
              <a:spcBef>
                <a:spcPts val="0"/>
              </a:spcBef>
              <a:spcAft>
                <a:spcPts val="0"/>
              </a:spcAft>
              <a:buSzPts val="8500"/>
              <a:buNone/>
              <a:defRPr sz="8500"/>
            </a:lvl4pPr>
            <a:lvl5pPr lvl="4" algn="ctr">
              <a:lnSpc>
                <a:spcPct val="100000"/>
              </a:lnSpc>
              <a:spcBef>
                <a:spcPts val="0"/>
              </a:spcBef>
              <a:spcAft>
                <a:spcPts val="0"/>
              </a:spcAft>
              <a:buSzPts val="8500"/>
              <a:buNone/>
              <a:defRPr sz="8500"/>
            </a:lvl5pPr>
            <a:lvl6pPr lvl="5" algn="ctr">
              <a:lnSpc>
                <a:spcPct val="100000"/>
              </a:lnSpc>
              <a:spcBef>
                <a:spcPts val="0"/>
              </a:spcBef>
              <a:spcAft>
                <a:spcPts val="0"/>
              </a:spcAft>
              <a:buSzPts val="8500"/>
              <a:buNone/>
              <a:defRPr sz="8500"/>
            </a:lvl6pPr>
            <a:lvl7pPr lvl="6" algn="ctr">
              <a:lnSpc>
                <a:spcPct val="100000"/>
              </a:lnSpc>
              <a:spcBef>
                <a:spcPts val="0"/>
              </a:spcBef>
              <a:spcAft>
                <a:spcPts val="0"/>
              </a:spcAft>
              <a:buSzPts val="8500"/>
              <a:buNone/>
              <a:defRPr sz="8500"/>
            </a:lvl7pPr>
            <a:lvl8pPr lvl="7" algn="ctr">
              <a:lnSpc>
                <a:spcPct val="100000"/>
              </a:lnSpc>
              <a:spcBef>
                <a:spcPts val="0"/>
              </a:spcBef>
              <a:spcAft>
                <a:spcPts val="0"/>
              </a:spcAft>
              <a:buSzPts val="8500"/>
              <a:buNone/>
              <a:defRPr sz="8500"/>
            </a:lvl8pPr>
            <a:lvl9pPr lvl="8" algn="ctr">
              <a:lnSpc>
                <a:spcPct val="100000"/>
              </a:lnSpc>
              <a:spcBef>
                <a:spcPts val="0"/>
              </a:spcBef>
              <a:spcAft>
                <a:spcPts val="0"/>
              </a:spcAft>
              <a:buSzPts val="8500"/>
              <a:buNone/>
              <a:defRPr sz="8500"/>
            </a:lvl9pPr>
          </a:lstStyle>
          <a:p/>
        </p:txBody>
      </p:sp>
      <p:sp>
        <p:nvSpPr>
          <p:cNvPr id="94" name="Google Shape;94;p26"/>
          <p:cNvSpPr txBox="1"/>
          <p:nvPr>
            <p:ph idx="1" type="subTitle"/>
          </p:nvPr>
        </p:nvSpPr>
        <p:spPr>
          <a:xfrm>
            <a:off x="2998200" y="1794116"/>
            <a:ext cx="4892400" cy="399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8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95" name="Google Shape;95;p26"/>
          <p:cNvSpPr txBox="1"/>
          <p:nvPr>
            <p:ph idx="2" type="subTitle"/>
          </p:nvPr>
        </p:nvSpPr>
        <p:spPr>
          <a:xfrm>
            <a:off x="2998200" y="2198653"/>
            <a:ext cx="4892400" cy="74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96" name="Google Shape;96;p26"/>
          <p:cNvSpPr txBox="1"/>
          <p:nvPr>
            <p:ph idx="3" type="subTitle"/>
          </p:nvPr>
        </p:nvSpPr>
        <p:spPr>
          <a:xfrm>
            <a:off x="2998200" y="4218175"/>
            <a:ext cx="4892400" cy="385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97" name="Google Shape;97;p26"/>
          <p:cNvSpPr txBox="1"/>
          <p:nvPr/>
        </p:nvSpPr>
        <p:spPr>
          <a:xfrm>
            <a:off x="2998200" y="3688925"/>
            <a:ext cx="4892400" cy="55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200"/>
              <a:buFont typeface="Arial"/>
              <a:buNone/>
            </a:pPr>
            <a:r>
              <a:rPr b="0" i="0" lang="en-US" sz="1200" u="none" cap="none" strike="noStrike">
                <a:solidFill>
                  <a:schemeClr val="dk1"/>
                </a:solidFill>
                <a:latin typeface="Livvic"/>
                <a:ea typeface="Livvic"/>
                <a:cs typeface="Livvic"/>
                <a:sym typeface="Livvic"/>
              </a:rPr>
              <a:t>CREDITS: This presentation template was created by </a:t>
            </a:r>
            <a:r>
              <a:rPr b="1" i="0" lang="en-US" sz="1200" u="sng" cap="none" strike="noStrike">
                <a:solidFill>
                  <a:schemeClr val="dk1"/>
                </a:solidFill>
                <a:latin typeface="Livvic"/>
                <a:ea typeface="Livvic"/>
                <a:cs typeface="Livvic"/>
                <a:sym typeface="Livvic"/>
                <a:hlinkClick r:id="rId2">
                  <a:extLst>
                    <a:ext uri="{A12FA001-AC4F-418D-AE19-62706E023703}">
                      <ahyp:hlinkClr val="tx"/>
                    </a:ext>
                  </a:extLst>
                </a:hlinkClick>
              </a:rPr>
              <a:t>Slidesgo</a:t>
            </a:r>
            <a:r>
              <a:rPr b="1" i="0" lang="en-US" sz="1200" u="sng" cap="none" strike="noStrike">
                <a:solidFill>
                  <a:schemeClr val="dk1"/>
                </a:solidFill>
                <a:latin typeface="Livvic"/>
                <a:ea typeface="Livvic"/>
                <a:cs typeface="Livvic"/>
                <a:sym typeface="Livvic"/>
              </a:rPr>
              <a:t>,</a:t>
            </a:r>
            <a:r>
              <a:rPr b="0" i="0" lang="en-US" sz="1200" u="none" cap="none" strike="noStrike">
                <a:solidFill>
                  <a:schemeClr val="dk1"/>
                </a:solidFill>
                <a:latin typeface="Livvic"/>
                <a:ea typeface="Livvic"/>
                <a:cs typeface="Livvic"/>
                <a:sym typeface="Livvic"/>
              </a:rPr>
              <a:t> and includes icons by </a:t>
            </a:r>
            <a:r>
              <a:rPr b="1" i="0" lang="en-US" sz="1200" u="sng" cap="none" strike="noStrike">
                <a:solidFill>
                  <a:schemeClr val="dk1"/>
                </a:solidFill>
                <a:latin typeface="Livvic"/>
                <a:ea typeface="Livvic"/>
                <a:cs typeface="Livvic"/>
                <a:sym typeface="Livvic"/>
                <a:hlinkClick r:id="rId3">
                  <a:extLst>
                    <a:ext uri="{A12FA001-AC4F-418D-AE19-62706E023703}">
                      <ahyp:hlinkClr val="tx"/>
                    </a:ext>
                  </a:extLst>
                </a:hlinkClick>
              </a:rPr>
              <a:t>Flaticon</a:t>
            </a:r>
            <a:r>
              <a:rPr b="1" i="0" lang="en-US" sz="1200" u="sng" cap="none" strike="noStrike">
                <a:solidFill>
                  <a:schemeClr val="dk1"/>
                </a:solidFill>
                <a:latin typeface="Livvic"/>
                <a:ea typeface="Livvic"/>
                <a:cs typeface="Livvic"/>
                <a:sym typeface="Livvic"/>
              </a:rPr>
              <a:t>,</a:t>
            </a:r>
            <a:r>
              <a:rPr b="0" i="0" lang="en-US" sz="1200" u="none" cap="none" strike="noStrike">
                <a:solidFill>
                  <a:schemeClr val="dk1"/>
                </a:solidFill>
                <a:latin typeface="Livvic"/>
                <a:ea typeface="Livvic"/>
                <a:cs typeface="Livvic"/>
                <a:sym typeface="Livvic"/>
              </a:rPr>
              <a:t> and infographics &amp; images by </a:t>
            </a:r>
            <a:r>
              <a:rPr b="1" i="0" lang="en-US" sz="1200" u="sng" cap="none" strike="noStrike">
                <a:solidFill>
                  <a:schemeClr val="dk1"/>
                </a:solidFill>
                <a:latin typeface="Livvic"/>
                <a:ea typeface="Livvic"/>
                <a:cs typeface="Livvic"/>
                <a:sym typeface="Livvic"/>
                <a:hlinkClick r:id="rId4">
                  <a:extLst>
                    <a:ext uri="{A12FA001-AC4F-418D-AE19-62706E023703}">
                      <ahyp:hlinkClr val="tx"/>
                    </a:ext>
                  </a:extLst>
                </a:hlinkClick>
              </a:rPr>
              <a:t>Freepik</a:t>
            </a:r>
            <a:endParaRPr b="1" i="0" sz="1200" u="sng" cap="none" strike="noStrike">
              <a:solidFill>
                <a:schemeClr val="dk1"/>
              </a:solidFill>
              <a:latin typeface="Livvic"/>
              <a:ea typeface="Livvic"/>
              <a:cs typeface="Livvic"/>
              <a:sym typeface="Livvic"/>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8" name="Shape 98"/>
        <p:cNvGrpSpPr/>
        <p:nvPr/>
      </p:nvGrpSpPr>
      <p:grpSpPr>
        <a:xfrm>
          <a:off x="0" y="0"/>
          <a:ext cx="0" cy="0"/>
          <a:chOff x="0" y="0"/>
          <a:chExt cx="0" cy="0"/>
        </a:xfrm>
      </p:grpSpPr>
      <p:sp>
        <p:nvSpPr>
          <p:cNvPr id="99" name="Google Shape;99;p27"/>
          <p:cNvSpPr/>
          <p:nvPr/>
        </p:nvSpPr>
        <p:spPr>
          <a:xfrm rot="10800000">
            <a:off x="8243792" y="4413356"/>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7"/>
          <p:cNvSpPr txBox="1"/>
          <p:nvPr>
            <p:ph type="title"/>
          </p:nvPr>
        </p:nvSpPr>
        <p:spPr>
          <a:xfrm>
            <a:off x="720000" y="539400"/>
            <a:ext cx="7704000" cy="51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1" name="Google Shape;101;p27"/>
          <p:cNvSpPr txBox="1"/>
          <p:nvPr>
            <p:ph idx="2" type="title"/>
          </p:nvPr>
        </p:nvSpPr>
        <p:spPr>
          <a:xfrm>
            <a:off x="720000" y="1801575"/>
            <a:ext cx="3522300" cy="39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2" name="Google Shape;102;p27"/>
          <p:cNvSpPr txBox="1"/>
          <p:nvPr>
            <p:ph idx="3" type="title"/>
          </p:nvPr>
        </p:nvSpPr>
        <p:spPr>
          <a:xfrm>
            <a:off x="4901688" y="1801575"/>
            <a:ext cx="3522300" cy="39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3" name="Google Shape;103;p27"/>
          <p:cNvSpPr txBox="1"/>
          <p:nvPr>
            <p:ph idx="1" type="subTitle"/>
          </p:nvPr>
        </p:nvSpPr>
        <p:spPr>
          <a:xfrm>
            <a:off x="720000" y="2195175"/>
            <a:ext cx="3522300" cy="1956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Arial"/>
              <a:buChar char="•"/>
              <a:defRPr/>
            </a:lvl1pPr>
            <a:lvl2pPr lvl="1" algn="ctr">
              <a:lnSpc>
                <a:spcPct val="115000"/>
              </a:lnSpc>
              <a:spcBef>
                <a:spcPts val="0"/>
              </a:spcBef>
              <a:spcAft>
                <a:spcPts val="0"/>
              </a:spcAft>
              <a:buClr>
                <a:schemeClr val="dk1"/>
              </a:buClr>
              <a:buSzPts val="1200"/>
              <a:buFont typeface="Arial"/>
              <a:buChar char="○"/>
              <a:defRPr/>
            </a:lvl2pPr>
            <a:lvl3pPr lvl="2" algn="ctr">
              <a:lnSpc>
                <a:spcPct val="115000"/>
              </a:lnSpc>
              <a:spcBef>
                <a:spcPts val="0"/>
              </a:spcBef>
              <a:spcAft>
                <a:spcPts val="0"/>
              </a:spcAft>
              <a:buClr>
                <a:schemeClr val="dk1"/>
              </a:buClr>
              <a:buSzPts val="1200"/>
              <a:buFont typeface="Arial"/>
              <a:buChar char="■"/>
              <a:defRPr/>
            </a:lvl3pPr>
            <a:lvl4pPr lvl="3" algn="ctr">
              <a:lnSpc>
                <a:spcPct val="115000"/>
              </a:lnSpc>
              <a:spcBef>
                <a:spcPts val="0"/>
              </a:spcBef>
              <a:spcAft>
                <a:spcPts val="0"/>
              </a:spcAft>
              <a:buClr>
                <a:schemeClr val="dk1"/>
              </a:buClr>
              <a:buSzPts val="1200"/>
              <a:buFont typeface="Arial"/>
              <a:buChar char="●"/>
              <a:defRPr/>
            </a:lvl4pPr>
            <a:lvl5pPr lvl="4" algn="ctr">
              <a:lnSpc>
                <a:spcPct val="115000"/>
              </a:lnSpc>
              <a:spcBef>
                <a:spcPts val="0"/>
              </a:spcBef>
              <a:spcAft>
                <a:spcPts val="0"/>
              </a:spcAft>
              <a:buClr>
                <a:schemeClr val="dk1"/>
              </a:buClr>
              <a:buSzPts val="1200"/>
              <a:buFont typeface="Arial"/>
              <a:buChar char="○"/>
              <a:defRPr/>
            </a:lvl5pPr>
            <a:lvl6pPr lvl="5" algn="ctr">
              <a:lnSpc>
                <a:spcPct val="115000"/>
              </a:lnSpc>
              <a:spcBef>
                <a:spcPts val="0"/>
              </a:spcBef>
              <a:spcAft>
                <a:spcPts val="0"/>
              </a:spcAft>
              <a:buClr>
                <a:schemeClr val="dk1"/>
              </a:buClr>
              <a:buSzPts val="1200"/>
              <a:buFont typeface="Arial"/>
              <a:buChar char="■"/>
              <a:defRPr/>
            </a:lvl6pPr>
            <a:lvl7pPr lvl="6" algn="ctr">
              <a:lnSpc>
                <a:spcPct val="115000"/>
              </a:lnSpc>
              <a:spcBef>
                <a:spcPts val="0"/>
              </a:spcBef>
              <a:spcAft>
                <a:spcPts val="0"/>
              </a:spcAft>
              <a:buClr>
                <a:schemeClr val="dk1"/>
              </a:buClr>
              <a:buSzPts val="1200"/>
              <a:buFont typeface="Arial"/>
              <a:buChar char="●"/>
              <a:defRPr/>
            </a:lvl7pPr>
            <a:lvl8pPr lvl="7" algn="ctr">
              <a:lnSpc>
                <a:spcPct val="115000"/>
              </a:lnSpc>
              <a:spcBef>
                <a:spcPts val="0"/>
              </a:spcBef>
              <a:spcAft>
                <a:spcPts val="0"/>
              </a:spcAft>
              <a:buClr>
                <a:schemeClr val="dk1"/>
              </a:buClr>
              <a:buSzPts val="1200"/>
              <a:buFont typeface="Arial"/>
              <a:buChar char="○"/>
              <a:defRPr/>
            </a:lvl8pPr>
            <a:lvl9pPr lvl="8" algn="ctr">
              <a:lnSpc>
                <a:spcPct val="115000"/>
              </a:lnSpc>
              <a:spcBef>
                <a:spcPts val="0"/>
              </a:spcBef>
              <a:spcAft>
                <a:spcPts val="0"/>
              </a:spcAft>
              <a:buClr>
                <a:schemeClr val="dk1"/>
              </a:buClr>
              <a:buSzPts val="1200"/>
              <a:buFont typeface="Arial"/>
              <a:buChar char="■"/>
              <a:defRPr/>
            </a:lvl9pPr>
          </a:lstStyle>
          <a:p/>
        </p:txBody>
      </p:sp>
      <p:sp>
        <p:nvSpPr>
          <p:cNvPr id="104" name="Google Shape;104;p27"/>
          <p:cNvSpPr txBox="1"/>
          <p:nvPr>
            <p:ph idx="4" type="subTitle"/>
          </p:nvPr>
        </p:nvSpPr>
        <p:spPr>
          <a:xfrm>
            <a:off x="4901700" y="2195175"/>
            <a:ext cx="3522300" cy="1956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Arial"/>
              <a:buChar char="•"/>
              <a:defRPr/>
            </a:lvl1pPr>
            <a:lvl2pPr lvl="1" algn="ctr">
              <a:lnSpc>
                <a:spcPct val="115000"/>
              </a:lnSpc>
              <a:spcBef>
                <a:spcPts val="0"/>
              </a:spcBef>
              <a:spcAft>
                <a:spcPts val="0"/>
              </a:spcAft>
              <a:buClr>
                <a:schemeClr val="dk1"/>
              </a:buClr>
              <a:buSzPts val="1200"/>
              <a:buFont typeface="Arial"/>
              <a:buChar char="○"/>
              <a:defRPr/>
            </a:lvl2pPr>
            <a:lvl3pPr lvl="2" algn="ctr">
              <a:lnSpc>
                <a:spcPct val="115000"/>
              </a:lnSpc>
              <a:spcBef>
                <a:spcPts val="0"/>
              </a:spcBef>
              <a:spcAft>
                <a:spcPts val="0"/>
              </a:spcAft>
              <a:buClr>
                <a:schemeClr val="dk1"/>
              </a:buClr>
              <a:buSzPts val="1200"/>
              <a:buFont typeface="Arial"/>
              <a:buChar char="■"/>
              <a:defRPr/>
            </a:lvl3pPr>
            <a:lvl4pPr lvl="3" algn="ctr">
              <a:lnSpc>
                <a:spcPct val="115000"/>
              </a:lnSpc>
              <a:spcBef>
                <a:spcPts val="0"/>
              </a:spcBef>
              <a:spcAft>
                <a:spcPts val="0"/>
              </a:spcAft>
              <a:buClr>
                <a:schemeClr val="dk1"/>
              </a:buClr>
              <a:buSzPts val="1200"/>
              <a:buFont typeface="Arial"/>
              <a:buChar char="●"/>
              <a:defRPr/>
            </a:lvl4pPr>
            <a:lvl5pPr lvl="4" algn="ctr">
              <a:lnSpc>
                <a:spcPct val="115000"/>
              </a:lnSpc>
              <a:spcBef>
                <a:spcPts val="0"/>
              </a:spcBef>
              <a:spcAft>
                <a:spcPts val="0"/>
              </a:spcAft>
              <a:buClr>
                <a:schemeClr val="dk1"/>
              </a:buClr>
              <a:buSzPts val="1200"/>
              <a:buFont typeface="Arial"/>
              <a:buChar char="○"/>
              <a:defRPr/>
            </a:lvl5pPr>
            <a:lvl6pPr lvl="5" algn="ctr">
              <a:lnSpc>
                <a:spcPct val="115000"/>
              </a:lnSpc>
              <a:spcBef>
                <a:spcPts val="0"/>
              </a:spcBef>
              <a:spcAft>
                <a:spcPts val="0"/>
              </a:spcAft>
              <a:buClr>
                <a:schemeClr val="dk1"/>
              </a:buClr>
              <a:buSzPts val="1200"/>
              <a:buFont typeface="Arial"/>
              <a:buChar char="■"/>
              <a:defRPr/>
            </a:lvl6pPr>
            <a:lvl7pPr lvl="6" algn="ctr">
              <a:lnSpc>
                <a:spcPct val="115000"/>
              </a:lnSpc>
              <a:spcBef>
                <a:spcPts val="0"/>
              </a:spcBef>
              <a:spcAft>
                <a:spcPts val="0"/>
              </a:spcAft>
              <a:buClr>
                <a:schemeClr val="dk1"/>
              </a:buClr>
              <a:buSzPts val="1200"/>
              <a:buFont typeface="Arial"/>
              <a:buChar char="●"/>
              <a:defRPr/>
            </a:lvl7pPr>
            <a:lvl8pPr lvl="7" algn="ctr">
              <a:lnSpc>
                <a:spcPct val="115000"/>
              </a:lnSpc>
              <a:spcBef>
                <a:spcPts val="0"/>
              </a:spcBef>
              <a:spcAft>
                <a:spcPts val="0"/>
              </a:spcAft>
              <a:buClr>
                <a:schemeClr val="dk1"/>
              </a:buClr>
              <a:buSzPts val="1200"/>
              <a:buFont typeface="Arial"/>
              <a:buChar char="○"/>
              <a:defRPr/>
            </a:lvl8pPr>
            <a:lvl9pPr lvl="8" algn="ctr">
              <a:lnSpc>
                <a:spcPct val="115000"/>
              </a:lnSpc>
              <a:spcBef>
                <a:spcPts val="0"/>
              </a:spcBef>
              <a:spcAft>
                <a:spcPts val="0"/>
              </a:spcAft>
              <a:buClr>
                <a:schemeClr val="dk1"/>
              </a:buClr>
              <a:buSzPts val="1200"/>
              <a:buFont typeface="Arial"/>
              <a:buChar char="■"/>
              <a:defRPr/>
            </a:lvl9pPr>
          </a:lstStyle>
          <a:p/>
        </p:txBody>
      </p:sp>
      <p:grpSp>
        <p:nvGrpSpPr>
          <p:cNvPr id="105" name="Google Shape;105;p27"/>
          <p:cNvGrpSpPr/>
          <p:nvPr/>
        </p:nvGrpSpPr>
        <p:grpSpPr>
          <a:xfrm>
            <a:off x="719100" y="539400"/>
            <a:ext cx="7705800" cy="4064700"/>
            <a:chOff x="719100" y="539400"/>
            <a:chExt cx="7705800" cy="4064700"/>
          </a:xfrm>
        </p:grpSpPr>
        <p:cxnSp>
          <p:nvCxnSpPr>
            <p:cNvPr id="106" name="Google Shape;106;p27"/>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107" name="Google Shape;107;p27"/>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28"/>
          <p:cNvSpPr/>
          <p:nvPr/>
        </p:nvSpPr>
        <p:spPr>
          <a:xfrm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8"/>
          <p:cNvSpPr txBox="1"/>
          <p:nvPr>
            <p:ph idx="1" type="body"/>
          </p:nvPr>
        </p:nvSpPr>
        <p:spPr>
          <a:xfrm>
            <a:off x="720000" y="1570575"/>
            <a:ext cx="4047000" cy="21861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Clr>
                <a:srgbClr val="999999"/>
              </a:buClr>
              <a:buSzPts val="800"/>
              <a:buFont typeface="Open Sans"/>
              <a:buChar char="-"/>
              <a:defRPr/>
            </a:lvl1pPr>
            <a:lvl2pPr indent="-279400" lvl="1" marL="914400" algn="l">
              <a:lnSpc>
                <a:spcPct val="115000"/>
              </a:lnSpc>
              <a:spcBef>
                <a:spcPts val="0"/>
              </a:spcBef>
              <a:spcAft>
                <a:spcPts val="0"/>
              </a:spcAft>
              <a:buClr>
                <a:srgbClr val="999999"/>
              </a:buClr>
              <a:buSzPts val="800"/>
              <a:buFont typeface="Open Sans"/>
              <a:buChar char="○"/>
              <a:defRPr/>
            </a:lvl2pPr>
            <a:lvl3pPr indent="-279400" lvl="2" marL="1371600" algn="l">
              <a:lnSpc>
                <a:spcPct val="115000"/>
              </a:lnSpc>
              <a:spcBef>
                <a:spcPts val="0"/>
              </a:spcBef>
              <a:spcAft>
                <a:spcPts val="0"/>
              </a:spcAft>
              <a:buClr>
                <a:srgbClr val="999999"/>
              </a:buClr>
              <a:buSzPts val="800"/>
              <a:buFont typeface="Open Sans"/>
              <a:buChar char="■"/>
              <a:defRPr/>
            </a:lvl3pPr>
            <a:lvl4pPr indent="-279400" lvl="3" marL="1828800" algn="l">
              <a:lnSpc>
                <a:spcPct val="115000"/>
              </a:lnSpc>
              <a:spcBef>
                <a:spcPts val="0"/>
              </a:spcBef>
              <a:spcAft>
                <a:spcPts val="0"/>
              </a:spcAft>
              <a:buClr>
                <a:srgbClr val="999999"/>
              </a:buClr>
              <a:buSzPts val="800"/>
              <a:buFont typeface="Open Sans"/>
              <a:buChar char="●"/>
              <a:defRPr/>
            </a:lvl4pPr>
            <a:lvl5pPr indent="-304800" lvl="4" marL="2286000" algn="l">
              <a:lnSpc>
                <a:spcPct val="115000"/>
              </a:lnSpc>
              <a:spcBef>
                <a:spcPts val="0"/>
              </a:spcBef>
              <a:spcAft>
                <a:spcPts val="0"/>
              </a:spcAft>
              <a:buClr>
                <a:srgbClr val="999999"/>
              </a:buClr>
              <a:buSzPts val="1200"/>
              <a:buFont typeface="Open Sans"/>
              <a:buChar char="○"/>
              <a:defRPr/>
            </a:lvl5pPr>
            <a:lvl6pPr indent="-304800" lvl="5" marL="2743200" algn="l">
              <a:lnSpc>
                <a:spcPct val="115000"/>
              </a:lnSpc>
              <a:spcBef>
                <a:spcPts val="0"/>
              </a:spcBef>
              <a:spcAft>
                <a:spcPts val="0"/>
              </a:spcAft>
              <a:buClr>
                <a:srgbClr val="999999"/>
              </a:buClr>
              <a:buSzPts val="1200"/>
              <a:buFont typeface="Open Sans"/>
              <a:buChar char="■"/>
              <a:defRPr/>
            </a:lvl6pPr>
            <a:lvl7pPr indent="-273050" lvl="6" marL="3200400" algn="l">
              <a:lnSpc>
                <a:spcPct val="115000"/>
              </a:lnSpc>
              <a:spcBef>
                <a:spcPts val="0"/>
              </a:spcBef>
              <a:spcAft>
                <a:spcPts val="0"/>
              </a:spcAft>
              <a:buClr>
                <a:srgbClr val="999999"/>
              </a:buClr>
              <a:buSzPts val="700"/>
              <a:buFont typeface="Open Sans"/>
              <a:buChar char="●"/>
              <a:defRPr/>
            </a:lvl7pPr>
            <a:lvl8pPr indent="-273050" lvl="7" marL="3657600" algn="l">
              <a:lnSpc>
                <a:spcPct val="115000"/>
              </a:lnSpc>
              <a:spcBef>
                <a:spcPts val="0"/>
              </a:spcBef>
              <a:spcAft>
                <a:spcPts val="0"/>
              </a:spcAft>
              <a:buClr>
                <a:srgbClr val="999999"/>
              </a:buClr>
              <a:buSzPts val="700"/>
              <a:buFont typeface="Open Sans"/>
              <a:buChar char="○"/>
              <a:defRPr/>
            </a:lvl8pPr>
            <a:lvl9pPr indent="-266700" lvl="8" marL="4114800" algn="l">
              <a:lnSpc>
                <a:spcPct val="115000"/>
              </a:lnSpc>
              <a:spcBef>
                <a:spcPts val="0"/>
              </a:spcBef>
              <a:spcAft>
                <a:spcPts val="0"/>
              </a:spcAft>
              <a:buClr>
                <a:srgbClr val="999999"/>
              </a:buClr>
              <a:buSzPts val="600"/>
              <a:buFont typeface="Open Sans"/>
              <a:buChar char="■"/>
              <a:defRPr/>
            </a:lvl9pPr>
          </a:lstStyle>
          <a:p/>
        </p:txBody>
      </p:sp>
      <p:sp>
        <p:nvSpPr>
          <p:cNvPr id="111" name="Google Shape;111;p28"/>
          <p:cNvSpPr txBox="1"/>
          <p:nvPr>
            <p:ph type="title"/>
          </p:nvPr>
        </p:nvSpPr>
        <p:spPr>
          <a:xfrm>
            <a:off x="720000" y="539400"/>
            <a:ext cx="7704000" cy="51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12" name="Google Shape;112;p28"/>
          <p:cNvGrpSpPr/>
          <p:nvPr/>
        </p:nvGrpSpPr>
        <p:grpSpPr>
          <a:xfrm>
            <a:off x="719100" y="539400"/>
            <a:ext cx="7705800" cy="4064700"/>
            <a:chOff x="719100" y="539400"/>
            <a:chExt cx="7705800" cy="4064700"/>
          </a:xfrm>
        </p:grpSpPr>
        <p:cxnSp>
          <p:nvCxnSpPr>
            <p:cNvPr id="113" name="Google Shape;113;p28"/>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114" name="Google Shape;114;p28"/>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5" name="Shape 115"/>
        <p:cNvGrpSpPr/>
        <p:nvPr/>
      </p:nvGrpSpPr>
      <p:grpSpPr>
        <a:xfrm>
          <a:off x="0" y="0"/>
          <a:ext cx="0" cy="0"/>
          <a:chOff x="0" y="0"/>
          <a:chExt cx="0" cy="0"/>
        </a:xfrm>
      </p:grpSpPr>
      <p:sp>
        <p:nvSpPr>
          <p:cNvPr id="116" name="Google Shape;116;p29"/>
          <p:cNvSpPr/>
          <p:nvPr>
            <p:ph idx="2" type="pic"/>
          </p:nvPr>
        </p:nvSpPr>
        <p:spPr>
          <a:xfrm>
            <a:off x="-25" y="0"/>
            <a:ext cx="9144000" cy="5143500"/>
          </a:xfrm>
          <a:prstGeom prst="rect">
            <a:avLst/>
          </a:prstGeom>
          <a:noFill/>
          <a:ln>
            <a:noFill/>
          </a:ln>
        </p:spPr>
      </p:sp>
      <p:sp>
        <p:nvSpPr>
          <p:cNvPr id="117" name="Google Shape;117;p29"/>
          <p:cNvSpPr txBox="1"/>
          <p:nvPr>
            <p:ph idx="1" type="body"/>
          </p:nvPr>
        </p:nvSpPr>
        <p:spPr>
          <a:xfrm>
            <a:off x="1150150" y="3999000"/>
            <a:ext cx="6843600" cy="605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00"/>
              <a:buFont typeface="Poppins SemiBold"/>
              <a:buNone/>
              <a:defRPr sz="2500">
                <a:latin typeface="Poppins SemiBold"/>
                <a:ea typeface="Poppins SemiBold"/>
                <a:cs typeface="Poppins SemiBold"/>
                <a:sym typeface="Poppins SemiBold"/>
              </a:defRPr>
            </a:lvl1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118" name="Shape 11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119" name="Shape 119"/>
        <p:cNvGrpSpPr/>
        <p:nvPr/>
      </p:nvGrpSpPr>
      <p:grpSpPr>
        <a:xfrm>
          <a:off x="0" y="0"/>
          <a:ext cx="0" cy="0"/>
          <a:chOff x="0" y="0"/>
          <a:chExt cx="0" cy="0"/>
        </a:xfrm>
      </p:grpSpPr>
      <p:sp>
        <p:nvSpPr>
          <p:cNvPr id="120" name="Google Shape;120;p31"/>
          <p:cNvSpPr/>
          <p:nvPr/>
        </p:nvSpPr>
        <p:spPr>
          <a:xfrm rot="5400000">
            <a:off x="8309239" y="3486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1" name="Google Shape;121;p31"/>
          <p:cNvGrpSpPr/>
          <p:nvPr/>
        </p:nvGrpSpPr>
        <p:grpSpPr>
          <a:xfrm>
            <a:off x="719100" y="539400"/>
            <a:ext cx="7705800" cy="4064700"/>
            <a:chOff x="719100" y="539400"/>
            <a:chExt cx="7705800" cy="4064700"/>
          </a:xfrm>
        </p:grpSpPr>
        <p:cxnSp>
          <p:nvCxnSpPr>
            <p:cNvPr id="122" name="Google Shape;122;p31"/>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123" name="Google Shape;123;p31"/>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grpSp>
        <p:nvGrpSpPr>
          <p:cNvPr id="124" name="Google Shape;124;p31"/>
          <p:cNvGrpSpPr/>
          <p:nvPr/>
        </p:nvGrpSpPr>
        <p:grpSpPr>
          <a:xfrm rot="5400000">
            <a:off x="-430098" y="3200730"/>
            <a:ext cx="2284752" cy="1607436"/>
            <a:chOff x="5539149" y="3176875"/>
            <a:chExt cx="2029449" cy="1427309"/>
          </a:xfrm>
        </p:grpSpPr>
        <p:sp>
          <p:nvSpPr>
            <p:cNvPr id="125" name="Google Shape;125;p31"/>
            <p:cNvSpPr/>
            <p:nvPr/>
          </p:nvSpPr>
          <p:spPr>
            <a:xfrm flipH="1" rot="-5400000">
              <a:off x="6844880" y="3880443"/>
              <a:ext cx="849332" cy="598104"/>
            </a:xfrm>
            <a:custGeom>
              <a:rect b="b" l="l" r="r" t="t"/>
              <a:pathLst>
                <a:path extrusionOk="0" h="23817" w="47635">
                  <a:moveTo>
                    <a:pt x="1" y="0"/>
                  </a:moveTo>
                  <a:lnTo>
                    <a:pt x="1" y="23817"/>
                  </a:lnTo>
                  <a:lnTo>
                    <a:pt x="47634" y="23817"/>
                  </a:lnTo>
                  <a:lnTo>
                    <a:pt x="47634" y="0"/>
                  </a:lnTo>
                  <a:close/>
                </a:path>
              </a:pathLst>
            </a:custGeom>
            <a:gradFill>
              <a:gsLst>
                <a:gs pos="0">
                  <a:srgbClr val="174B67">
                    <a:alpha val="34902"/>
                  </a:srgbClr>
                </a:gs>
                <a:gs pos="100000">
                  <a:srgbClr val="174B67">
                    <a:alpha val="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1"/>
            <p:cNvSpPr/>
            <p:nvPr/>
          </p:nvSpPr>
          <p:spPr>
            <a:xfrm flipH="1" rot="-5400000">
              <a:off x="5541174" y="3174850"/>
              <a:ext cx="1427293" cy="1431342"/>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2"/>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1"/>
            <p:cNvSpPr/>
            <p:nvPr/>
          </p:nvSpPr>
          <p:spPr>
            <a:xfrm flipH="1" rot="-5400000">
              <a:off x="6122188" y="3755881"/>
              <a:ext cx="847111" cy="849493"/>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14902"/>
                  </a:srgbClr>
                </a:gs>
                <a:gs pos="100000">
                  <a:srgbClr val="174B67">
                    <a:alpha val="25882"/>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2">
    <p:spTree>
      <p:nvGrpSpPr>
        <p:cNvPr id="128" name="Shape 128"/>
        <p:cNvGrpSpPr/>
        <p:nvPr/>
      </p:nvGrpSpPr>
      <p:grpSpPr>
        <a:xfrm>
          <a:off x="0" y="0"/>
          <a:ext cx="0" cy="0"/>
          <a:chOff x="0" y="0"/>
          <a:chExt cx="0" cy="0"/>
        </a:xfrm>
      </p:grpSpPr>
      <p:sp>
        <p:nvSpPr>
          <p:cNvPr id="129" name="Google Shape;129;p32"/>
          <p:cNvSpPr/>
          <p:nvPr/>
        </p:nvSpPr>
        <p:spPr>
          <a:xfrm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0" name="Google Shape;130;p32"/>
          <p:cNvGrpSpPr/>
          <p:nvPr/>
        </p:nvGrpSpPr>
        <p:grpSpPr>
          <a:xfrm>
            <a:off x="719100" y="539400"/>
            <a:ext cx="7705800" cy="4064700"/>
            <a:chOff x="719100" y="539400"/>
            <a:chExt cx="7705800" cy="4064700"/>
          </a:xfrm>
        </p:grpSpPr>
        <p:cxnSp>
          <p:nvCxnSpPr>
            <p:cNvPr id="131" name="Google Shape;131;p32"/>
            <p:cNvCxnSpPr/>
            <p:nvPr/>
          </p:nvCxnSpPr>
          <p:spPr>
            <a:xfrm>
              <a:off x="719100" y="539400"/>
              <a:ext cx="7705800" cy="0"/>
            </a:xfrm>
            <a:prstGeom prst="straightConnector1">
              <a:avLst/>
            </a:prstGeom>
            <a:noFill/>
            <a:ln cap="flat" cmpd="sng" w="9525">
              <a:solidFill>
                <a:schemeClr val="dk1"/>
              </a:solidFill>
              <a:prstDash val="solid"/>
              <a:round/>
              <a:headEnd len="sm" w="sm" type="none"/>
              <a:tailEnd len="sm" w="sm" type="none"/>
            </a:ln>
          </p:spPr>
        </p:cxnSp>
        <p:cxnSp>
          <p:nvCxnSpPr>
            <p:cNvPr id="132" name="Google Shape;132;p32"/>
            <p:cNvCxnSpPr/>
            <p:nvPr/>
          </p:nvCxnSpPr>
          <p:spPr>
            <a:xfrm>
              <a:off x="719100" y="4604100"/>
              <a:ext cx="7705800" cy="0"/>
            </a:xfrm>
            <a:prstGeom prst="straightConnector1">
              <a:avLst/>
            </a:prstGeom>
            <a:noFill/>
            <a:ln cap="flat" cmpd="sng" w="9525">
              <a:solidFill>
                <a:schemeClr val="dk1"/>
              </a:solidFill>
              <a:prstDash val="solid"/>
              <a:round/>
              <a:headEnd len="sm" w="sm" type="none"/>
              <a:tailEnd len="sm" w="sm" type="none"/>
            </a:ln>
          </p:spPr>
        </p:cxnSp>
      </p:grpSp>
      <p:grpSp>
        <p:nvGrpSpPr>
          <p:cNvPr id="133" name="Google Shape;133;p32"/>
          <p:cNvGrpSpPr/>
          <p:nvPr/>
        </p:nvGrpSpPr>
        <p:grpSpPr>
          <a:xfrm flipH="1" rot="10800000">
            <a:off x="6949439" y="209181"/>
            <a:ext cx="2284752" cy="1607436"/>
            <a:chOff x="5539149" y="3176875"/>
            <a:chExt cx="2029449" cy="1427309"/>
          </a:xfrm>
        </p:grpSpPr>
        <p:sp>
          <p:nvSpPr>
            <p:cNvPr id="134" name="Google Shape;134;p32"/>
            <p:cNvSpPr/>
            <p:nvPr/>
          </p:nvSpPr>
          <p:spPr>
            <a:xfrm flipH="1" rot="-5400000">
              <a:off x="6844880" y="3880443"/>
              <a:ext cx="849332" cy="598104"/>
            </a:xfrm>
            <a:custGeom>
              <a:rect b="b" l="l" r="r" t="t"/>
              <a:pathLst>
                <a:path extrusionOk="0" h="23817" w="47635">
                  <a:moveTo>
                    <a:pt x="1" y="0"/>
                  </a:moveTo>
                  <a:lnTo>
                    <a:pt x="1" y="23817"/>
                  </a:lnTo>
                  <a:lnTo>
                    <a:pt x="47634" y="23817"/>
                  </a:lnTo>
                  <a:lnTo>
                    <a:pt x="47634" y="0"/>
                  </a:lnTo>
                  <a:close/>
                </a:path>
              </a:pathLst>
            </a:custGeom>
            <a:gradFill>
              <a:gsLst>
                <a:gs pos="0">
                  <a:srgbClr val="174B67">
                    <a:alpha val="34902"/>
                  </a:srgbClr>
                </a:gs>
                <a:gs pos="100000">
                  <a:srgbClr val="174B67">
                    <a:alpha val="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2"/>
            <p:cNvSpPr/>
            <p:nvPr/>
          </p:nvSpPr>
          <p:spPr>
            <a:xfrm flipH="1" rot="-5400000">
              <a:off x="5541174" y="3174850"/>
              <a:ext cx="1427293" cy="1431342"/>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2"/>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2"/>
            <p:cNvSpPr/>
            <p:nvPr/>
          </p:nvSpPr>
          <p:spPr>
            <a:xfrm flipH="1" rot="-5400000">
              <a:off x="6122188" y="3755881"/>
              <a:ext cx="847111" cy="849493"/>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14902"/>
                  </a:srgbClr>
                </a:gs>
                <a:gs pos="100000">
                  <a:srgbClr val="174B67">
                    <a:alpha val="25882"/>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720000" y="539400"/>
            <a:ext cx="7704000" cy="517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9pPr>
          </a:lstStyle>
          <a:p/>
        </p:txBody>
      </p:sp>
      <p:sp>
        <p:nvSpPr>
          <p:cNvPr id="7" name="Google Shape;7;p16"/>
          <p:cNvSpPr txBox="1"/>
          <p:nvPr>
            <p:ph idx="1" type="body"/>
          </p:nvPr>
        </p:nvSpPr>
        <p:spPr>
          <a:xfrm>
            <a:off x="720000" y="1152475"/>
            <a:ext cx="77040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15000"/>
              </a:lnSpc>
              <a:spcBef>
                <a:spcPts val="0"/>
              </a:spcBef>
              <a:spcAft>
                <a:spcPts val="0"/>
              </a:spcAft>
              <a:buClr>
                <a:schemeClr val="dk1"/>
              </a:buClr>
              <a:buSzPts val="1200"/>
              <a:buFont typeface="Livvic"/>
              <a:buChar char="●"/>
              <a:defRPr b="0" i="0" sz="1200" u="none" cap="none" strike="noStrike">
                <a:solidFill>
                  <a:schemeClr val="dk1"/>
                </a:solidFill>
                <a:latin typeface="Livvic"/>
                <a:ea typeface="Livvic"/>
                <a:cs typeface="Livvic"/>
                <a:sym typeface="Livvic"/>
              </a:defRPr>
            </a:lvl1pPr>
            <a:lvl2pPr indent="-304800" lvl="1" marL="914400" marR="0" rtl="0" algn="l">
              <a:lnSpc>
                <a:spcPct val="115000"/>
              </a:lnSpc>
              <a:spcBef>
                <a:spcPts val="0"/>
              </a:spcBef>
              <a:spcAft>
                <a:spcPts val="0"/>
              </a:spcAft>
              <a:buClr>
                <a:schemeClr val="dk1"/>
              </a:buClr>
              <a:buSzPts val="1200"/>
              <a:buFont typeface="Livvic"/>
              <a:buChar char="○"/>
              <a:defRPr b="0" i="0" sz="1200" u="none" cap="none" strike="noStrike">
                <a:solidFill>
                  <a:schemeClr val="dk1"/>
                </a:solidFill>
                <a:latin typeface="Livvic"/>
                <a:ea typeface="Livvic"/>
                <a:cs typeface="Livvic"/>
                <a:sym typeface="Livvic"/>
              </a:defRPr>
            </a:lvl2pPr>
            <a:lvl3pPr indent="-304800" lvl="2" marL="1371600" marR="0" rtl="0" algn="l">
              <a:lnSpc>
                <a:spcPct val="115000"/>
              </a:lnSpc>
              <a:spcBef>
                <a:spcPts val="0"/>
              </a:spcBef>
              <a:spcAft>
                <a:spcPts val="0"/>
              </a:spcAft>
              <a:buClr>
                <a:schemeClr val="dk1"/>
              </a:buClr>
              <a:buSzPts val="1200"/>
              <a:buFont typeface="Livvic"/>
              <a:buChar char="■"/>
              <a:defRPr b="0" i="0" sz="1200" u="none" cap="none" strike="noStrike">
                <a:solidFill>
                  <a:schemeClr val="dk1"/>
                </a:solidFill>
                <a:latin typeface="Livvic"/>
                <a:ea typeface="Livvic"/>
                <a:cs typeface="Livvic"/>
                <a:sym typeface="Livvic"/>
              </a:defRPr>
            </a:lvl3pPr>
            <a:lvl4pPr indent="-304800" lvl="3" marL="1828800" marR="0" rtl="0" algn="l">
              <a:lnSpc>
                <a:spcPct val="115000"/>
              </a:lnSpc>
              <a:spcBef>
                <a:spcPts val="0"/>
              </a:spcBef>
              <a:spcAft>
                <a:spcPts val="0"/>
              </a:spcAft>
              <a:buClr>
                <a:schemeClr val="dk1"/>
              </a:buClr>
              <a:buSzPts val="1200"/>
              <a:buFont typeface="Livvic"/>
              <a:buChar char="●"/>
              <a:defRPr b="0" i="0" sz="1200" u="none" cap="none" strike="noStrike">
                <a:solidFill>
                  <a:schemeClr val="dk1"/>
                </a:solidFill>
                <a:latin typeface="Livvic"/>
                <a:ea typeface="Livvic"/>
                <a:cs typeface="Livvic"/>
                <a:sym typeface="Livvic"/>
              </a:defRPr>
            </a:lvl4pPr>
            <a:lvl5pPr indent="-304800" lvl="4" marL="2286000" marR="0" rtl="0" algn="l">
              <a:lnSpc>
                <a:spcPct val="115000"/>
              </a:lnSpc>
              <a:spcBef>
                <a:spcPts val="0"/>
              </a:spcBef>
              <a:spcAft>
                <a:spcPts val="0"/>
              </a:spcAft>
              <a:buClr>
                <a:schemeClr val="dk1"/>
              </a:buClr>
              <a:buSzPts val="1200"/>
              <a:buFont typeface="Livvic"/>
              <a:buChar char="○"/>
              <a:defRPr b="0" i="0" sz="1200" u="none" cap="none" strike="noStrike">
                <a:solidFill>
                  <a:schemeClr val="dk1"/>
                </a:solidFill>
                <a:latin typeface="Livvic"/>
                <a:ea typeface="Livvic"/>
                <a:cs typeface="Livvic"/>
                <a:sym typeface="Livvic"/>
              </a:defRPr>
            </a:lvl5pPr>
            <a:lvl6pPr indent="-304800" lvl="5" marL="2743200" marR="0" rtl="0" algn="l">
              <a:lnSpc>
                <a:spcPct val="115000"/>
              </a:lnSpc>
              <a:spcBef>
                <a:spcPts val="0"/>
              </a:spcBef>
              <a:spcAft>
                <a:spcPts val="0"/>
              </a:spcAft>
              <a:buClr>
                <a:schemeClr val="dk1"/>
              </a:buClr>
              <a:buSzPts val="1200"/>
              <a:buFont typeface="Livvic"/>
              <a:buChar char="■"/>
              <a:defRPr b="0" i="0" sz="1200" u="none" cap="none" strike="noStrike">
                <a:solidFill>
                  <a:schemeClr val="dk1"/>
                </a:solidFill>
                <a:latin typeface="Livvic"/>
                <a:ea typeface="Livvic"/>
                <a:cs typeface="Livvic"/>
                <a:sym typeface="Livvic"/>
              </a:defRPr>
            </a:lvl6pPr>
            <a:lvl7pPr indent="-304800" lvl="6" marL="3200400" marR="0" rtl="0" algn="l">
              <a:lnSpc>
                <a:spcPct val="115000"/>
              </a:lnSpc>
              <a:spcBef>
                <a:spcPts val="0"/>
              </a:spcBef>
              <a:spcAft>
                <a:spcPts val="0"/>
              </a:spcAft>
              <a:buClr>
                <a:schemeClr val="dk1"/>
              </a:buClr>
              <a:buSzPts val="1200"/>
              <a:buFont typeface="Livvic"/>
              <a:buChar char="●"/>
              <a:defRPr b="0" i="0" sz="1200" u="none" cap="none" strike="noStrike">
                <a:solidFill>
                  <a:schemeClr val="dk1"/>
                </a:solidFill>
                <a:latin typeface="Livvic"/>
                <a:ea typeface="Livvic"/>
                <a:cs typeface="Livvic"/>
                <a:sym typeface="Livvic"/>
              </a:defRPr>
            </a:lvl7pPr>
            <a:lvl8pPr indent="-304800" lvl="7" marL="3657600" marR="0" rtl="0" algn="l">
              <a:lnSpc>
                <a:spcPct val="115000"/>
              </a:lnSpc>
              <a:spcBef>
                <a:spcPts val="0"/>
              </a:spcBef>
              <a:spcAft>
                <a:spcPts val="0"/>
              </a:spcAft>
              <a:buClr>
                <a:schemeClr val="dk1"/>
              </a:buClr>
              <a:buSzPts val="1200"/>
              <a:buFont typeface="Livvic"/>
              <a:buChar char="○"/>
              <a:defRPr b="0" i="0" sz="1200" u="none" cap="none" strike="noStrike">
                <a:solidFill>
                  <a:schemeClr val="dk1"/>
                </a:solidFill>
                <a:latin typeface="Livvic"/>
                <a:ea typeface="Livvic"/>
                <a:cs typeface="Livvic"/>
                <a:sym typeface="Livvic"/>
              </a:defRPr>
            </a:lvl8pPr>
            <a:lvl9pPr indent="-304800" lvl="8" marL="4114800" marR="0" rtl="0" algn="l">
              <a:lnSpc>
                <a:spcPct val="115000"/>
              </a:lnSpc>
              <a:spcBef>
                <a:spcPts val="0"/>
              </a:spcBef>
              <a:spcAft>
                <a:spcPts val="0"/>
              </a:spcAft>
              <a:buClr>
                <a:schemeClr val="dk1"/>
              </a:buClr>
              <a:buSzPts val="1200"/>
              <a:buFont typeface="Livvic"/>
              <a:buChar char="■"/>
              <a:defRPr b="0" i="0" sz="1200" u="none" cap="none" strike="noStrike">
                <a:solidFill>
                  <a:schemeClr val="dk1"/>
                </a:solidFill>
                <a:latin typeface="Livvic"/>
                <a:ea typeface="Livvic"/>
                <a:cs typeface="Livvic"/>
                <a:sym typeface="Livvic"/>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chart" Target="../charts/chart5.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ctrTitle"/>
          </p:nvPr>
        </p:nvSpPr>
        <p:spPr>
          <a:xfrm>
            <a:off x="1112741" y="1048041"/>
            <a:ext cx="5874300" cy="1821538"/>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8500"/>
              <a:buNone/>
            </a:pPr>
            <a:r>
              <a:rPr b="1" lang="en-US" sz="5500">
                <a:latin typeface="Poppins"/>
                <a:ea typeface="Poppins"/>
                <a:cs typeface="Poppins"/>
                <a:sym typeface="Poppins"/>
              </a:rPr>
              <a:t>El flujo de los clientes</a:t>
            </a:r>
            <a:endParaRPr b="0" sz="3600">
              <a:latin typeface="Poppins Medium"/>
              <a:ea typeface="Poppins Medium"/>
              <a:cs typeface="Poppins Medium"/>
              <a:sym typeface="Poppins Medium"/>
            </a:endParaRPr>
          </a:p>
        </p:txBody>
      </p:sp>
      <p:sp>
        <p:nvSpPr>
          <p:cNvPr id="142" name="Google Shape;142;p1"/>
          <p:cNvSpPr txBox="1"/>
          <p:nvPr>
            <p:ph idx="1" type="subTitle"/>
          </p:nvPr>
        </p:nvSpPr>
        <p:spPr>
          <a:xfrm>
            <a:off x="1174855" y="3415322"/>
            <a:ext cx="3969300" cy="100037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00000"/>
              </a:lnSpc>
              <a:spcBef>
                <a:spcPts val="0"/>
              </a:spcBef>
              <a:spcAft>
                <a:spcPts val="0"/>
              </a:spcAft>
              <a:buSzPts val="1800"/>
              <a:buNone/>
            </a:pPr>
            <a:r>
              <a:rPr lang="en-US" sz="1100"/>
              <a:t>SuperTienda nació en 2019 como una cadena de retail multicanal, con presencia en las regiones Norte, Centro, Sur y Austral. Hoy, con 300 clientes en su base, la gerencia nos convocó para responder una pregunta simple: </a:t>
            </a:r>
            <a:r>
              <a:rPr b="1" lang="en-US" sz="1100"/>
              <a:t>¿sabemos realmente quiénes son nuestros mejores clientes?</a:t>
            </a:r>
            <a:endParaRPr/>
          </a:p>
        </p:txBody>
      </p:sp>
      <p:grpSp>
        <p:nvGrpSpPr>
          <p:cNvPr id="143" name="Google Shape;143;p1"/>
          <p:cNvGrpSpPr/>
          <p:nvPr/>
        </p:nvGrpSpPr>
        <p:grpSpPr>
          <a:xfrm>
            <a:off x="7406641" y="1"/>
            <a:ext cx="1763123" cy="2853108"/>
            <a:chOff x="7400701" y="1"/>
            <a:chExt cx="1747050" cy="2853108"/>
          </a:xfrm>
        </p:grpSpPr>
        <p:sp>
          <p:nvSpPr>
            <p:cNvPr id="144" name="Google Shape;144;p1"/>
            <p:cNvSpPr/>
            <p:nvPr/>
          </p:nvSpPr>
          <p:spPr>
            <a:xfrm rot="5400000">
              <a:off x="7402546" y="1107904"/>
              <a:ext cx="1743359" cy="1747050"/>
            </a:xfrm>
            <a:custGeom>
              <a:rect b="b" l="l" r="r" t="t"/>
              <a:pathLst>
                <a:path extrusionOk="0" h="23818" w="23818">
                  <a:moveTo>
                    <a:pt x="0" y="1"/>
                  </a:moveTo>
                  <a:lnTo>
                    <a:pt x="0" y="23817"/>
                  </a:lnTo>
                  <a:cubicBezTo>
                    <a:pt x="13155" y="23817"/>
                    <a:pt x="23817" y="13155"/>
                    <a:pt x="23817" y="1"/>
                  </a:cubicBezTo>
                  <a:close/>
                </a:path>
              </a:pathLst>
            </a:custGeom>
            <a:gradFill>
              <a:gsLst>
                <a:gs pos="0">
                  <a:srgbClr val="174B67">
                    <a:alpha val="34902"/>
                  </a:srgbClr>
                </a:gs>
                <a:gs pos="100000">
                  <a:srgbClr val="174B67">
                    <a:alpha val="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rot="5400000">
              <a:off x="8036028" y="1107829"/>
              <a:ext cx="1109800" cy="1113645"/>
            </a:xfrm>
            <a:custGeom>
              <a:rect b="b" l="l" r="r" t="t"/>
              <a:pathLst>
                <a:path extrusionOk="0" h="11910" w="11909">
                  <a:moveTo>
                    <a:pt x="0" y="1"/>
                  </a:moveTo>
                  <a:lnTo>
                    <a:pt x="0" y="11909"/>
                  </a:lnTo>
                  <a:cubicBezTo>
                    <a:pt x="6581" y="11909"/>
                    <a:pt x="11909" y="6581"/>
                    <a:pt x="11909" y="1"/>
                  </a:cubicBezTo>
                  <a:close/>
                </a:path>
              </a:pathLst>
            </a:custGeom>
            <a:gradFill>
              <a:gsLst>
                <a:gs pos="0">
                  <a:srgbClr val="174B67">
                    <a:alpha val="14902"/>
                  </a:srgbClr>
                </a:gs>
                <a:gs pos="100000">
                  <a:srgbClr val="174B67">
                    <a:alpha val="14902"/>
                  </a:srgbClr>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rot="5400000">
              <a:off x="8036028" y="-1922"/>
              <a:ext cx="1109800" cy="1113645"/>
            </a:xfrm>
            <a:custGeom>
              <a:rect b="b" l="l" r="r" t="t"/>
              <a:pathLst>
                <a:path extrusionOk="0" h="11910" w="11909">
                  <a:moveTo>
                    <a:pt x="0" y="1"/>
                  </a:moveTo>
                  <a:cubicBezTo>
                    <a:pt x="0" y="6581"/>
                    <a:pt x="5334" y="11909"/>
                    <a:pt x="11908" y="11909"/>
                  </a:cubicBezTo>
                  <a:lnTo>
                    <a:pt x="11908" y="1"/>
                  </a:lnTo>
                  <a:close/>
                </a:path>
              </a:pathLst>
            </a:custGeom>
            <a:gradFill>
              <a:gsLst>
                <a:gs pos="0">
                  <a:srgbClr val="293F5D">
                    <a:alpha val="20000"/>
                  </a:srgbClr>
                </a:gs>
                <a:gs pos="100000">
                  <a:srgbClr val="4B4F73">
                    <a:alpha val="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7" name="Google Shape;147;p1"/>
          <p:cNvSpPr txBox="1"/>
          <p:nvPr/>
        </p:nvSpPr>
        <p:spPr>
          <a:xfrm>
            <a:off x="5206675" y="3471745"/>
            <a:ext cx="2316681"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B2533"/>
                </a:solidFill>
                <a:latin typeface="Livvic Medium"/>
                <a:ea typeface="Livvic Medium"/>
                <a:cs typeface="Livvic Medium"/>
                <a:sym typeface="Livvic Medium"/>
              </a:rPr>
              <a:t>Data/BI Analyst:</a:t>
            </a:r>
            <a:endParaRPr/>
          </a:p>
          <a:p>
            <a:pPr indent="-171450" lvl="0" marL="171450" marR="0" rtl="0" algn="l">
              <a:lnSpc>
                <a:spcPct val="100000"/>
              </a:lnSpc>
              <a:spcBef>
                <a:spcPts val="0"/>
              </a:spcBef>
              <a:spcAft>
                <a:spcPts val="0"/>
              </a:spcAft>
              <a:buClr>
                <a:srgbClr val="0B2533"/>
              </a:buClr>
              <a:buSzPts val="1100"/>
              <a:buFont typeface="Arial"/>
              <a:buChar char="•"/>
            </a:pPr>
            <a:r>
              <a:rPr b="0" i="0" lang="en-US" sz="1100" u="none" cap="none" strike="noStrike">
                <a:solidFill>
                  <a:srgbClr val="11384D"/>
                </a:solidFill>
                <a:latin typeface="Livvic Medium"/>
                <a:ea typeface="Livvic Medium"/>
                <a:cs typeface="Livvic Medium"/>
                <a:sym typeface="Livvic Medium"/>
              </a:rPr>
              <a:t>Ayelén Lujan Zapata Toledo</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11384D"/>
                </a:solidFill>
                <a:latin typeface="Livvic Medium"/>
                <a:ea typeface="Livvic Medium"/>
                <a:cs typeface="Livvic Medium"/>
                <a:sym typeface="Livvic Medium"/>
              </a:rPr>
              <a:t>Estephanie Vargas</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11384D"/>
                </a:solidFill>
                <a:latin typeface="Livvic Medium"/>
                <a:ea typeface="Livvic Medium"/>
                <a:cs typeface="Livvic Medium"/>
                <a:sym typeface="Livvic Medium"/>
              </a:rPr>
              <a:t>Ezequiel Martínez</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11384D"/>
                </a:solidFill>
                <a:latin typeface="Livvic Medium"/>
                <a:ea typeface="Livvic Medium"/>
                <a:cs typeface="Livvic Medium"/>
                <a:sym typeface="Livvic Medium"/>
              </a:rPr>
              <a:t>Magali Valiente</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11384D"/>
                </a:solidFill>
                <a:latin typeface="Livvic Medium"/>
                <a:ea typeface="Livvic Medium"/>
                <a:cs typeface="Livvic Medium"/>
                <a:sym typeface="Livvic Medium"/>
              </a:rPr>
              <a:t>Mateo Cruz</a:t>
            </a:r>
            <a:endParaRPr/>
          </a:p>
        </p:txBody>
      </p:sp>
      <p:pic>
        <p:nvPicPr>
          <p:cNvPr id="148" name="Google Shape;148;p1"/>
          <p:cNvPicPr preferRelativeResize="0"/>
          <p:nvPr/>
        </p:nvPicPr>
        <p:blipFill rotWithShape="1">
          <a:blip r:embed="rId3">
            <a:alphaModFix/>
          </a:blip>
          <a:srcRect b="0" l="0" r="0" t="0"/>
          <a:stretch/>
        </p:blipFill>
        <p:spPr>
          <a:xfrm>
            <a:off x="96648" y="211166"/>
            <a:ext cx="1414060" cy="343734"/>
          </a:xfrm>
          <a:prstGeom prst="rect">
            <a:avLst/>
          </a:prstGeom>
          <a:noFill/>
          <a:ln>
            <a:noFill/>
          </a:ln>
        </p:spPr>
      </p:pic>
      <p:pic>
        <p:nvPicPr>
          <p:cNvPr id="149" name="Google Shape;149;p1"/>
          <p:cNvPicPr preferRelativeResize="0"/>
          <p:nvPr/>
        </p:nvPicPr>
        <p:blipFill rotWithShape="1">
          <a:blip r:embed="rId4">
            <a:alphaModFix/>
          </a:blip>
          <a:srcRect b="0" l="0" r="0" t="0"/>
          <a:stretch/>
        </p:blipFill>
        <p:spPr>
          <a:xfrm>
            <a:off x="8387349" y="34189"/>
            <a:ext cx="660003" cy="456925"/>
          </a:xfrm>
          <a:prstGeom prst="rect">
            <a:avLst/>
          </a:prstGeom>
          <a:noFill/>
          <a:ln>
            <a:noFill/>
          </a:ln>
        </p:spPr>
      </p:pic>
      <p:sp>
        <p:nvSpPr>
          <p:cNvPr id="150" name="Google Shape;150;p1"/>
          <p:cNvSpPr txBox="1"/>
          <p:nvPr/>
        </p:nvSpPr>
        <p:spPr>
          <a:xfrm>
            <a:off x="1112741" y="2619151"/>
            <a:ext cx="448872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174B67"/>
                </a:solidFill>
                <a:latin typeface="Poppins Medium"/>
                <a:ea typeface="Poppins Medium"/>
                <a:cs typeface="Poppins Medium"/>
                <a:sym typeface="Poppins Medium"/>
              </a:rPr>
              <a:t>Caso: Supertienda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title"/>
          </p:nvPr>
        </p:nvSpPr>
        <p:spPr>
          <a:xfrm>
            <a:off x="552422" y="554889"/>
            <a:ext cx="6684623" cy="1301467"/>
          </a:xfrm>
          <a:prstGeom prst="rect">
            <a:avLst/>
          </a:prstGeom>
          <a:noFill/>
          <a:ln>
            <a:noFill/>
          </a:ln>
        </p:spPr>
        <p:txBody>
          <a:bodyPr anchorCtr="0" anchor="b" bIns="91425" lIns="91425" spcFirstLastPara="1" rIns="91425" wrap="square" tIns="91425">
            <a:noAutofit/>
          </a:bodyPr>
          <a:lstStyle/>
          <a:p>
            <a:pPr indent="0" lvl="0" marL="0" rtl="0" algn="just">
              <a:lnSpc>
                <a:spcPct val="100000"/>
              </a:lnSpc>
              <a:spcBef>
                <a:spcPts val="0"/>
              </a:spcBef>
              <a:spcAft>
                <a:spcPts val="0"/>
              </a:spcAft>
              <a:buSzPts val="2400"/>
              <a:buNone/>
            </a:pPr>
            <a:r>
              <a:rPr lang="en-US"/>
              <a:t>El desafio del negocio e investigación</a:t>
            </a:r>
            <a:endParaRPr/>
          </a:p>
        </p:txBody>
      </p:sp>
      <p:grpSp>
        <p:nvGrpSpPr>
          <p:cNvPr id="156" name="Google Shape;156;p2"/>
          <p:cNvGrpSpPr/>
          <p:nvPr/>
        </p:nvGrpSpPr>
        <p:grpSpPr>
          <a:xfrm>
            <a:off x="630574" y="1805348"/>
            <a:ext cx="356164" cy="355815"/>
            <a:chOff x="3040984" y="3681059"/>
            <a:chExt cx="356164" cy="355815"/>
          </a:xfrm>
        </p:grpSpPr>
        <p:sp>
          <p:nvSpPr>
            <p:cNvPr id="157" name="Google Shape;157;p2"/>
            <p:cNvSpPr/>
            <p:nvPr/>
          </p:nvSpPr>
          <p:spPr>
            <a:xfrm>
              <a:off x="3040984" y="3681059"/>
              <a:ext cx="356164" cy="355815"/>
            </a:xfrm>
            <a:custGeom>
              <a:rect b="b" l="l" r="r" t="t"/>
              <a:pathLst>
                <a:path extrusionOk="0" h="11205" w="11216">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
            <p:cNvSpPr/>
            <p:nvPr/>
          </p:nvSpPr>
          <p:spPr>
            <a:xfrm>
              <a:off x="3183120" y="3921508"/>
              <a:ext cx="59414" cy="59382"/>
            </a:xfrm>
            <a:custGeom>
              <a:rect b="b" l="l" r="r" t="t"/>
              <a:pathLst>
                <a:path extrusionOk="0" h="1870" w="1871">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
            <p:cNvSpPr/>
            <p:nvPr/>
          </p:nvSpPr>
          <p:spPr>
            <a:xfrm>
              <a:off x="3149110" y="3735868"/>
              <a:ext cx="141056" cy="174716"/>
            </a:xfrm>
            <a:custGeom>
              <a:rect b="b" l="l" r="r" t="t"/>
              <a:pathLst>
                <a:path extrusionOk="0" h="5502" w="4442">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F191D"/>
                </a:solidFill>
                <a:latin typeface="Arial"/>
                <a:ea typeface="Arial"/>
                <a:cs typeface="Arial"/>
                <a:sym typeface="Arial"/>
              </a:endParaRPr>
            </a:p>
          </p:txBody>
        </p:sp>
      </p:grpSp>
      <p:sp>
        <p:nvSpPr>
          <p:cNvPr id="160" name="Google Shape;160;p2"/>
          <p:cNvSpPr txBox="1"/>
          <p:nvPr/>
        </p:nvSpPr>
        <p:spPr>
          <a:xfrm>
            <a:off x="1023815" y="1851997"/>
            <a:ext cx="3444583" cy="10926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300" u="none" cap="none" strike="noStrike">
                <a:solidFill>
                  <a:srgbClr val="000000"/>
                </a:solidFill>
                <a:latin typeface="Livvic"/>
                <a:ea typeface="Livvic"/>
                <a:cs typeface="Livvic"/>
                <a:sym typeface="Livvic"/>
              </a:rPr>
              <a:t>SuperTienda cuenta con una base de 300 clientes, pero no tenía una visibilidad clara de quienes genera mas valor, qué regiones concentran mas inactividad, ni que perfiles de compra conviven dentro de su cartera.</a:t>
            </a:r>
            <a:endParaRPr b="0" i="0" sz="1300" u="none" cap="none" strike="noStrike">
              <a:solidFill>
                <a:srgbClr val="000000"/>
              </a:solidFill>
              <a:latin typeface="Livvic"/>
              <a:ea typeface="Livvic"/>
              <a:cs typeface="Livvic"/>
              <a:sym typeface="Livvic"/>
            </a:endParaRPr>
          </a:p>
        </p:txBody>
      </p:sp>
      <p:sp>
        <p:nvSpPr>
          <p:cNvPr id="161" name="Google Shape;161;p2"/>
          <p:cNvSpPr txBox="1"/>
          <p:nvPr/>
        </p:nvSpPr>
        <p:spPr>
          <a:xfrm>
            <a:off x="928110" y="3112174"/>
            <a:ext cx="3221860" cy="30777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000000"/>
                </a:solidFill>
                <a:latin typeface="Livvic Medium"/>
                <a:ea typeface="Livvic Medium"/>
                <a:cs typeface="Livvic Medium"/>
                <a:sym typeface="Livvic Medium"/>
              </a:rPr>
              <a:t>El problema que buscamos resolver: </a:t>
            </a:r>
            <a:endParaRPr b="0" i="0" sz="1400" u="none" cap="none" strike="noStrike">
              <a:solidFill>
                <a:srgbClr val="000000"/>
              </a:solidFill>
              <a:latin typeface="Livvic Medium"/>
              <a:ea typeface="Livvic Medium"/>
              <a:cs typeface="Livvic Medium"/>
              <a:sym typeface="Livvic Medium"/>
            </a:endParaRPr>
          </a:p>
        </p:txBody>
      </p:sp>
      <p:sp>
        <p:nvSpPr>
          <p:cNvPr id="162" name="Google Shape;162;p2"/>
          <p:cNvSpPr/>
          <p:nvPr/>
        </p:nvSpPr>
        <p:spPr>
          <a:xfrm>
            <a:off x="678389" y="3454391"/>
            <a:ext cx="354363" cy="354395"/>
          </a:xfrm>
          <a:custGeom>
            <a:rect b="b" l="l" r="r" t="t"/>
            <a:pathLst>
              <a:path extrusionOk="0" h="11134" w="11133">
                <a:moveTo>
                  <a:pt x="2876" y="2961"/>
                </a:moveTo>
                <a:cubicBezTo>
                  <a:pt x="2929" y="2961"/>
                  <a:pt x="2983" y="2967"/>
                  <a:pt x="3036" y="2977"/>
                </a:cubicBezTo>
                <a:cubicBezTo>
                  <a:pt x="3358" y="3037"/>
                  <a:pt x="3584" y="3287"/>
                  <a:pt x="3656" y="3596"/>
                </a:cubicBezTo>
                <a:cubicBezTo>
                  <a:pt x="3703" y="3882"/>
                  <a:pt x="3608" y="4180"/>
                  <a:pt x="3382" y="4358"/>
                </a:cubicBezTo>
                <a:cubicBezTo>
                  <a:pt x="3239" y="4489"/>
                  <a:pt x="3144" y="4680"/>
                  <a:pt x="3144" y="4882"/>
                </a:cubicBezTo>
                <a:lnTo>
                  <a:pt x="3144" y="5239"/>
                </a:lnTo>
                <a:cubicBezTo>
                  <a:pt x="3144" y="5525"/>
                  <a:pt x="3370" y="5740"/>
                  <a:pt x="3644" y="5740"/>
                </a:cubicBezTo>
                <a:lnTo>
                  <a:pt x="5406" y="5740"/>
                </a:lnTo>
                <a:lnTo>
                  <a:pt x="5406" y="7502"/>
                </a:lnTo>
                <a:cubicBezTo>
                  <a:pt x="5406" y="7609"/>
                  <a:pt x="5311" y="7680"/>
                  <a:pt x="5227" y="7680"/>
                </a:cubicBezTo>
                <a:lnTo>
                  <a:pt x="4870" y="7680"/>
                </a:lnTo>
                <a:cubicBezTo>
                  <a:pt x="4763" y="7680"/>
                  <a:pt x="4668" y="7633"/>
                  <a:pt x="4596" y="7561"/>
                </a:cubicBezTo>
                <a:cubicBezTo>
                  <a:pt x="4386" y="7313"/>
                  <a:pt x="4084" y="7164"/>
                  <a:pt x="3770" y="7164"/>
                </a:cubicBezTo>
                <a:cubicBezTo>
                  <a:pt x="3693" y="7164"/>
                  <a:pt x="3614" y="7173"/>
                  <a:pt x="3537" y="7192"/>
                </a:cubicBezTo>
                <a:cubicBezTo>
                  <a:pt x="3096" y="7264"/>
                  <a:pt x="2739" y="7621"/>
                  <a:pt x="2655" y="8049"/>
                </a:cubicBezTo>
                <a:cubicBezTo>
                  <a:pt x="2584" y="8395"/>
                  <a:pt x="2667" y="8740"/>
                  <a:pt x="2882" y="9002"/>
                </a:cubicBezTo>
                <a:cubicBezTo>
                  <a:pt x="3084" y="9276"/>
                  <a:pt x="3417" y="9419"/>
                  <a:pt x="3739" y="9419"/>
                </a:cubicBezTo>
                <a:cubicBezTo>
                  <a:pt x="4084" y="9419"/>
                  <a:pt x="4394" y="9276"/>
                  <a:pt x="4608" y="9014"/>
                </a:cubicBezTo>
                <a:cubicBezTo>
                  <a:pt x="4668" y="8942"/>
                  <a:pt x="4763" y="8895"/>
                  <a:pt x="4870" y="8895"/>
                </a:cubicBezTo>
                <a:lnTo>
                  <a:pt x="5215" y="8895"/>
                </a:lnTo>
                <a:cubicBezTo>
                  <a:pt x="5322" y="8895"/>
                  <a:pt x="5394" y="8990"/>
                  <a:pt x="5394" y="9073"/>
                </a:cubicBezTo>
                <a:lnTo>
                  <a:pt x="5394" y="10812"/>
                </a:lnTo>
                <a:lnTo>
                  <a:pt x="870" y="10812"/>
                </a:lnTo>
                <a:cubicBezTo>
                  <a:pt x="572" y="10812"/>
                  <a:pt x="334" y="10573"/>
                  <a:pt x="334" y="10276"/>
                </a:cubicBezTo>
                <a:lnTo>
                  <a:pt x="334" y="5728"/>
                </a:lnTo>
                <a:lnTo>
                  <a:pt x="2084" y="5728"/>
                </a:lnTo>
                <a:cubicBezTo>
                  <a:pt x="2370" y="5728"/>
                  <a:pt x="2596" y="5513"/>
                  <a:pt x="2596" y="5228"/>
                </a:cubicBezTo>
                <a:lnTo>
                  <a:pt x="2596" y="4882"/>
                </a:lnTo>
                <a:cubicBezTo>
                  <a:pt x="2596" y="4680"/>
                  <a:pt x="2501" y="4477"/>
                  <a:pt x="2358" y="4358"/>
                </a:cubicBezTo>
                <a:cubicBezTo>
                  <a:pt x="2179" y="4216"/>
                  <a:pt x="2072" y="3989"/>
                  <a:pt x="2072" y="3751"/>
                </a:cubicBezTo>
                <a:cubicBezTo>
                  <a:pt x="2072" y="3513"/>
                  <a:pt x="2179" y="3287"/>
                  <a:pt x="2370" y="3144"/>
                </a:cubicBezTo>
                <a:cubicBezTo>
                  <a:pt x="2517" y="3024"/>
                  <a:pt x="2694" y="2961"/>
                  <a:pt x="2876" y="2961"/>
                </a:cubicBezTo>
                <a:close/>
                <a:moveTo>
                  <a:pt x="10287" y="334"/>
                </a:moveTo>
                <a:cubicBezTo>
                  <a:pt x="10585" y="334"/>
                  <a:pt x="10823" y="572"/>
                  <a:pt x="10823" y="870"/>
                </a:cubicBezTo>
                <a:lnTo>
                  <a:pt x="10823" y="5406"/>
                </a:lnTo>
                <a:lnTo>
                  <a:pt x="10633" y="5406"/>
                </a:lnTo>
                <a:cubicBezTo>
                  <a:pt x="10537" y="5406"/>
                  <a:pt x="10466" y="5478"/>
                  <a:pt x="10466" y="5573"/>
                </a:cubicBezTo>
                <a:cubicBezTo>
                  <a:pt x="10466" y="5656"/>
                  <a:pt x="10537" y="5728"/>
                  <a:pt x="10633" y="5728"/>
                </a:cubicBezTo>
                <a:lnTo>
                  <a:pt x="10811" y="5728"/>
                </a:lnTo>
                <a:lnTo>
                  <a:pt x="10811" y="10276"/>
                </a:lnTo>
                <a:cubicBezTo>
                  <a:pt x="10811" y="10573"/>
                  <a:pt x="10573" y="10812"/>
                  <a:pt x="10275" y="10812"/>
                </a:cubicBezTo>
                <a:lnTo>
                  <a:pt x="5739" y="10812"/>
                </a:lnTo>
                <a:lnTo>
                  <a:pt x="5739" y="9049"/>
                </a:lnTo>
                <a:cubicBezTo>
                  <a:pt x="5739" y="8764"/>
                  <a:pt x="5513" y="8549"/>
                  <a:pt x="5227" y="8549"/>
                </a:cubicBezTo>
                <a:lnTo>
                  <a:pt x="4882" y="8549"/>
                </a:lnTo>
                <a:cubicBezTo>
                  <a:pt x="4680" y="8549"/>
                  <a:pt x="4489" y="8633"/>
                  <a:pt x="4370" y="8788"/>
                </a:cubicBezTo>
                <a:cubicBezTo>
                  <a:pt x="4215" y="8966"/>
                  <a:pt x="3989" y="9061"/>
                  <a:pt x="3751" y="9061"/>
                </a:cubicBezTo>
                <a:cubicBezTo>
                  <a:pt x="3513" y="9061"/>
                  <a:pt x="3287" y="8966"/>
                  <a:pt x="3144" y="8764"/>
                </a:cubicBezTo>
                <a:cubicBezTo>
                  <a:pt x="2989" y="8573"/>
                  <a:pt x="2941" y="8335"/>
                  <a:pt x="2977" y="8097"/>
                </a:cubicBezTo>
                <a:cubicBezTo>
                  <a:pt x="3036" y="7787"/>
                  <a:pt x="3287" y="7549"/>
                  <a:pt x="3608" y="7490"/>
                </a:cubicBezTo>
                <a:cubicBezTo>
                  <a:pt x="3659" y="7479"/>
                  <a:pt x="3710" y="7473"/>
                  <a:pt x="3761" y="7473"/>
                </a:cubicBezTo>
                <a:cubicBezTo>
                  <a:pt x="3988" y="7473"/>
                  <a:pt x="4212" y="7577"/>
                  <a:pt x="4358" y="7752"/>
                </a:cubicBezTo>
                <a:cubicBezTo>
                  <a:pt x="4501" y="7906"/>
                  <a:pt x="4680" y="7990"/>
                  <a:pt x="4882" y="7990"/>
                </a:cubicBezTo>
                <a:lnTo>
                  <a:pt x="5239" y="7990"/>
                </a:lnTo>
                <a:cubicBezTo>
                  <a:pt x="5525" y="7990"/>
                  <a:pt x="5751" y="7775"/>
                  <a:pt x="5751" y="7490"/>
                </a:cubicBezTo>
                <a:lnTo>
                  <a:pt x="5751" y="5728"/>
                </a:lnTo>
                <a:lnTo>
                  <a:pt x="7501" y="5728"/>
                </a:lnTo>
                <a:cubicBezTo>
                  <a:pt x="7608" y="5728"/>
                  <a:pt x="7680" y="5823"/>
                  <a:pt x="7680" y="5906"/>
                </a:cubicBezTo>
                <a:lnTo>
                  <a:pt x="7680" y="6263"/>
                </a:lnTo>
                <a:cubicBezTo>
                  <a:pt x="7680" y="6371"/>
                  <a:pt x="7632" y="6478"/>
                  <a:pt x="7561" y="6537"/>
                </a:cubicBezTo>
                <a:cubicBezTo>
                  <a:pt x="7251" y="6799"/>
                  <a:pt x="7097" y="7204"/>
                  <a:pt x="7192" y="7609"/>
                </a:cubicBezTo>
                <a:cubicBezTo>
                  <a:pt x="7263" y="8037"/>
                  <a:pt x="7620" y="8395"/>
                  <a:pt x="8049" y="8490"/>
                </a:cubicBezTo>
                <a:cubicBezTo>
                  <a:pt x="8132" y="8502"/>
                  <a:pt x="8216" y="8514"/>
                  <a:pt x="8287" y="8514"/>
                </a:cubicBezTo>
                <a:cubicBezTo>
                  <a:pt x="8549" y="8514"/>
                  <a:pt x="8799" y="8418"/>
                  <a:pt x="9002" y="8264"/>
                </a:cubicBezTo>
                <a:cubicBezTo>
                  <a:pt x="9275" y="8049"/>
                  <a:pt x="9418" y="7728"/>
                  <a:pt x="9418" y="7394"/>
                </a:cubicBezTo>
                <a:cubicBezTo>
                  <a:pt x="9418" y="7061"/>
                  <a:pt x="9275" y="6740"/>
                  <a:pt x="9025" y="6537"/>
                </a:cubicBezTo>
                <a:cubicBezTo>
                  <a:pt x="8942" y="6478"/>
                  <a:pt x="8906" y="6371"/>
                  <a:pt x="8906" y="6263"/>
                </a:cubicBezTo>
                <a:lnTo>
                  <a:pt x="8906" y="5930"/>
                </a:lnTo>
                <a:cubicBezTo>
                  <a:pt x="8906" y="5823"/>
                  <a:pt x="8990" y="5751"/>
                  <a:pt x="9085" y="5751"/>
                </a:cubicBezTo>
                <a:lnTo>
                  <a:pt x="9954" y="5751"/>
                </a:lnTo>
                <a:cubicBezTo>
                  <a:pt x="10049" y="5751"/>
                  <a:pt x="10121" y="5668"/>
                  <a:pt x="10121" y="5585"/>
                </a:cubicBezTo>
                <a:cubicBezTo>
                  <a:pt x="10121" y="5489"/>
                  <a:pt x="10049" y="5418"/>
                  <a:pt x="9954" y="5418"/>
                </a:cubicBezTo>
                <a:lnTo>
                  <a:pt x="9085" y="5418"/>
                </a:lnTo>
                <a:cubicBezTo>
                  <a:pt x="8799" y="5418"/>
                  <a:pt x="8573" y="5644"/>
                  <a:pt x="8573" y="5918"/>
                </a:cubicBezTo>
                <a:lnTo>
                  <a:pt x="8573" y="6263"/>
                </a:lnTo>
                <a:cubicBezTo>
                  <a:pt x="8573" y="6478"/>
                  <a:pt x="8668" y="6668"/>
                  <a:pt x="8811" y="6787"/>
                </a:cubicBezTo>
                <a:cubicBezTo>
                  <a:pt x="8990" y="6930"/>
                  <a:pt x="9097" y="7156"/>
                  <a:pt x="9097" y="7394"/>
                </a:cubicBezTo>
                <a:cubicBezTo>
                  <a:pt x="9097" y="7633"/>
                  <a:pt x="8990" y="7859"/>
                  <a:pt x="8799" y="8014"/>
                </a:cubicBezTo>
                <a:cubicBezTo>
                  <a:pt x="8652" y="8124"/>
                  <a:pt x="8477" y="8185"/>
                  <a:pt x="8295" y="8185"/>
                </a:cubicBezTo>
                <a:cubicBezTo>
                  <a:pt x="8241" y="8185"/>
                  <a:pt x="8187" y="8179"/>
                  <a:pt x="8132" y="8168"/>
                </a:cubicBezTo>
                <a:cubicBezTo>
                  <a:pt x="7811" y="8109"/>
                  <a:pt x="7573" y="7859"/>
                  <a:pt x="7513" y="7549"/>
                </a:cubicBezTo>
                <a:cubicBezTo>
                  <a:pt x="7454" y="7264"/>
                  <a:pt x="7561" y="6966"/>
                  <a:pt x="7787" y="6787"/>
                </a:cubicBezTo>
                <a:cubicBezTo>
                  <a:pt x="7930" y="6656"/>
                  <a:pt x="8025" y="6478"/>
                  <a:pt x="8025" y="6263"/>
                </a:cubicBezTo>
                <a:lnTo>
                  <a:pt x="8025" y="5930"/>
                </a:lnTo>
                <a:cubicBezTo>
                  <a:pt x="8025" y="5644"/>
                  <a:pt x="7799" y="5418"/>
                  <a:pt x="7525" y="5418"/>
                </a:cubicBezTo>
                <a:lnTo>
                  <a:pt x="5763" y="5418"/>
                </a:lnTo>
                <a:lnTo>
                  <a:pt x="5763" y="3668"/>
                </a:lnTo>
                <a:cubicBezTo>
                  <a:pt x="5763" y="3561"/>
                  <a:pt x="5858" y="3489"/>
                  <a:pt x="5942" y="3489"/>
                </a:cubicBezTo>
                <a:lnTo>
                  <a:pt x="6299" y="3489"/>
                </a:lnTo>
                <a:cubicBezTo>
                  <a:pt x="6406" y="3489"/>
                  <a:pt x="6501" y="3525"/>
                  <a:pt x="6561" y="3608"/>
                </a:cubicBezTo>
                <a:cubicBezTo>
                  <a:pt x="6783" y="3859"/>
                  <a:pt x="7091" y="4001"/>
                  <a:pt x="7409" y="4001"/>
                </a:cubicBezTo>
                <a:cubicBezTo>
                  <a:pt x="7483" y="4001"/>
                  <a:pt x="7558" y="3993"/>
                  <a:pt x="7632" y="3977"/>
                </a:cubicBezTo>
                <a:cubicBezTo>
                  <a:pt x="8073" y="3906"/>
                  <a:pt x="8430" y="3549"/>
                  <a:pt x="8513" y="3108"/>
                </a:cubicBezTo>
                <a:cubicBezTo>
                  <a:pt x="8585" y="2775"/>
                  <a:pt x="8501" y="2430"/>
                  <a:pt x="8287" y="2156"/>
                </a:cubicBezTo>
                <a:cubicBezTo>
                  <a:pt x="8085" y="1894"/>
                  <a:pt x="7751" y="1739"/>
                  <a:pt x="7430" y="1739"/>
                </a:cubicBezTo>
                <a:cubicBezTo>
                  <a:pt x="7085" y="1739"/>
                  <a:pt x="6775" y="1894"/>
                  <a:pt x="6561" y="2144"/>
                </a:cubicBezTo>
                <a:cubicBezTo>
                  <a:pt x="6501" y="2215"/>
                  <a:pt x="6406" y="2263"/>
                  <a:pt x="6299" y="2263"/>
                </a:cubicBezTo>
                <a:lnTo>
                  <a:pt x="5954" y="2263"/>
                </a:lnTo>
                <a:cubicBezTo>
                  <a:pt x="5846" y="2263"/>
                  <a:pt x="5775" y="2180"/>
                  <a:pt x="5775" y="2084"/>
                </a:cubicBezTo>
                <a:lnTo>
                  <a:pt x="5775" y="1203"/>
                </a:lnTo>
                <a:cubicBezTo>
                  <a:pt x="5775" y="1120"/>
                  <a:pt x="5703" y="1048"/>
                  <a:pt x="5608" y="1048"/>
                </a:cubicBezTo>
                <a:cubicBezTo>
                  <a:pt x="5525" y="1048"/>
                  <a:pt x="5453" y="1120"/>
                  <a:pt x="5453" y="1203"/>
                </a:cubicBezTo>
                <a:lnTo>
                  <a:pt x="5453" y="2084"/>
                </a:lnTo>
                <a:cubicBezTo>
                  <a:pt x="5453" y="2370"/>
                  <a:pt x="5668" y="2596"/>
                  <a:pt x="5954" y="2596"/>
                </a:cubicBezTo>
                <a:lnTo>
                  <a:pt x="6299" y="2596"/>
                </a:lnTo>
                <a:cubicBezTo>
                  <a:pt x="6501" y="2596"/>
                  <a:pt x="6704" y="2501"/>
                  <a:pt x="6823" y="2358"/>
                </a:cubicBezTo>
                <a:cubicBezTo>
                  <a:pt x="6966" y="2180"/>
                  <a:pt x="7192" y="2072"/>
                  <a:pt x="7430" y="2072"/>
                </a:cubicBezTo>
                <a:cubicBezTo>
                  <a:pt x="7668" y="2072"/>
                  <a:pt x="7894" y="2180"/>
                  <a:pt x="8037" y="2370"/>
                </a:cubicBezTo>
                <a:cubicBezTo>
                  <a:pt x="8192" y="2561"/>
                  <a:pt x="8251" y="2799"/>
                  <a:pt x="8204" y="3037"/>
                </a:cubicBezTo>
                <a:cubicBezTo>
                  <a:pt x="8144" y="3346"/>
                  <a:pt x="7894" y="3584"/>
                  <a:pt x="7573" y="3644"/>
                </a:cubicBezTo>
                <a:cubicBezTo>
                  <a:pt x="7519" y="3656"/>
                  <a:pt x="7465" y="3661"/>
                  <a:pt x="7411" y="3661"/>
                </a:cubicBezTo>
                <a:cubicBezTo>
                  <a:pt x="7187" y="3661"/>
                  <a:pt x="6966" y="3564"/>
                  <a:pt x="6823" y="3382"/>
                </a:cubicBezTo>
                <a:cubicBezTo>
                  <a:pt x="6680" y="3227"/>
                  <a:pt x="6501" y="3144"/>
                  <a:pt x="6299" y="3144"/>
                </a:cubicBezTo>
                <a:lnTo>
                  <a:pt x="5942" y="3144"/>
                </a:lnTo>
                <a:cubicBezTo>
                  <a:pt x="5656" y="3144"/>
                  <a:pt x="5430" y="3370"/>
                  <a:pt x="5430" y="3644"/>
                </a:cubicBezTo>
                <a:lnTo>
                  <a:pt x="5430" y="5406"/>
                </a:lnTo>
                <a:lnTo>
                  <a:pt x="3679" y="5406"/>
                </a:lnTo>
                <a:cubicBezTo>
                  <a:pt x="3572" y="5406"/>
                  <a:pt x="3501" y="5311"/>
                  <a:pt x="3501" y="5228"/>
                </a:cubicBezTo>
                <a:lnTo>
                  <a:pt x="3501" y="4870"/>
                </a:lnTo>
                <a:cubicBezTo>
                  <a:pt x="3501" y="4763"/>
                  <a:pt x="3548" y="4656"/>
                  <a:pt x="3620" y="4597"/>
                </a:cubicBezTo>
                <a:cubicBezTo>
                  <a:pt x="3929" y="4335"/>
                  <a:pt x="4084" y="3930"/>
                  <a:pt x="3989" y="3525"/>
                </a:cubicBezTo>
                <a:cubicBezTo>
                  <a:pt x="3918" y="3096"/>
                  <a:pt x="3560" y="2739"/>
                  <a:pt x="3132" y="2656"/>
                </a:cubicBezTo>
                <a:cubicBezTo>
                  <a:pt x="3047" y="2635"/>
                  <a:pt x="2962" y="2626"/>
                  <a:pt x="2879" y="2626"/>
                </a:cubicBezTo>
                <a:cubicBezTo>
                  <a:pt x="2622" y="2626"/>
                  <a:pt x="2377" y="2717"/>
                  <a:pt x="2179" y="2870"/>
                </a:cubicBezTo>
                <a:cubicBezTo>
                  <a:pt x="1905" y="3084"/>
                  <a:pt x="1763" y="3406"/>
                  <a:pt x="1763" y="3739"/>
                </a:cubicBezTo>
                <a:cubicBezTo>
                  <a:pt x="1763" y="4085"/>
                  <a:pt x="1905" y="4394"/>
                  <a:pt x="2155" y="4597"/>
                </a:cubicBezTo>
                <a:cubicBezTo>
                  <a:pt x="2239" y="4656"/>
                  <a:pt x="2274" y="4763"/>
                  <a:pt x="2274" y="4870"/>
                </a:cubicBezTo>
                <a:lnTo>
                  <a:pt x="2274" y="5216"/>
                </a:lnTo>
                <a:cubicBezTo>
                  <a:pt x="2274" y="5311"/>
                  <a:pt x="2191" y="5394"/>
                  <a:pt x="2096" y="5394"/>
                </a:cubicBezTo>
                <a:lnTo>
                  <a:pt x="346" y="5394"/>
                </a:lnTo>
                <a:lnTo>
                  <a:pt x="346" y="870"/>
                </a:lnTo>
                <a:cubicBezTo>
                  <a:pt x="346" y="572"/>
                  <a:pt x="584" y="334"/>
                  <a:pt x="881" y="334"/>
                </a:cubicBezTo>
                <a:lnTo>
                  <a:pt x="5418" y="334"/>
                </a:lnTo>
                <a:lnTo>
                  <a:pt x="5418" y="513"/>
                </a:lnTo>
                <a:cubicBezTo>
                  <a:pt x="5418" y="596"/>
                  <a:pt x="5489" y="667"/>
                  <a:pt x="5584" y="667"/>
                </a:cubicBezTo>
                <a:cubicBezTo>
                  <a:pt x="5680" y="667"/>
                  <a:pt x="5751" y="596"/>
                  <a:pt x="5751" y="513"/>
                </a:cubicBezTo>
                <a:lnTo>
                  <a:pt x="5751" y="334"/>
                </a:lnTo>
                <a:close/>
                <a:moveTo>
                  <a:pt x="870" y="1"/>
                </a:moveTo>
                <a:cubicBezTo>
                  <a:pt x="393" y="1"/>
                  <a:pt x="0" y="394"/>
                  <a:pt x="0" y="870"/>
                </a:cubicBezTo>
                <a:lnTo>
                  <a:pt x="0" y="10276"/>
                </a:lnTo>
                <a:cubicBezTo>
                  <a:pt x="0" y="10752"/>
                  <a:pt x="393" y="11133"/>
                  <a:pt x="870" y="11133"/>
                </a:cubicBezTo>
                <a:lnTo>
                  <a:pt x="10275" y="11133"/>
                </a:lnTo>
                <a:cubicBezTo>
                  <a:pt x="10752" y="11133"/>
                  <a:pt x="11133" y="10752"/>
                  <a:pt x="11133" y="10276"/>
                </a:cubicBezTo>
                <a:lnTo>
                  <a:pt x="11133" y="870"/>
                </a:lnTo>
                <a:cubicBezTo>
                  <a:pt x="11133" y="394"/>
                  <a:pt x="10752" y="1"/>
                  <a:pt x="10275"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
          <p:cNvSpPr txBox="1"/>
          <p:nvPr/>
        </p:nvSpPr>
        <p:spPr>
          <a:xfrm>
            <a:off x="1023815" y="3407496"/>
            <a:ext cx="3221860" cy="10926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300" u="none" cap="none" strike="noStrike">
                <a:solidFill>
                  <a:srgbClr val="000000"/>
                </a:solidFill>
                <a:latin typeface="Livvic"/>
                <a:ea typeface="Livvic"/>
                <a:cs typeface="Livvic"/>
                <a:sym typeface="Livvic"/>
              </a:rPr>
              <a:t>Identificar patrones de comportamiento de compra que permitan tomar decisiones de retención y fidelización basadas en evidencia, en lugar de tratar a todos los clientes de la misma forma.</a:t>
            </a:r>
            <a:endParaRPr b="0" i="0" sz="1300" u="none" cap="none" strike="noStrike">
              <a:solidFill>
                <a:srgbClr val="000000"/>
              </a:solidFill>
              <a:latin typeface="Livvic"/>
              <a:ea typeface="Livvic"/>
              <a:cs typeface="Livvic"/>
              <a:sym typeface="Livvic"/>
            </a:endParaRPr>
          </a:p>
        </p:txBody>
      </p:sp>
      <p:sp>
        <p:nvSpPr>
          <p:cNvPr id="164" name="Google Shape;164;p2"/>
          <p:cNvSpPr txBox="1"/>
          <p:nvPr/>
        </p:nvSpPr>
        <p:spPr>
          <a:xfrm>
            <a:off x="4362705" y="3506976"/>
            <a:ext cx="4513451" cy="892552"/>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300" u="none" cap="none" strike="noStrike">
                <a:solidFill>
                  <a:srgbClr val="11384D"/>
                </a:solidFill>
                <a:latin typeface="Livvic"/>
                <a:ea typeface="Livvic"/>
                <a:cs typeface="Livvic"/>
                <a:sym typeface="Livvic"/>
              </a:rPr>
              <a:t>Esperábamos descubrir: que variables (frecuencia, monto, región, canal) explican mejor el valor de un cliente, para poder priorizar recursos comerciales de forma más eficiente.</a:t>
            </a:r>
            <a:endParaRPr b="0" i="0" sz="1300" u="none" cap="none" strike="noStrike">
              <a:solidFill>
                <a:srgbClr val="11384D"/>
              </a:solidFill>
              <a:latin typeface="Livvic"/>
              <a:ea typeface="Livvic"/>
              <a:cs typeface="Livvic"/>
              <a:sym typeface="Livvic"/>
            </a:endParaRPr>
          </a:p>
        </p:txBody>
      </p:sp>
      <p:sp>
        <p:nvSpPr>
          <p:cNvPr id="165" name="Google Shape;165;p2"/>
          <p:cNvSpPr/>
          <p:nvPr/>
        </p:nvSpPr>
        <p:spPr>
          <a:xfrm>
            <a:off x="5411986" y="1672504"/>
            <a:ext cx="1369200" cy="393600"/>
          </a:xfrm>
          <a:prstGeom prst="rect">
            <a:avLst/>
          </a:prstGeom>
          <a:noFill/>
          <a:ln cap="flat" cmpd="sng" w="9525">
            <a:solidFill>
              <a:schemeClr val="dk1"/>
            </a:solidFill>
            <a:prstDash val="solid"/>
            <a:round/>
            <a:headEnd len="sm" w="sm" type="none"/>
            <a:tailEnd len="sm" w="sm" type="none"/>
          </a:ln>
        </p:spPr>
        <p:txBody>
          <a:bodyPr anchorCtr="0" anchor="ctr" bIns="90000" lIns="91425" spcFirstLastPara="1" rIns="91425" wrap="square" tIns="90000">
            <a:noAutofit/>
          </a:bodyPr>
          <a:lstStyle/>
          <a:p>
            <a:pPr indent="0" lvl="0" marL="0" marR="0" rtl="0" algn="ctr">
              <a:lnSpc>
                <a:spcPct val="100000"/>
              </a:lnSpc>
              <a:spcBef>
                <a:spcPts val="0"/>
              </a:spcBef>
              <a:spcAft>
                <a:spcPts val="0"/>
              </a:spcAft>
              <a:buClr>
                <a:srgbClr val="FFFFFF"/>
              </a:buClr>
              <a:buSzPts val="1600"/>
              <a:buFont typeface="Arial"/>
              <a:buNone/>
            </a:pPr>
            <a:r>
              <a:rPr b="0" i="0" lang="en-US" sz="1200" u="none" cap="none" strike="noStrike">
                <a:solidFill>
                  <a:schemeClr val="dk1"/>
                </a:solidFill>
                <a:latin typeface="Poppins SemiBold"/>
                <a:ea typeface="Poppins SemiBold"/>
                <a:cs typeface="Poppins SemiBold"/>
                <a:sym typeface="Poppins SemiBold"/>
              </a:rPr>
              <a:t>Clientes</a:t>
            </a:r>
            <a:endParaRPr b="0" i="0" sz="1200" u="none" cap="none" strike="noStrike">
              <a:solidFill>
                <a:schemeClr val="dk1"/>
              </a:solidFill>
              <a:latin typeface="Poppins SemiBold"/>
              <a:ea typeface="Poppins SemiBold"/>
              <a:cs typeface="Poppins SemiBold"/>
              <a:sym typeface="Poppins SemiBold"/>
            </a:endParaRPr>
          </a:p>
        </p:txBody>
      </p:sp>
      <p:sp>
        <p:nvSpPr>
          <p:cNvPr id="166" name="Google Shape;166;p2"/>
          <p:cNvSpPr/>
          <p:nvPr/>
        </p:nvSpPr>
        <p:spPr>
          <a:xfrm>
            <a:off x="6786187" y="1672504"/>
            <a:ext cx="991500" cy="393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0000" lIns="91425" spcFirstLastPara="1" rIns="91425" wrap="square" tIns="90000">
            <a:noAutofit/>
          </a:bodyPr>
          <a:lstStyle/>
          <a:p>
            <a:pPr indent="0" lvl="0" marL="0" marR="0" rtl="0" algn="ctr">
              <a:lnSpc>
                <a:spcPct val="100000"/>
              </a:lnSpc>
              <a:spcBef>
                <a:spcPts val="0"/>
              </a:spcBef>
              <a:spcAft>
                <a:spcPts val="0"/>
              </a:spcAft>
              <a:buClr>
                <a:srgbClr val="FFFFFF"/>
              </a:buClr>
              <a:buSzPts val="1600"/>
              <a:buFont typeface="Arial"/>
              <a:buNone/>
            </a:pPr>
            <a:r>
              <a:rPr b="0" i="0" lang="en-US" sz="1600" u="none" cap="none" strike="noStrike">
                <a:solidFill>
                  <a:schemeClr val="dk1"/>
                </a:solidFill>
                <a:latin typeface="Poppins SemiBold"/>
                <a:ea typeface="Poppins SemiBold"/>
                <a:cs typeface="Poppins SemiBold"/>
                <a:sym typeface="Poppins SemiBold"/>
              </a:rPr>
              <a:t>300</a:t>
            </a:r>
            <a:endParaRPr b="0" i="0" sz="1600" u="none" cap="none" strike="noStrike">
              <a:solidFill>
                <a:schemeClr val="dk1"/>
              </a:solidFill>
              <a:latin typeface="Poppins SemiBold"/>
              <a:ea typeface="Poppins SemiBold"/>
              <a:cs typeface="Poppins SemiBold"/>
              <a:sym typeface="Poppins SemiBold"/>
            </a:endParaRPr>
          </a:p>
        </p:txBody>
      </p:sp>
      <p:sp>
        <p:nvSpPr>
          <p:cNvPr id="167" name="Google Shape;167;p2"/>
          <p:cNvSpPr/>
          <p:nvPr/>
        </p:nvSpPr>
        <p:spPr>
          <a:xfrm>
            <a:off x="5406985" y="2211431"/>
            <a:ext cx="1369200" cy="393600"/>
          </a:xfrm>
          <a:prstGeom prst="rect">
            <a:avLst/>
          </a:prstGeom>
          <a:noFill/>
          <a:ln cap="flat" cmpd="sng" w="9525">
            <a:solidFill>
              <a:schemeClr val="dk1"/>
            </a:solidFill>
            <a:prstDash val="solid"/>
            <a:round/>
            <a:headEnd len="sm" w="sm" type="none"/>
            <a:tailEnd len="sm" w="sm" type="none"/>
          </a:ln>
        </p:spPr>
        <p:txBody>
          <a:bodyPr anchorCtr="0" anchor="ctr" bIns="90000" lIns="91425" spcFirstLastPara="1" rIns="91425" wrap="square" tIns="90000">
            <a:noAutofit/>
          </a:bodyPr>
          <a:lstStyle/>
          <a:p>
            <a:pPr indent="0" lvl="0" marL="0" marR="0" rtl="0" algn="ctr">
              <a:lnSpc>
                <a:spcPct val="100000"/>
              </a:lnSpc>
              <a:spcBef>
                <a:spcPts val="0"/>
              </a:spcBef>
              <a:spcAft>
                <a:spcPts val="0"/>
              </a:spcAft>
              <a:buClr>
                <a:srgbClr val="FFFFFF"/>
              </a:buClr>
              <a:buSzPts val="1600"/>
              <a:buFont typeface="Arial"/>
              <a:buNone/>
            </a:pPr>
            <a:r>
              <a:rPr b="0" i="0" lang="en-US" sz="1200" u="none" cap="none" strike="noStrike">
                <a:solidFill>
                  <a:schemeClr val="dk1"/>
                </a:solidFill>
                <a:latin typeface="Poppins SemiBold"/>
                <a:ea typeface="Poppins SemiBold"/>
                <a:cs typeface="Poppins SemiBold"/>
                <a:sym typeface="Poppins SemiBold"/>
              </a:rPr>
              <a:t>Ventas totales</a:t>
            </a:r>
            <a:endParaRPr b="0" i="0" sz="1200" u="none" cap="none" strike="noStrike">
              <a:solidFill>
                <a:schemeClr val="dk1"/>
              </a:solidFill>
              <a:latin typeface="Poppins SemiBold"/>
              <a:ea typeface="Poppins SemiBold"/>
              <a:cs typeface="Poppins SemiBold"/>
              <a:sym typeface="Poppins SemiBold"/>
            </a:endParaRPr>
          </a:p>
        </p:txBody>
      </p:sp>
      <p:sp>
        <p:nvSpPr>
          <p:cNvPr id="168" name="Google Shape;168;p2"/>
          <p:cNvSpPr/>
          <p:nvPr/>
        </p:nvSpPr>
        <p:spPr>
          <a:xfrm>
            <a:off x="6781186" y="2211431"/>
            <a:ext cx="991500" cy="393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0000" lIns="91425" spcFirstLastPara="1" rIns="91425" wrap="square" tIns="90000">
            <a:noAutofit/>
          </a:bodyPr>
          <a:lstStyle/>
          <a:p>
            <a:pPr indent="0" lvl="0" marL="0" marR="0" rtl="0" algn="ctr">
              <a:lnSpc>
                <a:spcPct val="100000"/>
              </a:lnSpc>
              <a:spcBef>
                <a:spcPts val="0"/>
              </a:spcBef>
              <a:spcAft>
                <a:spcPts val="0"/>
              </a:spcAft>
              <a:buClr>
                <a:srgbClr val="FFFFFF"/>
              </a:buClr>
              <a:buSzPts val="1600"/>
              <a:buFont typeface="Arial"/>
              <a:buNone/>
            </a:pPr>
            <a:r>
              <a:rPr b="0" i="0" lang="en-US" sz="1600" u="none" cap="none" strike="noStrike">
                <a:solidFill>
                  <a:schemeClr val="dk1"/>
                </a:solidFill>
                <a:latin typeface="Poppins SemiBold"/>
                <a:ea typeface="Poppins SemiBold"/>
                <a:cs typeface="Poppins SemiBold"/>
                <a:sym typeface="Poppins SemiBold"/>
              </a:rPr>
              <a:t>$5,75M</a:t>
            </a:r>
            <a:endParaRPr b="0" i="0" sz="1600" u="none" cap="none" strike="noStrike">
              <a:solidFill>
                <a:schemeClr val="dk1"/>
              </a:solidFill>
              <a:latin typeface="Poppins SemiBold"/>
              <a:ea typeface="Poppins SemiBold"/>
              <a:cs typeface="Poppins SemiBold"/>
              <a:sym typeface="Poppins SemiBold"/>
            </a:endParaRPr>
          </a:p>
        </p:txBody>
      </p:sp>
      <p:sp>
        <p:nvSpPr>
          <p:cNvPr id="169" name="Google Shape;169;p2"/>
          <p:cNvSpPr/>
          <p:nvPr/>
        </p:nvSpPr>
        <p:spPr>
          <a:xfrm>
            <a:off x="5411986" y="2750357"/>
            <a:ext cx="1369200" cy="618063"/>
          </a:xfrm>
          <a:prstGeom prst="rect">
            <a:avLst/>
          </a:prstGeom>
          <a:noFill/>
          <a:ln cap="flat" cmpd="sng" w="9525">
            <a:solidFill>
              <a:schemeClr val="dk1"/>
            </a:solidFill>
            <a:prstDash val="solid"/>
            <a:round/>
            <a:headEnd len="sm" w="sm" type="none"/>
            <a:tailEnd len="sm" w="sm" type="none"/>
          </a:ln>
        </p:spPr>
        <p:txBody>
          <a:bodyPr anchorCtr="0" anchor="ctr" bIns="90000" lIns="91425" spcFirstLastPara="1" rIns="91425" wrap="square" tIns="90000">
            <a:noAutofit/>
          </a:bodyPr>
          <a:lstStyle/>
          <a:p>
            <a:pPr indent="0" lvl="0" marL="0" marR="0" rtl="0" algn="ctr">
              <a:lnSpc>
                <a:spcPct val="100000"/>
              </a:lnSpc>
              <a:spcBef>
                <a:spcPts val="0"/>
              </a:spcBef>
              <a:spcAft>
                <a:spcPts val="0"/>
              </a:spcAft>
              <a:buClr>
                <a:srgbClr val="FFFFFF"/>
              </a:buClr>
              <a:buSzPts val="1600"/>
              <a:buFont typeface="Arial"/>
              <a:buNone/>
            </a:pPr>
            <a:r>
              <a:rPr b="0" i="0" lang="en-US" sz="1200" u="none" cap="none" strike="noStrike">
                <a:solidFill>
                  <a:schemeClr val="dk1"/>
                </a:solidFill>
                <a:latin typeface="Poppins SemiBold"/>
                <a:ea typeface="Poppins SemiBold"/>
                <a:cs typeface="Poppins SemiBold"/>
                <a:sym typeface="Poppins SemiBold"/>
              </a:rPr>
              <a:t>Clientes que nunca compraron</a:t>
            </a:r>
            <a:endParaRPr b="0" i="0" sz="1200" u="none" cap="none" strike="noStrike">
              <a:solidFill>
                <a:schemeClr val="dk1"/>
              </a:solidFill>
              <a:latin typeface="Poppins SemiBold"/>
              <a:ea typeface="Poppins SemiBold"/>
              <a:cs typeface="Poppins SemiBold"/>
              <a:sym typeface="Poppins SemiBold"/>
            </a:endParaRPr>
          </a:p>
        </p:txBody>
      </p:sp>
      <p:sp>
        <p:nvSpPr>
          <p:cNvPr id="170" name="Google Shape;170;p2"/>
          <p:cNvSpPr/>
          <p:nvPr/>
        </p:nvSpPr>
        <p:spPr>
          <a:xfrm>
            <a:off x="6786187" y="2750358"/>
            <a:ext cx="991500" cy="618062"/>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0000" lIns="91425" spcFirstLastPara="1" rIns="91425" wrap="square" tIns="90000">
            <a:noAutofit/>
          </a:bodyPr>
          <a:lstStyle/>
          <a:p>
            <a:pPr indent="0" lvl="0" marL="0" marR="0" rtl="0" algn="ctr">
              <a:lnSpc>
                <a:spcPct val="100000"/>
              </a:lnSpc>
              <a:spcBef>
                <a:spcPts val="0"/>
              </a:spcBef>
              <a:spcAft>
                <a:spcPts val="0"/>
              </a:spcAft>
              <a:buClr>
                <a:srgbClr val="FFFFFF"/>
              </a:buClr>
              <a:buSzPts val="1600"/>
              <a:buFont typeface="Arial"/>
              <a:buNone/>
            </a:pPr>
            <a:r>
              <a:rPr b="0" i="0" lang="en-US" sz="1600" u="none" cap="none" strike="noStrike">
                <a:solidFill>
                  <a:schemeClr val="dk1"/>
                </a:solidFill>
                <a:latin typeface="Poppins SemiBold"/>
                <a:ea typeface="Poppins SemiBold"/>
                <a:cs typeface="Poppins SemiBold"/>
                <a:sym typeface="Poppins SemiBold"/>
              </a:rPr>
              <a:t>3,7%</a:t>
            </a:r>
            <a:endParaRPr b="0" i="0" sz="1600" u="none" cap="none" strike="noStrike">
              <a:solidFill>
                <a:schemeClr val="dk1"/>
              </a:solidFill>
              <a:latin typeface="Poppins SemiBold"/>
              <a:ea typeface="Poppins SemiBold"/>
              <a:cs typeface="Poppins SemiBold"/>
              <a:sym typeface="Poppins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
          <p:cNvSpPr/>
          <p:nvPr/>
        </p:nvSpPr>
        <p:spPr>
          <a:xfrm>
            <a:off x="1008977" y="801600"/>
            <a:ext cx="2596200" cy="3540300"/>
          </a:xfrm>
          <a:prstGeom prst="round2SameRect">
            <a:avLst>
              <a:gd fmla="val 50000" name="adj1"/>
              <a:gd fmla="val 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
          <p:cNvSpPr txBox="1"/>
          <p:nvPr>
            <p:ph type="title"/>
          </p:nvPr>
        </p:nvSpPr>
        <p:spPr>
          <a:xfrm>
            <a:off x="4055288" y="1672681"/>
            <a:ext cx="4166878" cy="2074829"/>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Construcción del dataset analítico</a:t>
            </a:r>
            <a:endParaRPr/>
          </a:p>
        </p:txBody>
      </p:sp>
      <p:sp>
        <p:nvSpPr>
          <p:cNvPr id="177" name="Google Shape;177;p3"/>
          <p:cNvSpPr txBox="1"/>
          <p:nvPr>
            <p:ph idx="2" type="title"/>
          </p:nvPr>
        </p:nvSpPr>
        <p:spPr>
          <a:xfrm>
            <a:off x="4193967" y="820218"/>
            <a:ext cx="876122" cy="798887"/>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00000"/>
              </a:lnSpc>
              <a:spcBef>
                <a:spcPts val="0"/>
              </a:spcBef>
              <a:spcAft>
                <a:spcPts val="0"/>
              </a:spcAft>
              <a:buSzPts val="10000"/>
              <a:buNone/>
            </a:pPr>
            <a:r>
              <a:rPr lang="en-US"/>
              <a:t>01</a:t>
            </a:r>
            <a:endParaRPr/>
          </a:p>
        </p:txBody>
      </p:sp>
      <p:sp>
        <p:nvSpPr>
          <p:cNvPr id="178" name="Google Shape;178;p3"/>
          <p:cNvSpPr txBox="1"/>
          <p:nvPr>
            <p:ph idx="1" type="subTitle"/>
          </p:nvPr>
        </p:nvSpPr>
        <p:spPr>
          <a:xfrm>
            <a:off x="4085025" y="3742125"/>
            <a:ext cx="40500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n-US"/>
              <a:t>Metodología y calidad de los datos</a:t>
            </a:r>
            <a:endParaRPr/>
          </a:p>
        </p:txBody>
      </p:sp>
      <p:sp>
        <p:nvSpPr>
          <p:cNvPr id="179" name="Google Shape;179;p3"/>
          <p:cNvSpPr/>
          <p:nvPr/>
        </p:nvSpPr>
        <p:spPr>
          <a:xfrm rot="-5400000">
            <a:off x="7763042" y="326808"/>
            <a:ext cx="878151" cy="224535"/>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922"/>
                </a:srgbClr>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
          <p:cNvSpPr/>
          <p:nvPr/>
        </p:nvSpPr>
        <p:spPr>
          <a:xfrm rot="-5400000">
            <a:off x="8410265" y="144464"/>
            <a:ext cx="878151" cy="589219"/>
          </a:xfrm>
          <a:custGeom>
            <a:rect b="b" l="l" r="r" t="t"/>
            <a:pathLst>
              <a:path extrusionOk="0" h="12463" w="47635">
                <a:moveTo>
                  <a:pt x="1" y="1"/>
                </a:moveTo>
                <a:lnTo>
                  <a:pt x="1" y="12463"/>
                </a:lnTo>
                <a:lnTo>
                  <a:pt x="47634" y="12463"/>
                </a:lnTo>
                <a:lnTo>
                  <a:pt x="47634" y="1"/>
                </a:lnTo>
                <a:close/>
              </a:path>
            </a:pathLst>
          </a:custGeom>
          <a:gradFill>
            <a:gsLst>
              <a:gs pos="0">
                <a:srgbClr val="FBF3ED">
                  <a:alpha val="30196"/>
                </a:srgbClr>
              </a:gs>
              <a:gs pos="100000">
                <a:srgbClr val="FBF3ED">
                  <a:alpha val="50196"/>
                </a:srgbClr>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3"/>
          <p:cNvSpPr/>
          <p:nvPr/>
        </p:nvSpPr>
        <p:spPr>
          <a:xfrm rot="-5400000">
            <a:off x="7995465" y="318918"/>
            <a:ext cx="878151" cy="240314"/>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137"/>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2" name="Google Shape;182;p3"/>
          <p:cNvPicPr preferRelativeResize="0"/>
          <p:nvPr/>
        </p:nvPicPr>
        <p:blipFill rotWithShape="1">
          <a:blip r:embed="rId3">
            <a:alphaModFix/>
          </a:blip>
          <a:srcRect b="0" l="0" r="0" t="0"/>
          <a:stretch/>
        </p:blipFill>
        <p:spPr>
          <a:xfrm>
            <a:off x="694457" y="1533626"/>
            <a:ext cx="3275456" cy="2352938"/>
          </a:xfrm>
          <a:prstGeom prst="rect">
            <a:avLst/>
          </a:prstGeom>
          <a:noFill/>
          <a:ln>
            <a:noFill/>
          </a:ln>
        </p:spPr>
      </p:pic>
      <p:cxnSp>
        <p:nvCxnSpPr>
          <p:cNvPr id="183" name="Google Shape;183;p3"/>
          <p:cNvCxnSpPr/>
          <p:nvPr/>
        </p:nvCxnSpPr>
        <p:spPr>
          <a:xfrm>
            <a:off x="1130531" y="1882732"/>
            <a:ext cx="127597" cy="0"/>
          </a:xfrm>
          <a:prstGeom prst="straightConnector1">
            <a:avLst/>
          </a:prstGeom>
          <a:noFill/>
          <a:ln cap="flat" cmpd="sng" w="9525">
            <a:solidFill>
              <a:srgbClr val="144965"/>
            </a:solidFill>
            <a:prstDash val="solid"/>
            <a:round/>
            <a:headEnd len="sm" w="sm" type="none"/>
            <a:tailEnd len="sm" w="sm" type="none"/>
          </a:ln>
        </p:spPr>
      </p:cxnSp>
      <p:cxnSp>
        <p:nvCxnSpPr>
          <p:cNvPr id="184" name="Google Shape;184;p3"/>
          <p:cNvCxnSpPr/>
          <p:nvPr/>
        </p:nvCxnSpPr>
        <p:spPr>
          <a:xfrm>
            <a:off x="1136073" y="1888273"/>
            <a:ext cx="0" cy="51363"/>
          </a:xfrm>
          <a:prstGeom prst="straightConnector1">
            <a:avLst/>
          </a:prstGeom>
          <a:noFill/>
          <a:ln cap="flat" cmpd="sng" w="9525">
            <a:solidFill>
              <a:srgbClr val="144965"/>
            </a:solidFill>
            <a:prstDash val="solid"/>
            <a:round/>
            <a:headEnd len="sm" w="sm" type="none"/>
            <a:tailEnd len="sm" w="sm" type="none"/>
          </a:ln>
        </p:spPr>
      </p:cxnSp>
      <p:cxnSp>
        <p:nvCxnSpPr>
          <p:cNvPr id="185" name="Google Shape;185;p3"/>
          <p:cNvCxnSpPr/>
          <p:nvPr/>
        </p:nvCxnSpPr>
        <p:spPr>
          <a:xfrm>
            <a:off x="1147157" y="1888273"/>
            <a:ext cx="0" cy="51363"/>
          </a:xfrm>
          <a:prstGeom prst="straightConnector1">
            <a:avLst/>
          </a:prstGeom>
          <a:noFill/>
          <a:ln cap="flat" cmpd="sng" w="9525">
            <a:solidFill>
              <a:srgbClr val="144965"/>
            </a:solidFill>
            <a:prstDash val="solid"/>
            <a:round/>
            <a:headEnd len="sm" w="sm" type="none"/>
            <a:tailEnd len="sm" w="sm" type="none"/>
          </a:ln>
        </p:spPr>
      </p:cxnSp>
      <p:cxnSp>
        <p:nvCxnSpPr>
          <p:cNvPr id="186" name="Google Shape;186;p3"/>
          <p:cNvCxnSpPr/>
          <p:nvPr/>
        </p:nvCxnSpPr>
        <p:spPr>
          <a:xfrm rot="10800000">
            <a:off x="1147157" y="1893815"/>
            <a:ext cx="110971" cy="0"/>
          </a:xfrm>
          <a:prstGeom prst="straightConnector1">
            <a:avLst/>
          </a:prstGeom>
          <a:noFill/>
          <a:ln cap="flat" cmpd="sng" w="9525">
            <a:solidFill>
              <a:srgbClr val="144965"/>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4"/>
          <p:cNvSpPr txBox="1"/>
          <p:nvPr>
            <p:ph type="title"/>
          </p:nvPr>
        </p:nvSpPr>
        <p:spPr>
          <a:xfrm>
            <a:off x="677470" y="554892"/>
            <a:ext cx="6567392" cy="679934"/>
          </a:xfrm>
          <a:prstGeom prst="rect">
            <a:avLst/>
          </a:prstGeom>
          <a:noFill/>
          <a:ln>
            <a:noFill/>
          </a:ln>
        </p:spPr>
        <p:txBody>
          <a:bodyPr anchorCtr="0" anchor="b" bIns="91425" lIns="91425" spcFirstLastPara="1" rIns="91425" wrap="square" tIns="91425">
            <a:noAutofit/>
          </a:bodyPr>
          <a:lstStyle/>
          <a:p>
            <a:pPr indent="0" lvl="0" marL="0" rtl="0" algn="just">
              <a:lnSpc>
                <a:spcPct val="100000"/>
              </a:lnSpc>
              <a:spcBef>
                <a:spcPts val="0"/>
              </a:spcBef>
              <a:spcAft>
                <a:spcPts val="0"/>
              </a:spcAft>
              <a:buSzPts val="2400"/>
              <a:buNone/>
            </a:pPr>
            <a:r>
              <a:rPr lang="en-US"/>
              <a:t>Exploración del dataset</a:t>
            </a:r>
            <a:endParaRPr/>
          </a:p>
        </p:txBody>
      </p:sp>
      <p:sp>
        <p:nvSpPr>
          <p:cNvPr id="192" name="Google Shape;192;p4"/>
          <p:cNvSpPr txBox="1"/>
          <p:nvPr>
            <p:ph idx="1" type="subTitle"/>
          </p:nvPr>
        </p:nvSpPr>
        <p:spPr>
          <a:xfrm>
            <a:off x="786885" y="1172305"/>
            <a:ext cx="7679645" cy="679934"/>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n-US"/>
              <a:t>Analizamos el comportamiento de compra de los usuarios, identificamos segmentos de clientes y evaluamos el desempeño comercial por región.</a:t>
            </a:r>
            <a:endParaRPr/>
          </a:p>
        </p:txBody>
      </p:sp>
      <p:grpSp>
        <p:nvGrpSpPr>
          <p:cNvPr id="193" name="Google Shape;193;p4"/>
          <p:cNvGrpSpPr/>
          <p:nvPr/>
        </p:nvGrpSpPr>
        <p:grpSpPr>
          <a:xfrm>
            <a:off x="533799" y="2093657"/>
            <a:ext cx="356591" cy="327371"/>
            <a:chOff x="533799" y="2094523"/>
            <a:chExt cx="356591" cy="327371"/>
          </a:xfrm>
        </p:grpSpPr>
        <p:sp>
          <p:nvSpPr>
            <p:cNvPr id="194" name="Google Shape;194;p4"/>
            <p:cNvSpPr/>
            <p:nvPr/>
          </p:nvSpPr>
          <p:spPr>
            <a:xfrm>
              <a:off x="533799" y="2094523"/>
              <a:ext cx="356591" cy="327371"/>
            </a:xfrm>
            <a:prstGeom prst="ellipse">
              <a:avLst/>
            </a:prstGeom>
            <a:solidFill>
              <a:srgbClr val="1B3B6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p4"/>
            <p:cNvSpPr/>
            <p:nvPr/>
          </p:nvSpPr>
          <p:spPr>
            <a:xfrm>
              <a:off x="600229" y="2109772"/>
              <a:ext cx="223729" cy="2639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Arial"/>
                <a:ea typeface="Arial"/>
                <a:cs typeface="Arial"/>
                <a:sym typeface="Arial"/>
              </a:endParaRPr>
            </a:p>
          </p:txBody>
        </p:sp>
      </p:grpSp>
      <p:sp>
        <p:nvSpPr>
          <p:cNvPr id="196" name="Google Shape;196;p4"/>
          <p:cNvSpPr/>
          <p:nvPr/>
        </p:nvSpPr>
        <p:spPr>
          <a:xfrm>
            <a:off x="922632" y="2093657"/>
            <a:ext cx="1338553" cy="327371"/>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1B3B6F"/>
                </a:solidFill>
                <a:latin typeface="Calibri"/>
                <a:ea typeface="Calibri"/>
                <a:cs typeface="Calibri"/>
                <a:sym typeface="Calibri"/>
              </a:rPr>
              <a:t>Consolidación</a:t>
            </a:r>
            <a:endParaRPr b="0" i="0" sz="1500" u="none" cap="none" strike="noStrike">
              <a:solidFill>
                <a:schemeClr val="dk1"/>
              </a:solidFill>
              <a:latin typeface="Arial"/>
              <a:ea typeface="Arial"/>
              <a:cs typeface="Arial"/>
              <a:sym typeface="Arial"/>
            </a:endParaRPr>
          </a:p>
        </p:txBody>
      </p:sp>
      <p:sp>
        <p:nvSpPr>
          <p:cNvPr id="197" name="Google Shape;197;p4"/>
          <p:cNvSpPr/>
          <p:nvPr/>
        </p:nvSpPr>
        <p:spPr>
          <a:xfrm>
            <a:off x="823959" y="2374137"/>
            <a:ext cx="4056186" cy="679933"/>
          </a:xfrm>
          <a:prstGeom prst="rect">
            <a:avLst/>
          </a:prstGeom>
          <a:noFill/>
          <a:ln>
            <a:noFill/>
          </a:ln>
        </p:spPr>
        <p:txBody>
          <a:bodyPr anchorCtr="0" anchor="ctr" bIns="45700" lIns="91425" spcFirstLastPara="1" rIns="91425" wrap="square" tIns="45700">
            <a:noAutofit/>
          </a:bodyPr>
          <a:lstStyle/>
          <a:p>
            <a:pPr indent="0" lvl="0" marL="0" marR="0" rtl="0" algn="just">
              <a:lnSpc>
                <a:spcPct val="120000"/>
              </a:lnSpc>
              <a:spcBef>
                <a:spcPts val="0"/>
              </a:spcBef>
              <a:spcAft>
                <a:spcPts val="0"/>
              </a:spcAft>
              <a:buClr>
                <a:srgbClr val="000000"/>
              </a:buClr>
              <a:buSzPts val="1250"/>
              <a:buFont typeface="Arial"/>
              <a:buNone/>
            </a:pPr>
            <a:r>
              <a:rPr b="0" i="0" lang="en-US" sz="1250" u="none" cap="none" strike="noStrike">
                <a:solidFill>
                  <a:srgbClr val="181818"/>
                </a:solidFill>
                <a:latin typeface="Livvic"/>
                <a:ea typeface="Livvic"/>
                <a:cs typeface="Livvic"/>
                <a:sym typeface="Livvic"/>
              </a:rPr>
              <a:t>Combinamos 4 tablas de la base relacional (Clientes, Ubicación, Geografía y Pedidos) en un dataset único a nivel cliente, con 300 registros.</a:t>
            </a:r>
            <a:endParaRPr b="0" i="0" sz="1250" u="none" cap="none" strike="noStrike">
              <a:solidFill>
                <a:srgbClr val="181818"/>
              </a:solidFill>
              <a:latin typeface="Livvic"/>
              <a:ea typeface="Livvic"/>
              <a:cs typeface="Livvic"/>
              <a:sym typeface="Livvic"/>
            </a:endParaRPr>
          </a:p>
        </p:txBody>
      </p:sp>
      <p:grpSp>
        <p:nvGrpSpPr>
          <p:cNvPr id="198" name="Google Shape;198;p4"/>
          <p:cNvGrpSpPr/>
          <p:nvPr/>
        </p:nvGrpSpPr>
        <p:grpSpPr>
          <a:xfrm>
            <a:off x="533799" y="3078381"/>
            <a:ext cx="356591" cy="327371"/>
            <a:chOff x="533799" y="2094523"/>
            <a:chExt cx="356591" cy="327371"/>
          </a:xfrm>
        </p:grpSpPr>
        <p:sp>
          <p:nvSpPr>
            <p:cNvPr id="199" name="Google Shape;199;p4"/>
            <p:cNvSpPr/>
            <p:nvPr/>
          </p:nvSpPr>
          <p:spPr>
            <a:xfrm>
              <a:off x="533799" y="2094523"/>
              <a:ext cx="356591" cy="327371"/>
            </a:xfrm>
            <a:prstGeom prst="ellipse">
              <a:avLst/>
            </a:prstGeom>
            <a:solidFill>
              <a:srgbClr val="1B3B6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4"/>
            <p:cNvSpPr/>
            <p:nvPr/>
          </p:nvSpPr>
          <p:spPr>
            <a:xfrm>
              <a:off x="600229" y="2109772"/>
              <a:ext cx="223729" cy="2639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Arial"/>
                <a:ea typeface="Arial"/>
                <a:cs typeface="Arial"/>
                <a:sym typeface="Arial"/>
              </a:endParaRPr>
            </a:p>
          </p:txBody>
        </p:sp>
      </p:grpSp>
      <p:sp>
        <p:nvSpPr>
          <p:cNvPr id="201" name="Google Shape;201;p4"/>
          <p:cNvSpPr/>
          <p:nvPr/>
        </p:nvSpPr>
        <p:spPr>
          <a:xfrm>
            <a:off x="922632" y="3077515"/>
            <a:ext cx="2359830" cy="327371"/>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1B3B6F"/>
                </a:solidFill>
                <a:latin typeface="Calibri"/>
                <a:ea typeface="Calibri"/>
                <a:cs typeface="Calibri"/>
                <a:sym typeface="Calibri"/>
              </a:rPr>
              <a:t>Variables construidas</a:t>
            </a:r>
            <a:endParaRPr b="0" i="0" sz="1500" u="none" cap="none" strike="noStrike">
              <a:solidFill>
                <a:schemeClr val="dk1"/>
              </a:solidFill>
              <a:latin typeface="Arial"/>
              <a:ea typeface="Arial"/>
              <a:cs typeface="Arial"/>
              <a:sym typeface="Arial"/>
            </a:endParaRPr>
          </a:p>
        </p:txBody>
      </p:sp>
      <p:grpSp>
        <p:nvGrpSpPr>
          <p:cNvPr id="202" name="Google Shape;202;p4"/>
          <p:cNvGrpSpPr/>
          <p:nvPr/>
        </p:nvGrpSpPr>
        <p:grpSpPr>
          <a:xfrm>
            <a:off x="4992009" y="2095694"/>
            <a:ext cx="356591" cy="327371"/>
            <a:chOff x="533799" y="2087089"/>
            <a:chExt cx="356591" cy="327371"/>
          </a:xfrm>
        </p:grpSpPr>
        <p:sp>
          <p:nvSpPr>
            <p:cNvPr id="203" name="Google Shape;203;p4"/>
            <p:cNvSpPr/>
            <p:nvPr/>
          </p:nvSpPr>
          <p:spPr>
            <a:xfrm>
              <a:off x="533799" y="2087089"/>
              <a:ext cx="356591" cy="327371"/>
            </a:xfrm>
            <a:prstGeom prst="ellipse">
              <a:avLst/>
            </a:prstGeom>
            <a:solidFill>
              <a:srgbClr val="1B3B6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4" name="Google Shape;204;p4"/>
            <p:cNvSpPr/>
            <p:nvPr/>
          </p:nvSpPr>
          <p:spPr>
            <a:xfrm>
              <a:off x="600229" y="2102338"/>
              <a:ext cx="223729" cy="2639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Arial"/>
                <a:ea typeface="Arial"/>
                <a:cs typeface="Arial"/>
                <a:sym typeface="Arial"/>
              </a:endParaRPr>
            </a:p>
          </p:txBody>
        </p:sp>
      </p:grpSp>
      <p:sp>
        <p:nvSpPr>
          <p:cNvPr id="205" name="Google Shape;205;p4"/>
          <p:cNvSpPr/>
          <p:nvPr/>
        </p:nvSpPr>
        <p:spPr>
          <a:xfrm>
            <a:off x="5374353" y="2094589"/>
            <a:ext cx="2066752" cy="32737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B3B6F"/>
                </a:solidFill>
                <a:latin typeface="Calibri"/>
                <a:ea typeface="Calibri"/>
                <a:cs typeface="Calibri"/>
                <a:sym typeface="Calibri"/>
              </a:rPr>
              <a:t>Decisión analítica clave</a:t>
            </a:r>
            <a:endParaRPr b="0" i="0" sz="1500" u="none" cap="none" strike="noStrike">
              <a:solidFill>
                <a:schemeClr val="dk1"/>
              </a:solidFill>
              <a:latin typeface="Arial"/>
              <a:ea typeface="Arial"/>
              <a:cs typeface="Arial"/>
              <a:sym typeface="Arial"/>
            </a:endParaRPr>
          </a:p>
        </p:txBody>
      </p:sp>
      <p:sp>
        <p:nvSpPr>
          <p:cNvPr id="206" name="Google Shape;206;p4"/>
          <p:cNvSpPr/>
          <p:nvPr/>
        </p:nvSpPr>
        <p:spPr>
          <a:xfrm>
            <a:off x="5345424" y="2366322"/>
            <a:ext cx="3264777" cy="685800"/>
          </a:xfrm>
          <a:prstGeom prst="rect">
            <a:avLst/>
          </a:prstGeom>
          <a:noFill/>
          <a:ln>
            <a:noFill/>
          </a:ln>
        </p:spPr>
        <p:txBody>
          <a:bodyPr anchorCtr="0" anchor="ctr" bIns="45700" lIns="91425" spcFirstLastPara="1" rIns="91425" wrap="square" tIns="45700">
            <a:noAutofit/>
          </a:bodyPr>
          <a:lstStyle/>
          <a:p>
            <a:pPr indent="0" lvl="0" marL="0" marR="0" rtl="0" algn="just">
              <a:lnSpc>
                <a:spcPct val="120000"/>
              </a:lnSpc>
              <a:spcBef>
                <a:spcPts val="0"/>
              </a:spcBef>
              <a:spcAft>
                <a:spcPts val="0"/>
              </a:spcAft>
              <a:buClr>
                <a:srgbClr val="000000"/>
              </a:buClr>
              <a:buSzPts val="1250"/>
              <a:buFont typeface="Arial"/>
              <a:buNone/>
            </a:pPr>
            <a:r>
              <a:rPr b="0" i="0" lang="en-US" sz="1250" u="none" cap="none" strike="noStrike">
                <a:solidFill>
                  <a:srgbClr val="181818"/>
                </a:solidFill>
                <a:latin typeface="Calibri"/>
                <a:ea typeface="Calibri"/>
                <a:cs typeface="Calibri"/>
                <a:sym typeface="Calibri"/>
              </a:rPr>
              <a:t>Conservamos a los clientes sin compras (en vez de eliminarlos) para poder analizarlos como oportunidad de reactivación.</a:t>
            </a:r>
            <a:endParaRPr b="0" i="0" sz="1250" u="none" cap="none" strike="noStrike">
              <a:solidFill>
                <a:srgbClr val="181818"/>
              </a:solidFill>
              <a:latin typeface="Arial"/>
              <a:ea typeface="Arial"/>
              <a:cs typeface="Arial"/>
              <a:sym typeface="Arial"/>
            </a:endParaRPr>
          </a:p>
        </p:txBody>
      </p:sp>
      <p:sp>
        <p:nvSpPr>
          <p:cNvPr id="207" name="Google Shape;207;p4"/>
          <p:cNvSpPr txBox="1"/>
          <p:nvPr/>
        </p:nvSpPr>
        <p:spPr>
          <a:xfrm>
            <a:off x="823958" y="3333684"/>
            <a:ext cx="4056186" cy="88485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250" u="none" cap="none" strike="noStrike">
                <a:solidFill>
                  <a:srgbClr val="181818"/>
                </a:solidFill>
                <a:latin typeface="Livvic"/>
                <a:ea typeface="Livvic"/>
                <a:cs typeface="Livvic"/>
                <a:sym typeface="Livvic"/>
              </a:rPr>
              <a:t>Se crearon dos variables nuevas: Ticket Promedio y Año de Última Compra, a partir de los datos originales.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08" name="Google Shape;208;p4"/>
          <p:cNvGrpSpPr/>
          <p:nvPr/>
        </p:nvGrpSpPr>
        <p:grpSpPr>
          <a:xfrm>
            <a:off x="4988833" y="3077514"/>
            <a:ext cx="356591" cy="327371"/>
            <a:chOff x="533799" y="2094523"/>
            <a:chExt cx="356591" cy="327371"/>
          </a:xfrm>
        </p:grpSpPr>
        <p:sp>
          <p:nvSpPr>
            <p:cNvPr id="209" name="Google Shape;209;p4"/>
            <p:cNvSpPr/>
            <p:nvPr/>
          </p:nvSpPr>
          <p:spPr>
            <a:xfrm>
              <a:off x="533799" y="2094523"/>
              <a:ext cx="356591" cy="327371"/>
            </a:xfrm>
            <a:prstGeom prst="ellipse">
              <a:avLst/>
            </a:prstGeom>
            <a:solidFill>
              <a:srgbClr val="1B3B6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 name="Google Shape;210;p4"/>
            <p:cNvSpPr/>
            <p:nvPr/>
          </p:nvSpPr>
          <p:spPr>
            <a:xfrm>
              <a:off x="600229" y="2109772"/>
              <a:ext cx="223729" cy="2639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Arial"/>
                <a:ea typeface="Arial"/>
                <a:cs typeface="Arial"/>
                <a:sym typeface="Arial"/>
              </a:endParaRPr>
            </a:p>
          </p:txBody>
        </p:sp>
      </p:grpSp>
      <p:sp>
        <p:nvSpPr>
          <p:cNvPr id="211" name="Google Shape;211;p4"/>
          <p:cNvSpPr/>
          <p:nvPr/>
        </p:nvSpPr>
        <p:spPr>
          <a:xfrm>
            <a:off x="5396356" y="3077580"/>
            <a:ext cx="2934260" cy="32737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B3B6F"/>
                </a:solidFill>
                <a:latin typeface="Calibri"/>
                <a:ea typeface="Calibri"/>
                <a:cs typeface="Calibri"/>
                <a:sym typeface="Calibri"/>
              </a:rPr>
              <a:t>Transparencia sobre limitaciones</a:t>
            </a:r>
            <a:endParaRPr b="0" i="0" sz="1500" u="none" cap="none" strike="noStrike">
              <a:solidFill>
                <a:schemeClr val="dk1"/>
              </a:solidFill>
              <a:latin typeface="Arial"/>
              <a:ea typeface="Arial"/>
              <a:cs typeface="Arial"/>
              <a:sym typeface="Arial"/>
            </a:endParaRPr>
          </a:p>
        </p:txBody>
      </p:sp>
      <p:sp>
        <p:nvSpPr>
          <p:cNvPr id="212" name="Google Shape;212;p4"/>
          <p:cNvSpPr/>
          <p:nvPr/>
        </p:nvSpPr>
        <p:spPr>
          <a:xfrm>
            <a:off x="5345424" y="3331735"/>
            <a:ext cx="3264777" cy="884857"/>
          </a:xfrm>
          <a:prstGeom prst="rect">
            <a:avLst/>
          </a:prstGeom>
          <a:noFill/>
          <a:ln>
            <a:noFill/>
          </a:ln>
        </p:spPr>
        <p:txBody>
          <a:bodyPr anchorCtr="0" anchor="ctr" bIns="45700" lIns="91425" spcFirstLastPara="1" rIns="91425" wrap="square" tIns="45700">
            <a:noAutofit/>
          </a:bodyPr>
          <a:lstStyle/>
          <a:p>
            <a:pPr indent="0" lvl="0" marL="0" marR="0" rtl="0" algn="just">
              <a:lnSpc>
                <a:spcPct val="120000"/>
              </a:lnSpc>
              <a:spcBef>
                <a:spcPts val="0"/>
              </a:spcBef>
              <a:spcAft>
                <a:spcPts val="0"/>
              </a:spcAft>
              <a:buClr>
                <a:srgbClr val="000000"/>
              </a:buClr>
              <a:buSzPts val="1250"/>
              <a:buFont typeface="Arial"/>
              <a:buNone/>
            </a:pPr>
            <a:r>
              <a:rPr b="0" i="0" lang="en-US" sz="1250" u="none" cap="none" strike="noStrike">
                <a:solidFill>
                  <a:srgbClr val="181818"/>
                </a:solidFill>
                <a:latin typeface="Calibri"/>
                <a:ea typeface="Calibri"/>
                <a:cs typeface="Calibri"/>
                <a:sym typeface="Calibri"/>
              </a:rPr>
              <a:t>Detectamos una inconsistencia entre el código de algunos pedidos y su fecha real de compra. Se documentó pero no se corrigió por falta de fuente de verdad única.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5"/>
          <p:cNvSpPr txBox="1"/>
          <p:nvPr>
            <p:ph type="title"/>
          </p:nvPr>
        </p:nvSpPr>
        <p:spPr>
          <a:xfrm>
            <a:off x="2039818" y="1439399"/>
            <a:ext cx="6321662" cy="2429219"/>
          </a:xfrm>
          <a:prstGeom prst="rect">
            <a:avLst/>
          </a:prstGeom>
          <a:noFill/>
          <a:ln>
            <a:noFill/>
          </a:ln>
        </p:spPr>
        <p:txBody>
          <a:bodyPr anchorCtr="0" anchor="ctr" bIns="91425" lIns="91425" spcFirstLastPara="1" rIns="91425" wrap="square" tIns="91425">
            <a:noAutofit/>
          </a:bodyPr>
          <a:lstStyle/>
          <a:p>
            <a:pPr indent="0" lvl="0" marL="0" rtl="0" algn="just">
              <a:lnSpc>
                <a:spcPct val="80000"/>
              </a:lnSpc>
              <a:spcBef>
                <a:spcPts val="0"/>
              </a:spcBef>
              <a:spcAft>
                <a:spcPts val="0"/>
              </a:spcAft>
              <a:buSzPts val="4800"/>
              <a:buNone/>
            </a:pPr>
            <a:r>
              <a:rPr lang="en-US"/>
              <a:t>Diagnóstico </a:t>
            </a:r>
            <a:r>
              <a:rPr b="0" lang="en-US">
                <a:latin typeface="Poppins Medium"/>
                <a:ea typeface="Poppins Medium"/>
                <a:cs typeface="Poppins Medium"/>
                <a:sym typeface="Poppins Medium"/>
              </a:rPr>
              <a:t>y hallazgos</a:t>
            </a:r>
            <a:endParaRPr b="0">
              <a:latin typeface="Poppins Medium"/>
              <a:ea typeface="Poppins Medium"/>
              <a:cs typeface="Poppins Medium"/>
              <a:sym typeface="Poppins Medium"/>
            </a:endParaRPr>
          </a:p>
        </p:txBody>
      </p:sp>
      <p:grpSp>
        <p:nvGrpSpPr>
          <p:cNvPr id="218" name="Google Shape;218;p5"/>
          <p:cNvGrpSpPr/>
          <p:nvPr/>
        </p:nvGrpSpPr>
        <p:grpSpPr>
          <a:xfrm rot="10800000">
            <a:off x="-15420" y="-20376"/>
            <a:ext cx="2284752" cy="1607436"/>
            <a:chOff x="5539149" y="3176875"/>
            <a:chExt cx="2029449" cy="1427309"/>
          </a:xfrm>
        </p:grpSpPr>
        <p:sp>
          <p:nvSpPr>
            <p:cNvPr id="219" name="Google Shape;219;p5"/>
            <p:cNvSpPr/>
            <p:nvPr/>
          </p:nvSpPr>
          <p:spPr>
            <a:xfrm flipH="1" rot="-5400000">
              <a:off x="6844880" y="3880443"/>
              <a:ext cx="849332" cy="598104"/>
            </a:xfrm>
            <a:custGeom>
              <a:rect b="b" l="l" r="r" t="t"/>
              <a:pathLst>
                <a:path extrusionOk="0" h="23817" w="47635">
                  <a:moveTo>
                    <a:pt x="1" y="0"/>
                  </a:moveTo>
                  <a:lnTo>
                    <a:pt x="1" y="23817"/>
                  </a:lnTo>
                  <a:lnTo>
                    <a:pt x="47634" y="23817"/>
                  </a:lnTo>
                  <a:lnTo>
                    <a:pt x="47634" y="0"/>
                  </a:lnTo>
                  <a:close/>
                </a:path>
              </a:pathLst>
            </a:custGeom>
            <a:gradFill>
              <a:gsLst>
                <a:gs pos="0">
                  <a:srgbClr val="174B67">
                    <a:alpha val="34902"/>
                  </a:srgbClr>
                </a:gs>
                <a:gs pos="100000">
                  <a:srgbClr val="174B67">
                    <a:alpha val="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5"/>
            <p:cNvSpPr/>
            <p:nvPr/>
          </p:nvSpPr>
          <p:spPr>
            <a:xfrm flipH="1" rot="-5400000">
              <a:off x="5541174" y="3174850"/>
              <a:ext cx="1427293" cy="1431342"/>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2"/>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5"/>
            <p:cNvSpPr/>
            <p:nvPr/>
          </p:nvSpPr>
          <p:spPr>
            <a:xfrm flipH="1" rot="-5400000">
              <a:off x="6122188" y="3755881"/>
              <a:ext cx="847111" cy="849493"/>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14902"/>
                  </a:srgbClr>
                </a:gs>
                <a:gs pos="100000">
                  <a:srgbClr val="174B67">
                    <a:alpha val="25882"/>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2" name="Google Shape;222;p5"/>
          <p:cNvSpPr txBox="1"/>
          <p:nvPr/>
        </p:nvSpPr>
        <p:spPr>
          <a:xfrm>
            <a:off x="1036550" y="1671660"/>
            <a:ext cx="987633" cy="90009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None/>
            </a:pPr>
            <a:r>
              <a:rPr b="1" i="0" lang="en-US" sz="5000" u="none" cap="none" strike="noStrike">
                <a:solidFill>
                  <a:srgbClr val="11384D"/>
                </a:solidFill>
                <a:latin typeface="Poppins"/>
                <a:ea typeface="Poppins"/>
                <a:cs typeface="Poppins"/>
                <a:sym typeface="Poppins"/>
              </a:rPr>
              <a:t>02</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grpSp>
        <p:nvGrpSpPr>
          <p:cNvPr id="227" name="Google Shape;227;p6"/>
          <p:cNvGrpSpPr/>
          <p:nvPr/>
        </p:nvGrpSpPr>
        <p:grpSpPr>
          <a:xfrm>
            <a:off x="608273" y="769937"/>
            <a:ext cx="422178" cy="422110"/>
            <a:chOff x="4710600" y="4142475"/>
            <a:chExt cx="461700" cy="461625"/>
          </a:xfrm>
        </p:grpSpPr>
        <p:sp>
          <p:nvSpPr>
            <p:cNvPr id="228" name="Google Shape;228;p6"/>
            <p:cNvSpPr/>
            <p:nvPr/>
          </p:nvSpPr>
          <p:spPr>
            <a:xfrm>
              <a:off x="4710600" y="4334925"/>
              <a:ext cx="427325" cy="269175"/>
            </a:xfrm>
            <a:custGeom>
              <a:rect b="b" l="l" r="r" t="t"/>
              <a:pathLst>
                <a:path extrusionOk="0" h="10767" w="17093">
                  <a:moveTo>
                    <a:pt x="4124" y="2244"/>
                  </a:moveTo>
                  <a:cubicBezTo>
                    <a:pt x="4538" y="2244"/>
                    <a:pt x="4857" y="2567"/>
                    <a:pt x="4857" y="2977"/>
                  </a:cubicBezTo>
                  <a:lnTo>
                    <a:pt x="4857" y="4216"/>
                  </a:lnTo>
                  <a:lnTo>
                    <a:pt x="2705" y="4216"/>
                  </a:lnTo>
                  <a:lnTo>
                    <a:pt x="2705" y="2977"/>
                  </a:lnTo>
                  <a:cubicBezTo>
                    <a:pt x="2705" y="2567"/>
                    <a:pt x="3024" y="2244"/>
                    <a:pt x="3438" y="2244"/>
                  </a:cubicBezTo>
                  <a:close/>
                  <a:moveTo>
                    <a:pt x="8889" y="961"/>
                  </a:moveTo>
                  <a:cubicBezTo>
                    <a:pt x="9303" y="961"/>
                    <a:pt x="9622" y="1284"/>
                    <a:pt x="9622" y="1694"/>
                  </a:cubicBezTo>
                  <a:lnTo>
                    <a:pt x="9622" y="4216"/>
                  </a:lnTo>
                  <a:lnTo>
                    <a:pt x="7471" y="4216"/>
                  </a:lnTo>
                  <a:lnTo>
                    <a:pt x="7471" y="1694"/>
                  </a:lnTo>
                  <a:cubicBezTo>
                    <a:pt x="7471" y="1284"/>
                    <a:pt x="7789" y="961"/>
                    <a:pt x="8204" y="961"/>
                  </a:cubicBezTo>
                  <a:close/>
                  <a:moveTo>
                    <a:pt x="13654" y="595"/>
                  </a:moveTo>
                  <a:cubicBezTo>
                    <a:pt x="14069" y="595"/>
                    <a:pt x="14388" y="917"/>
                    <a:pt x="14388" y="1328"/>
                  </a:cubicBezTo>
                  <a:lnTo>
                    <a:pt x="14388" y="4216"/>
                  </a:lnTo>
                  <a:lnTo>
                    <a:pt x="12236" y="4216"/>
                  </a:lnTo>
                  <a:lnTo>
                    <a:pt x="12236" y="1328"/>
                  </a:lnTo>
                  <a:cubicBezTo>
                    <a:pt x="12236" y="917"/>
                    <a:pt x="12555" y="595"/>
                    <a:pt x="12969" y="595"/>
                  </a:cubicBezTo>
                  <a:close/>
                  <a:moveTo>
                    <a:pt x="16543" y="4766"/>
                  </a:moveTo>
                  <a:lnTo>
                    <a:pt x="16543" y="5682"/>
                  </a:lnTo>
                  <a:cubicBezTo>
                    <a:pt x="16543" y="6232"/>
                    <a:pt x="16129" y="6643"/>
                    <a:pt x="15579" y="6643"/>
                  </a:cubicBezTo>
                  <a:lnTo>
                    <a:pt x="1514" y="6643"/>
                  </a:lnTo>
                  <a:cubicBezTo>
                    <a:pt x="964" y="6643"/>
                    <a:pt x="550" y="6232"/>
                    <a:pt x="550" y="5682"/>
                  </a:cubicBezTo>
                  <a:lnTo>
                    <a:pt x="550" y="4766"/>
                  </a:lnTo>
                  <a:close/>
                  <a:moveTo>
                    <a:pt x="9578" y="7193"/>
                  </a:moveTo>
                  <a:lnTo>
                    <a:pt x="9578" y="8842"/>
                  </a:lnTo>
                  <a:lnTo>
                    <a:pt x="7562" y="8842"/>
                  </a:lnTo>
                  <a:lnTo>
                    <a:pt x="7562" y="7193"/>
                  </a:lnTo>
                  <a:close/>
                  <a:moveTo>
                    <a:pt x="12646" y="9392"/>
                  </a:moveTo>
                  <a:cubicBezTo>
                    <a:pt x="12738" y="9392"/>
                    <a:pt x="12830" y="9484"/>
                    <a:pt x="12830" y="9575"/>
                  </a:cubicBezTo>
                  <a:lnTo>
                    <a:pt x="12830" y="10034"/>
                  </a:lnTo>
                  <a:cubicBezTo>
                    <a:pt x="12830" y="10125"/>
                    <a:pt x="12738" y="10217"/>
                    <a:pt x="12646" y="10217"/>
                  </a:cubicBezTo>
                  <a:lnTo>
                    <a:pt x="4446" y="10217"/>
                  </a:lnTo>
                  <a:cubicBezTo>
                    <a:pt x="4355" y="10217"/>
                    <a:pt x="4263" y="10125"/>
                    <a:pt x="4263" y="10034"/>
                  </a:cubicBezTo>
                  <a:lnTo>
                    <a:pt x="4263" y="9575"/>
                  </a:lnTo>
                  <a:cubicBezTo>
                    <a:pt x="4263" y="9484"/>
                    <a:pt x="4355" y="9392"/>
                    <a:pt x="4446" y="9392"/>
                  </a:cubicBezTo>
                  <a:close/>
                  <a:moveTo>
                    <a:pt x="16818" y="1"/>
                  </a:moveTo>
                  <a:cubicBezTo>
                    <a:pt x="16679" y="1"/>
                    <a:pt x="16543" y="136"/>
                    <a:pt x="16543" y="276"/>
                  </a:cubicBezTo>
                  <a:lnTo>
                    <a:pt x="16543" y="4216"/>
                  </a:lnTo>
                  <a:lnTo>
                    <a:pt x="14937" y="4216"/>
                  </a:lnTo>
                  <a:lnTo>
                    <a:pt x="14937" y="1328"/>
                  </a:lnTo>
                  <a:cubicBezTo>
                    <a:pt x="14937" y="642"/>
                    <a:pt x="14388" y="45"/>
                    <a:pt x="13654" y="45"/>
                  </a:cubicBezTo>
                  <a:lnTo>
                    <a:pt x="12969" y="45"/>
                  </a:lnTo>
                  <a:cubicBezTo>
                    <a:pt x="12280" y="45"/>
                    <a:pt x="11686" y="642"/>
                    <a:pt x="11686" y="1328"/>
                  </a:cubicBezTo>
                  <a:lnTo>
                    <a:pt x="11686" y="4216"/>
                  </a:lnTo>
                  <a:lnTo>
                    <a:pt x="10172" y="4216"/>
                  </a:lnTo>
                  <a:lnTo>
                    <a:pt x="10172" y="1694"/>
                  </a:lnTo>
                  <a:cubicBezTo>
                    <a:pt x="10172" y="1009"/>
                    <a:pt x="9622" y="411"/>
                    <a:pt x="8889" y="411"/>
                  </a:cubicBezTo>
                  <a:lnTo>
                    <a:pt x="8204" y="411"/>
                  </a:lnTo>
                  <a:cubicBezTo>
                    <a:pt x="7515" y="411"/>
                    <a:pt x="6921" y="1009"/>
                    <a:pt x="6921" y="1694"/>
                  </a:cubicBezTo>
                  <a:lnTo>
                    <a:pt x="6921" y="4216"/>
                  </a:lnTo>
                  <a:lnTo>
                    <a:pt x="5407" y="4216"/>
                  </a:lnTo>
                  <a:lnTo>
                    <a:pt x="5407" y="2977"/>
                  </a:lnTo>
                  <a:cubicBezTo>
                    <a:pt x="5407" y="2292"/>
                    <a:pt x="4857" y="1694"/>
                    <a:pt x="4124" y="1694"/>
                  </a:cubicBezTo>
                  <a:lnTo>
                    <a:pt x="3438" y="1694"/>
                  </a:lnTo>
                  <a:cubicBezTo>
                    <a:pt x="2749" y="1694"/>
                    <a:pt x="2155" y="2292"/>
                    <a:pt x="2155" y="2977"/>
                  </a:cubicBezTo>
                  <a:lnTo>
                    <a:pt x="2155" y="4216"/>
                  </a:lnTo>
                  <a:lnTo>
                    <a:pt x="550" y="4216"/>
                  </a:lnTo>
                  <a:lnTo>
                    <a:pt x="550" y="2933"/>
                  </a:lnTo>
                  <a:cubicBezTo>
                    <a:pt x="550" y="2794"/>
                    <a:pt x="414" y="2658"/>
                    <a:pt x="275" y="2658"/>
                  </a:cubicBezTo>
                  <a:cubicBezTo>
                    <a:pt x="139" y="2658"/>
                    <a:pt x="0" y="2794"/>
                    <a:pt x="0" y="2933"/>
                  </a:cubicBezTo>
                  <a:lnTo>
                    <a:pt x="0" y="4491"/>
                  </a:lnTo>
                  <a:lnTo>
                    <a:pt x="0" y="5682"/>
                  </a:lnTo>
                  <a:cubicBezTo>
                    <a:pt x="0" y="6507"/>
                    <a:pt x="689" y="7193"/>
                    <a:pt x="1514" y="7193"/>
                  </a:cubicBezTo>
                  <a:lnTo>
                    <a:pt x="7012" y="7193"/>
                  </a:lnTo>
                  <a:lnTo>
                    <a:pt x="7012" y="8842"/>
                  </a:lnTo>
                  <a:lnTo>
                    <a:pt x="4446" y="8842"/>
                  </a:lnTo>
                  <a:cubicBezTo>
                    <a:pt x="4032" y="8842"/>
                    <a:pt x="3713" y="9165"/>
                    <a:pt x="3713" y="9575"/>
                  </a:cubicBezTo>
                  <a:lnTo>
                    <a:pt x="3713" y="10034"/>
                  </a:lnTo>
                  <a:cubicBezTo>
                    <a:pt x="3713" y="10448"/>
                    <a:pt x="4032" y="10767"/>
                    <a:pt x="4446" y="10767"/>
                  </a:cubicBezTo>
                  <a:lnTo>
                    <a:pt x="12646" y="10767"/>
                  </a:lnTo>
                  <a:cubicBezTo>
                    <a:pt x="13061" y="10767"/>
                    <a:pt x="13380" y="10448"/>
                    <a:pt x="13380" y="10034"/>
                  </a:cubicBezTo>
                  <a:lnTo>
                    <a:pt x="13380" y="9575"/>
                  </a:lnTo>
                  <a:cubicBezTo>
                    <a:pt x="13380" y="9165"/>
                    <a:pt x="13061" y="8842"/>
                    <a:pt x="12646" y="8842"/>
                  </a:cubicBezTo>
                  <a:lnTo>
                    <a:pt x="10080" y="8842"/>
                  </a:lnTo>
                  <a:lnTo>
                    <a:pt x="10080" y="7193"/>
                  </a:lnTo>
                  <a:lnTo>
                    <a:pt x="15579" y="7193"/>
                  </a:lnTo>
                  <a:cubicBezTo>
                    <a:pt x="16451" y="7193"/>
                    <a:pt x="17093" y="6507"/>
                    <a:pt x="17093" y="5682"/>
                  </a:cubicBezTo>
                  <a:lnTo>
                    <a:pt x="17093" y="4491"/>
                  </a:lnTo>
                  <a:lnTo>
                    <a:pt x="17093" y="276"/>
                  </a:lnTo>
                  <a:cubicBezTo>
                    <a:pt x="17093" y="136"/>
                    <a:pt x="17001" y="1"/>
                    <a:pt x="168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6"/>
            <p:cNvSpPr/>
            <p:nvPr/>
          </p:nvSpPr>
          <p:spPr>
            <a:xfrm>
              <a:off x="4742675" y="4297075"/>
              <a:ext cx="61875" cy="53925"/>
            </a:xfrm>
            <a:custGeom>
              <a:rect b="b" l="l" r="r" t="t"/>
              <a:pathLst>
                <a:path extrusionOk="0" h="2157" w="2475">
                  <a:moveTo>
                    <a:pt x="294" y="0"/>
                  </a:moveTo>
                  <a:cubicBezTo>
                    <a:pt x="242" y="0"/>
                    <a:pt x="188" y="16"/>
                    <a:pt x="139" y="49"/>
                  </a:cubicBezTo>
                  <a:cubicBezTo>
                    <a:pt x="0" y="140"/>
                    <a:pt x="0" y="276"/>
                    <a:pt x="48" y="415"/>
                  </a:cubicBezTo>
                  <a:lnTo>
                    <a:pt x="1056" y="2017"/>
                  </a:lnTo>
                  <a:cubicBezTo>
                    <a:pt x="1100" y="2065"/>
                    <a:pt x="1191" y="2109"/>
                    <a:pt x="1283" y="2156"/>
                  </a:cubicBezTo>
                  <a:cubicBezTo>
                    <a:pt x="1375" y="2156"/>
                    <a:pt x="1466" y="2109"/>
                    <a:pt x="1514" y="2065"/>
                  </a:cubicBezTo>
                  <a:lnTo>
                    <a:pt x="2383" y="1101"/>
                  </a:lnTo>
                  <a:cubicBezTo>
                    <a:pt x="2474" y="1009"/>
                    <a:pt x="2474" y="826"/>
                    <a:pt x="2339" y="734"/>
                  </a:cubicBezTo>
                  <a:cubicBezTo>
                    <a:pt x="2297" y="673"/>
                    <a:pt x="2237" y="648"/>
                    <a:pt x="2175" y="648"/>
                  </a:cubicBezTo>
                  <a:cubicBezTo>
                    <a:pt x="2100" y="648"/>
                    <a:pt x="2022" y="684"/>
                    <a:pt x="1972" y="734"/>
                  </a:cubicBezTo>
                  <a:lnTo>
                    <a:pt x="1331" y="1423"/>
                  </a:lnTo>
                  <a:lnTo>
                    <a:pt x="506" y="140"/>
                  </a:lnTo>
                  <a:cubicBezTo>
                    <a:pt x="475" y="51"/>
                    <a:pt x="388" y="0"/>
                    <a:pt x="2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6"/>
            <p:cNvSpPr/>
            <p:nvPr/>
          </p:nvSpPr>
          <p:spPr>
            <a:xfrm>
              <a:off x="4806800" y="4255850"/>
              <a:ext cx="55025" cy="42450"/>
            </a:xfrm>
            <a:custGeom>
              <a:rect b="b" l="l" r="r" t="t"/>
              <a:pathLst>
                <a:path extrusionOk="0" h="1698" w="2201">
                  <a:moveTo>
                    <a:pt x="1240" y="0"/>
                  </a:moveTo>
                  <a:cubicBezTo>
                    <a:pt x="1148" y="0"/>
                    <a:pt x="1101" y="48"/>
                    <a:pt x="1009" y="92"/>
                  </a:cubicBezTo>
                  <a:lnTo>
                    <a:pt x="93" y="1283"/>
                  </a:lnTo>
                  <a:cubicBezTo>
                    <a:pt x="1" y="1375"/>
                    <a:pt x="1" y="1558"/>
                    <a:pt x="140" y="1650"/>
                  </a:cubicBezTo>
                  <a:cubicBezTo>
                    <a:pt x="184" y="1698"/>
                    <a:pt x="232" y="1698"/>
                    <a:pt x="276" y="1698"/>
                  </a:cubicBezTo>
                  <a:cubicBezTo>
                    <a:pt x="368" y="1698"/>
                    <a:pt x="459" y="1698"/>
                    <a:pt x="507" y="1606"/>
                  </a:cubicBezTo>
                  <a:lnTo>
                    <a:pt x="1240" y="689"/>
                  </a:lnTo>
                  <a:lnTo>
                    <a:pt x="1698" y="1148"/>
                  </a:lnTo>
                  <a:cubicBezTo>
                    <a:pt x="1748" y="1222"/>
                    <a:pt x="1826" y="1256"/>
                    <a:pt x="1902" y="1256"/>
                  </a:cubicBezTo>
                  <a:cubicBezTo>
                    <a:pt x="1963" y="1256"/>
                    <a:pt x="2023" y="1233"/>
                    <a:pt x="2065" y="1192"/>
                  </a:cubicBezTo>
                  <a:cubicBezTo>
                    <a:pt x="2200" y="1056"/>
                    <a:pt x="2200" y="873"/>
                    <a:pt x="2109" y="781"/>
                  </a:cubicBezTo>
                  <a:lnTo>
                    <a:pt x="1423" y="92"/>
                  </a:lnTo>
                  <a:cubicBezTo>
                    <a:pt x="1376" y="48"/>
                    <a:pt x="1332" y="0"/>
                    <a:pt x="12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6"/>
            <p:cNvSpPr/>
            <p:nvPr/>
          </p:nvSpPr>
          <p:spPr>
            <a:xfrm>
              <a:off x="4867575" y="4253275"/>
              <a:ext cx="85875" cy="77100"/>
            </a:xfrm>
            <a:custGeom>
              <a:rect b="b" l="l" r="r" t="t"/>
              <a:pathLst>
                <a:path extrusionOk="0" h="3084" w="3435">
                  <a:moveTo>
                    <a:pt x="2819" y="1"/>
                  </a:moveTo>
                  <a:cubicBezTo>
                    <a:pt x="2796" y="1"/>
                    <a:pt x="2773" y="4"/>
                    <a:pt x="2749" y="12"/>
                  </a:cubicBezTo>
                  <a:lnTo>
                    <a:pt x="1650" y="195"/>
                  </a:lnTo>
                  <a:cubicBezTo>
                    <a:pt x="1466" y="195"/>
                    <a:pt x="1375" y="334"/>
                    <a:pt x="1419" y="518"/>
                  </a:cubicBezTo>
                  <a:cubicBezTo>
                    <a:pt x="1419" y="653"/>
                    <a:pt x="1558" y="745"/>
                    <a:pt x="1741" y="745"/>
                  </a:cubicBezTo>
                  <a:lnTo>
                    <a:pt x="2244" y="653"/>
                  </a:lnTo>
                  <a:lnTo>
                    <a:pt x="825" y="2394"/>
                  </a:lnTo>
                  <a:lnTo>
                    <a:pt x="502" y="1984"/>
                  </a:lnTo>
                  <a:cubicBezTo>
                    <a:pt x="445" y="1927"/>
                    <a:pt x="353" y="1887"/>
                    <a:pt x="269" y="1887"/>
                  </a:cubicBezTo>
                  <a:cubicBezTo>
                    <a:pt x="218" y="1887"/>
                    <a:pt x="170" y="1902"/>
                    <a:pt x="136" y="1936"/>
                  </a:cubicBezTo>
                  <a:cubicBezTo>
                    <a:pt x="0" y="2028"/>
                    <a:pt x="0" y="2211"/>
                    <a:pt x="92" y="2350"/>
                  </a:cubicBezTo>
                  <a:lnTo>
                    <a:pt x="594" y="2992"/>
                  </a:lnTo>
                  <a:cubicBezTo>
                    <a:pt x="642" y="3036"/>
                    <a:pt x="733" y="3084"/>
                    <a:pt x="825" y="3084"/>
                  </a:cubicBezTo>
                  <a:cubicBezTo>
                    <a:pt x="869" y="3084"/>
                    <a:pt x="961" y="3036"/>
                    <a:pt x="1008" y="2992"/>
                  </a:cubicBezTo>
                  <a:lnTo>
                    <a:pt x="2702" y="928"/>
                  </a:lnTo>
                  <a:lnTo>
                    <a:pt x="2749" y="928"/>
                  </a:lnTo>
                  <a:lnTo>
                    <a:pt x="2885" y="1295"/>
                  </a:lnTo>
                  <a:cubicBezTo>
                    <a:pt x="2933" y="1434"/>
                    <a:pt x="3024" y="1478"/>
                    <a:pt x="3116" y="1478"/>
                  </a:cubicBezTo>
                  <a:lnTo>
                    <a:pt x="3208" y="1478"/>
                  </a:lnTo>
                  <a:cubicBezTo>
                    <a:pt x="3343" y="1434"/>
                    <a:pt x="3435" y="1295"/>
                    <a:pt x="3391" y="1111"/>
                  </a:cubicBezTo>
                  <a:lnTo>
                    <a:pt x="3068" y="195"/>
                  </a:lnTo>
                  <a:cubicBezTo>
                    <a:pt x="3032" y="83"/>
                    <a:pt x="2930" y="1"/>
                    <a:pt x="28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6"/>
            <p:cNvSpPr/>
            <p:nvPr/>
          </p:nvSpPr>
          <p:spPr>
            <a:xfrm>
              <a:off x="4710600" y="4142475"/>
              <a:ext cx="461700" cy="239400"/>
            </a:xfrm>
            <a:custGeom>
              <a:rect b="b" l="l" r="r" t="t"/>
              <a:pathLst>
                <a:path extrusionOk="0" h="9576" w="18468">
                  <a:moveTo>
                    <a:pt x="15352" y="551"/>
                  </a:moveTo>
                  <a:cubicBezTo>
                    <a:pt x="16679" y="551"/>
                    <a:pt x="17778" y="1559"/>
                    <a:pt x="17918" y="2842"/>
                  </a:cubicBezTo>
                  <a:lnTo>
                    <a:pt x="15487" y="2842"/>
                  </a:lnTo>
                  <a:lnTo>
                    <a:pt x="14160" y="870"/>
                  </a:lnTo>
                  <a:cubicBezTo>
                    <a:pt x="14527" y="642"/>
                    <a:pt x="14937" y="551"/>
                    <a:pt x="15352" y="551"/>
                  </a:cubicBezTo>
                  <a:close/>
                  <a:moveTo>
                    <a:pt x="13746" y="1145"/>
                  </a:moveTo>
                  <a:lnTo>
                    <a:pt x="15077" y="3161"/>
                  </a:lnTo>
                  <a:lnTo>
                    <a:pt x="14069" y="5316"/>
                  </a:lnTo>
                  <a:cubicBezTo>
                    <a:pt x="13288" y="4858"/>
                    <a:pt x="12830" y="4033"/>
                    <a:pt x="12830" y="3117"/>
                  </a:cubicBezTo>
                  <a:cubicBezTo>
                    <a:pt x="12830" y="2336"/>
                    <a:pt x="13152" y="1603"/>
                    <a:pt x="13746" y="1145"/>
                  </a:cubicBezTo>
                  <a:close/>
                  <a:moveTo>
                    <a:pt x="17918" y="3392"/>
                  </a:moveTo>
                  <a:cubicBezTo>
                    <a:pt x="17778" y="4675"/>
                    <a:pt x="16679" y="5683"/>
                    <a:pt x="15352" y="5683"/>
                  </a:cubicBezTo>
                  <a:cubicBezTo>
                    <a:pt x="15077" y="5683"/>
                    <a:pt x="14802" y="5635"/>
                    <a:pt x="14527" y="5543"/>
                  </a:cubicBezTo>
                  <a:lnTo>
                    <a:pt x="15535" y="3392"/>
                  </a:lnTo>
                  <a:close/>
                  <a:moveTo>
                    <a:pt x="15352" y="1"/>
                  </a:moveTo>
                  <a:cubicBezTo>
                    <a:pt x="13654" y="1"/>
                    <a:pt x="12280" y="1376"/>
                    <a:pt x="12280" y="3069"/>
                  </a:cubicBezTo>
                  <a:lnTo>
                    <a:pt x="1466" y="3069"/>
                  </a:lnTo>
                  <a:cubicBezTo>
                    <a:pt x="642" y="3069"/>
                    <a:pt x="0" y="3711"/>
                    <a:pt x="0" y="4535"/>
                  </a:cubicBezTo>
                  <a:lnTo>
                    <a:pt x="0" y="9301"/>
                  </a:lnTo>
                  <a:cubicBezTo>
                    <a:pt x="0" y="9484"/>
                    <a:pt x="92" y="9576"/>
                    <a:pt x="275" y="9576"/>
                  </a:cubicBezTo>
                  <a:cubicBezTo>
                    <a:pt x="414" y="9576"/>
                    <a:pt x="550" y="9484"/>
                    <a:pt x="550" y="9301"/>
                  </a:cubicBezTo>
                  <a:lnTo>
                    <a:pt x="550" y="4535"/>
                  </a:lnTo>
                  <a:cubicBezTo>
                    <a:pt x="550" y="4033"/>
                    <a:pt x="964" y="3619"/>
                    <a:pt x="1466" y="3619"/>
                  </a:cubicBezTo>
                  <a:lnTo>
                    <a:pt x="12328" y="3619"/>
                  </a:lnTo>
                  <a:cubicBezTo>
                    <a:pt x="12555" y="5085"/>
                    <a:pt x="13838" y="6233"/>
                    <a:pt x="15352" y="6233"/>
                  </a:cubicBezTo>
                  <a:cubicBezTo>
                    <a:pt x="15810" y="6233"/>
                    <a:pt x="16176" y="6141"/>
                    <a:pt x="16543" y="6002"/>
                  </a:cubicBezTo>
                  <a:lnTo>
                    <a:pt x="16543" y="6735"/>
                  </a:lnTo>
                  <a:cubicBezTo>
                    <a:pt x="16543" y="6874"/>
                    <a:pt x="16679" y="7010"/>
                    <a:pt x="16818" y="7010"/>
                  </a:cubicBezTo>
                  <a:cubicBezTo>
                    <a:pt x="17001" y="7010"/>
                    <a:pt x="17093" y="6874"/>
                    <a:pt x="17093" y="6735"/>
                  </a:cubicBezTo>
                  <a:lnTo>
                    <a:pt x="17093" y="5683"/>
                  </a:lnTo>
                  <a:cubicBezTo>
                    <a:pt x="17918" y="5133"/>
                    <a:pt x="18467" y="4169"/>
                    <a:pt x="18467" y="3117"/>
                  </a:cubicBezTo>
                  <a:cubicBezTo>
                    <a:pt x="18467" y="1420"/>
                    <a:pt x="17093" y="1"/>
                    <a:pt x="153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3" name="Google Shape;233;p6"/>
          <p:cNvSpPr txBox="1"/>
          <p:nvPr/>
        </p:nvSpPr>
        <p:spPr>
          <a:xfrm>
            <a:off x="1121198" y="699307"/>
            <a:ext cx="7274560" cy="430887"/>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1" lang="en-US" sz="1100" u="none" cap="none" strike="noStrike">
                <a:solidFill>
                  <a:schemeClr val="dk1"/>
                </a:solidFill>
                <a:latin typeface="Livvic Medium"/>
                <a:ea typeface="Livvic Medium"/>
                <a:cs typeface="Livvic Medium"/>
                <a:sym typeface="Livvic Medium"/>
              </a:rPr>
              <a:t>Diseñamos el dashboard en torno a 5 preguntas de negocio, cada una respondida por una visualización específica.</a:t>
            </a:r>
            <a:endParaRPr b="0" i="1" sz="1100" u="none" cap="none" strike="noStrike">
              <a:solidFill>
                <a:schemeClr val="dk1"/>
              </a:solidFill>
              <a:latin typeface="Livvic Medium"/>
              <a:ea typeface="Livvic Medium"/>
              <a:cs typeface="Livvic Medium"/>
              <a:sym typeface="Livvic Medium"/>
            </a:endParaRPr>
          </a:p>
        </p:txBody>
      </p:sp>
      <p:graphicFrame>
        <p:nvGraphicFramePr>
          <p:cNvPr id="234" name="Google Shape;234;p6"/>
          <p:cNvGraphicFramePr/>
          <p:nvPr/>
        </p:nvGraphicFramePr>
        <p:xfrm>
          <a:off x="543560" y="1250066"/>
          <a:ext cx="4028440" cy="1774190"/>
        </p:xfrm>
        <a:graphic>
          <a:graphicData uri="http://schemas.openxmlformats.org/drawingml/2006/chart">
            <c:chart r:id="rId3"/>
          </a:graphicData>
        </a:graphic>
      </p:graphicFrame>
      <p:graphicFrame>
        <p:nvGraphicFramePr>
          <p:cNvPr id="235" name="Google Shape;235;p6"/>
          <p:cNvGraphicFramePr/>
          <p:nvPr/>
        </p:nvGraphicFramePr>
        <p:xfrm>
          <a:off x="4758478" y="1250066"/>
          <a:ext cx="4028440" cy="1774190"/>
        </p:xfrm>
        <a:graphic>
          <a:graphicData uri="http://schemas.openxmlformats.org/drawingml/2006/chart">
            <c:chart r:id="rId4"/>
          </a:graphicData>
        </a:graphic>
      </p:graphicFrame>
      <p:graphicFrame>
        <p:nvGraphicFramePr>
          <p:cNvPr id="236" name="Google Shape;236;p6"/>
          <p:cNvGraphicFramePr/>
          <p:nvPr/>
        </p:nvGraphicFramePr>
        <p:xfrm>
          <a:off x="4758478" y="2866254"/>
          <a:ext cx="4028440" cy="1774190"/>
        </p:xfrm>
        <a:graphic>
          <a:graphicData uri="http://schemas.openxmlformats.org/drawingml/2006/chart">
            <c:chart r:id="rId5"/>
          </a:graphicData>
        </a:graphic>
      </p:graphicFrame>
      <p:graphicFrame>
        <p:nvGraphicFramePr>
          <p:cNvPr id="237" name="Google Shape;237;p6"/>
          <p:cNvGraphicFramePr/>
          <p:nvPr/>
        </p:nvGraphicFramePr>
        <p:xfrm>
          <a:off x="608273" y="2876580"/>
          <a:ext cx="4179702" cy="1774190"/>
        </p:xfrm>
        <a:graphic>
          <a:graphicData uri="http://schemas.openxmlformats.org/drawingml/2006/chart">
            <c:chart r:id="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graphicFrame>
        <p:nvGraphicFramePr>
          <p:cNvPr id="242" name="Google Shape;242;p7"/>
          <p:cNvGraphicFramePr/>
          <p:nvPr/>
        </p:nvGraphicFramePr>
        <p:xfrm>
          <a:off x="618195" y="1322963"/>
          <a:ext cx="3336101" cy="2020192"/>
        </p:xfrm>
        <a:graphic>
          <a:graphicData uri="http://schemas.openxmlformats.org/drawingml/2006/chart">
            <c:chart r:id="rId3"/>
          </a:graphicData>
        </a:graphic>
      </p:graphicFrame>
      <p:graphicFrame>
        <p:nvGraphicFramePr>
          <p:cNvPr id="243" name="Google Shape;243;p7"/>
          <p:cNvGraphicFramePr/>
          <p:nvPr/>
        </p:nvGraphicFramePr>
        <p:xfrm>
          <a:off x="4864316" y="1322963"/>
          <a:ext cx="3336101" cy="2020192"/>
        </p:xfrm>
        <a:graphic>
          <a:graphicData uri="http://schemas.openxmlformats.org/drawingml/2006/chart">
            <c:chart r:id="rId4"/>
          </a:graphicData>
        </a:graphic>
      </p:graphicFrame>
      <p:sp>
        <p:nvSpPr>
          <p:cNvPr id="244" name="Google Shape;244;p7"/>
          <p:cNvSpPr txBox="1"/>
          <p:nvPr>
            <p:ph type="title"/>
          </p:nvPr>
        </p:nvSpPr>
        <p:spPr>
          <a:xfrm>
            <a:off x="589011" y="661897"/>
            <a:ext cx="8039424" cy="884802"/>
          </a:xfrm>
          <a:prstGeom prst="rect">
            <a:avLst/>
          </a:prstGeom>
          <a:noFill/>
          <a:ln>
            <a:noFill/>
          </a:ln>
        </p:spPr>
        <p:txBody>
          <a:bodyPr anchorCtr="0" anchor="b" bIns="91425" lIns="91425" spcFirstLastPara="1" rIns="91425" wrap="square" tIns="91425">
            <a:noAutofit/>
          </a:bodyPr>
          <a:lstStyle/>
          <a:p>
            <a:pPr indent="0" lvl="0" marL="0" rtl="0" algn="just">
              <a:lnSpc>
                <a:spcPct val="100000"/>
              </a:lnSpc>
              <a:spcBef>
                <a:spcPts val="0"/>
              </a:spcBef>
              <a:spcAft>
                <a:spcPts val="0"/>
              </a:spcAft>
              <a:buSzPts val="10000"/>
              <a:buNone/>
            </a:pPr>
            <a:r>
              <a:rPr lang="en-US" sz="3000"/>
              <a:t>¿El cliente que más compra es el que más factura?</a:t>
            </a:r>
            <a:endParaRPr/>
          </a:p>
        </p:txBody>
      </p:sp>
      <p:sp>
        <p:nvSpPr>
          <p:cNvPr id="245" name="Google Shape;245;p7"/>
          <p:cNvSpPr txBox="1"/>
          <p:nvPr>
            <p:ph idx="1" type="subTitle"/>
          </p:nvPr>
        </p:nvSpPr>
        <p:spPr>
          <a:xfrm>
            <a:off x="564207" y="3287951"/>
            <a:ext cx="2652814" cy="1248856"/>
          </a:xfrm>
          <a:prstGeom prst="rect">
            <a:avLst/>
          </a:prstGeom>
          <a:solidFill>
            <a:srgbClr val="BCD1DC"/>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b="1" lang="en-US" sz="1200">
                <a:solidFill>
                  <a:srgbClr val="0B2533"/>
                </a:solidFill>
                <a:latin typeface="Livvic Medium"/>
                <a:ea typeface="Livvic Medium"/>
                <a:cs typeface="Livvic Medium"/>
                <a:sym typeface="Livvic Medium"/>
              </a:rPr>
              <a:t>Contexto</a:t>
            </a:r>
            <a:endParaRPr/>
          </a:p>
          <a:p>
            <a:pPr indent="0" lvl="0" marL="0" rtl="0" algn="just">
              <a:lnSpc>
                <a:spcPct val="115000"/>
              </a:lnSpc>
              <a:spcBef>
                <a:spcPts val="0"/>
              </a:spcBef>
              <a:spcAft>
                <a:spcPts val="0"/>
              </a:spcAft>
              <a:buClr>
                <a:schemeClr val="dk1"/>
              </a:buClr>
              <a:buSzPts val="1100"/>
              <a:buFont typeface="Arial"/>
              <a:buNone/>
            </a:pPr>
            <a:r>
              <a:rPr lang="en-US" sz="1100">
                <a:solidFill>
                  <a:schemeClr val="lt1"/>
                </a:solidFill>
                <a:latin typeface="Arial"/>
                <a:ea typeface="Arial"/>
                <a:cs typeface="Arial"/>
                <a:sym typeface="Arial"/>
              </a:rPr>
              <a:t>Se comparó el Top 10 de clientes por cantidad de pedidos contra el Top 10 por monto total comprado.</a:t>
            </a:r>
            <a:endParaRPr sz="1100"/>
          </a:p>
        </p:txBody>
      </p:sp>
      <p:sp>
        <p:nvSpPr>
          <p:cNvPr id="246" name="Google Shape;246;p7"/>
          <p:cNvSpPr txBox="1"/>
          <p:nvPr/>
        </p:nvSpPr>
        <p:spPr>
          <a:xfrm>
            <a:off x="3331441" y="3287951"/>
            <a:ext cx="2554564" cy="1252020"/>
          </a:xfrm>
          <a:prstGeom prst="rect">
            <a:avLst/>
          </a:prstGeom>
          <a:solidFill>
            <a:srgbClr val="BCD1DC"/>
          </a:solid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b="1" i="0" lang="en-US" sz="1200" u="none" cap="none" strike="noStrike">
                <a:solidFill>
                  <a:srgbClr val="0B2533"/>
                </a:solidFill>
                <a:latin typeface="Livvic Medium"/>
                <a:ea typeface="Livvic Medium"/>
                <a:cs typeface="Livvic Medium"/>
                <a:sym typeface="Livvic Medium"/>
              </a:rPr>
              <a:t>Hallazgo</a:t>
            </a:r>
            <a:endParaRPr/>
          </a:p>
          <a:p>
            <a:pPr indent="0" lvl="0" marL="0" marR="0" rtl="0" algn="just">
              <a:lnSpc>
                <a:spcPct val="115000"/>
              </a:lnSpc>
              <a:spcBef>
                <a:spcPts val="0"/>
              </a:spcBef>
              <a:spcAft>
                <a:spcPts val="0"/>
              </a:spcAft>
              <a:buClr>
                <a:schemeClr val="dk1"/>
              </a:buClr>
              <a:buSzPts val="1100"/>
              <a:buFont typeface="Arial"/>
              <a:buNone/>
            </a:pPr>
            <a:r>
              <a:rPr b="0" i="0" lang="en-US" sz="1100" u="none" cap="none" strike="noStrike">
                <a:solidFill>
                  <a:schemeClr val="dk1"/>
                </a:solidFill>
                <a:latin typeface="Livvic"/>
                <a:ea typeface="Livvic"/>
                <a:cs typeface="Livvic"/>
                <a:sym typeface="Livvic"/>
              </a:rPr>
              <a:t>Solo 4 de los 10 clientes se repiten en ambos rankings. Quien más pedidos hace (12) no es quien más factura, y quien más factura ($57K) no aparece en el ranking de frecuencia.</a:t>
            </a:r>
            <a:endParaRPr/>
          </a:p>
          <a:p>
            <a:pPr indent="0" lvl="0" marL="0" marR="0" rtl="0" algn="just">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Livvic"/>
              <a:ea typeface="Livvic"/>
              <a:cs typeface="Livvic"/>
              <a:sym typeface="Livvic"/>
            </a:endParaRPr>
          </a:p>
        </p:txBody>
      </p:sp>
      <p:sp>
        <p:nvSpPr>
          <p:cNvPr id="247" name="Google Shape;247;p7"/>
          <p:cNvSpPr txBox="1"/>
          <p:nvPr/>
        </p:nvSpPr>
        <p:spPr>
          <a:xfrm>
            <a:off x="6000425" y="3284787"/>
            <a:ext cx="2554564" cy="1252020"/>
          </a:xfrm>
          <a:prstGeom prst="rect">
            <a:avLst/>
          </a:prstGeom>
          <a:solidFill>
            <a:srgbClr val="BCD1DC"/>
          </a:solid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b="1" i="0" lang="en-US" sz="1200" u="none" cap="none" strike="noStrike">
                <a:solidFill>
                  <a:srgbClr val="0B2533"/>
                </a:solidFill>
                <a:latin typeface="Livvic Medium"/>
                <a:ea typeface="Livvic Medium"/>
                <a:cs typeface="Livvic Medium"/>
                <a:sym typeface="Livvic Medium"/>
              </a:rPr>
              <a:t>Impacto</a:t>
            </a:r>
            <a:endParaRPr/>
          </a:p>
          <a:p>
            <a:pPr indent="0" lvl="0" marL="0" marR="0" rtl="0" algn="just">
              <a:lnSpc>
                <a:spcPct val="115000"/>
              </a:lnSpc>
              <a:spcBef>
                <a:spcPts val="0"/>
              </a:spcBef>
              <a:spcAft>
                <a:spcPts val="0"/>
              </a:spcAft>
              <a:buClr>
                <a:schemeClr val="dk1"/>
              </a:buClr>
              <a:buSzPts val="1100"/>
              <a:buFont typeface="Arial"/>
              <a:buNone/>
            </a:pPr>
            <a:r>
              <a:rPr b="0" i="0" lang="en-US" sz="1100" u="none" cap="none" strike="noStrike">
                <a:solidFill>
                  <a:schemeClr val="dk1"/>
                </a:solidFill>
                <a:latin typeface="Livvic"/>
                <a:ea typeface="Livvic"/>
                <a:cs typeface="Livvic"/>
                <a:sym typeface="Livvic"/>
              </a:rPr>
              <a:t>Existen al menos dos perfiles de “cliente valioso” distintos. Tratarlos igual en fidelización desatiende a uno de los dos grupos.</a:t>
            </a:r>
            <a:endParaRPr/>
          </a:p>
          <a:p>
            <a:pPr indent="0" lvl="0" marL="0" marR="0" rtl="0" algn="just">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Livvic"/>
              <a:ea typeface="Livvic"/>
              <a:cs typeface="Livvic"/>
              <a:sym typeface="Livv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8"/>
          <p:cNvSpPr/>
          <p:nvPr/>
        </p:nvSpPr>
        <p:spPr>
          <a:xfrm>
            <a:off x="1008977" y="801600"/>
            <a:ext cx="2596200" cy="3540300"/>
          </a:xfrm>
          <a:prstGeom prst="round2SameRect">
            <a:avLst>
              <a:gd fmla="val 50000" name="adj1"/>
              <a:gd fmla="val 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8"/>
          <p:cNvSpPr txBox="1"/>
          <p:nvPr>
            <p:ph type="title"/>
          </p:nvPr>
        </p:nvSpPr>
        <p:spPr>
          <a:xfrm>
            <a:off x="4055288" y="1672681"/>
            <a:ext cx="4499410" cy="2074829"/>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Análisis y segmentación</a:t>
            </a:r>
            <a:endParaRPr/>
          </a:p>
        </p:txBody>
      </p:sp>
      <p:sp>
        <p:nvSpPr>
          <p:cNvPr id="254" name="Google Shape;254;p8"/>
          <p:cNvSpPr txBox="1"/>
          <p:nvPr>
            <p:ph idx="2" type="title"/>
          </p:nvPr>
        </p:nvSpPr>
        <p:spPr>
          <a:xfrm>
            <a:off x="4193967" y="1372856"/>
            <a:ext cx="1032238" cy="878152"/>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0"/>
              <a:buNone/>
            </a:pPr>
            <a:r>
              <a:rPr lang="en-US"/>
              <a:t>03</a:t>
            </a:r>
            <a:endParaRPr/>
          </a:p>
        </p:txBody>
      </p:sp>
      <p:sp>
        <p:nvSpPr>
          <p:cNvPr id="255" name="Google Shape;255;p8"/>
          <p:cNvSpPr txBox="1"/>
          <p:nvPr>
            <p:ph idx="1" type="subTitle"/>
          </p:nvPr>
        </p:nvSpPr>
        <p:spPr>
          <a:xfrm>
            <a:off x="4085025" y="3742125"/>
            <a:ext cx="40500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Análisis Estratégico basado en Segmentación</a:t>
            </a:r>
            <a:endParaRPr/>
          </a:p>
        </p:txBody>
      </p:sp>
      <p:sp>
        <p:nvSpPr>
          <p:cNvPr id="256" name="Google Shape;256;p8"/>
          <p:cNvSpPr/>
          <p:nvPr/>
        </p:nvSpPr>
        <p:spPr>
          <a:xfrm rot="-5400000">
            <a:off x="7763042" y="326808"/>
            <a:ext cx="878151" cy="224535"/>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922"/>
                </a:srgbClr>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8"/>
          <p:cNvSpPr/>
          <p:nvPr/>
        </p:nvSpPr>
        <p:spPr>
          <a:xfrm rot="-5400000">
            <a:off x="8410265" y="144464"/>
            <a:ext cx="878151" cy="589219"/>
          </a:xfrm>
          <a:custGeom>
            <a:rect b="b" l="l" r="r" t="t"/>
            <a:pathLst>
              <a:path extrusionOk="0" h="12463" w="47635">
                <a:moveTo>
                  <a:pt x="1" y="1"/>
                </a:moveTo>
                <a:lnTo>
                  <a:pt x="1" y="12463"/>
                </a:lnTo>
                <a:lnTo>
                  <a:pt x="47634" y="12463"/>
                </a:lnTo>
                <a:lnTo>
                  <a:pt x="47634" y="1"/>
                </a:lnTo>
                <a:close/>
              </a:path>
            </a:pathLst>
          </a:custGeom>
          <a:gradFill>
            <a:gsLst>
              <a:gs pos="0">
                <a:srgbClr val="FBF3ED">
                  <a:alpha val="30196"/>
                </a:srgbClr>
              </a:gs>
              <a:gs pos="100000">
                <a:srgbClr val="FBF3ED">
                  <a:alpha val="50196"/>
                </a:srgbClr>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8"/>
          <p:cNvSpPr/>
          <p:nvPr/>
        </p:nvSpPr>
        <p:spPr>
          <a:xfrm rot="-5400000">
            <a:off x="7995465" y="318918"/>
            <a:ext cx="878151" cy="240314"/>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137"/>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9" name="Google Shape;259;p8"/>
          <p:cNvGrpSpPr/>
          <p:nvPr/>
        </p:nvGrpSpPr>
        <p:grpSpPr>
          <a:xfrm>
            <a:off x="1085386" y="1862285"/>
            <a:ext cx="2334322" cy="2044390"/>
            <a:chOff x="649648" y="271400"/>
            <a:chExt cx="6215377" cy="5455143"/>
          </a:xfrm>
        </p:grpSpPr>
        <p:sp>
          <p:nvSpPr>
            <p:cNvPr id="260" name="Google Shape;260;p8"/>
            <p:cNvSpPr/>
            <p:nvPr/>
          </p:nvSpPr>
          <p:spPr>
            <a:xfrm>
              <a:off x="2641907" y="3717593"/>
              <a:ext cx="3573900" cy="2008950"/>
            </a:xfrm>
            <a:custGeom>
              <a:rect b="b" l="l" r="r" t="t"/>
              <a:pathLst>
                <a:path extrusionOk="0" fill="none" h="80358" w="142956">
                  <a:moveTo>
                    <a:pt x="0" y="50612"/>
                  </a:moveTo>
                  <a:cubicBezTo>
                    <a:pt x="53053" y="80357"/>
                    <a:pt x="120314" y="56605"/>
                    <a:pt x="142956" y="0"/>
                  </a:cubicBezTo>
                </a:path>
              </a:pathLst>
            </a:custGeom>
            <a:noFill/>
            <a:ln cap="flat" cmpd="sng" w="9525">
              <a:solidFill>
                <a:srgbClr val="325D79"/>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8"/>
            <p:cNvSpPr/>
            <p:nvPr/>
          </p:nvSpPr>
          <p:spPr>
            <a:xfrm>
              <a:off x="1359875" y="2446825"/>
              <a:ext cx="338550" cy="1598275"/>
            </a:xfrm>
            <a:custGeom>
              <a:rect b="b" l="l" r="r" t="t"/>
              <a:pathLst>
                <a:path extrusionOk="0" fill="none" h="63931" w="13542">
                  <a:moveTo>
                    <a:pt x="888" y="0"/>
                  </a:moveTo>
                  <a:cubicBezTo>
                    <a:pt x="223" y="4440"/>
                    <a:pt x="1" y="9102"/>
                    <a:pt x="1" y="13763"/>
                  </a:cubicBezTo>
                  <a:cubicBezTo>
                    <a:pt x="1" y="31300"/>
                    <a:pt x="4662" y="48614"/>
                    <a:pt x="13541" y="63931"/>
                  </a:cubicBezTo>
                </a:path>
              </a:pathLst>
            </a:custGeom>
            <a:noFill/>
            <a:ln cap="flat" cmpd="sng" w="9525">
              <a:solidFill>
                <a:srgbClr val="325D79"/>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8"/>
            <p:cNvSpPr/>
            <p:nvPr/>
          </p:nvSpPr>
          <p:spPr>
            <a:xfrm>
              <a:off x="1709500" y="271400"/>
              <a:ext cx="5149975" cy="2519525"/>
            </a:xfrm>
            <a:custGeom>
              <a:rect b="b" l="l" r="r" t="t"/>
              <a:pathLst>
                <a:path extrusionOk="0" fill="none" h="100781" w="205999">
                  <a:moveTo>
                    <a:pt x="187352" y="100780"/>
                  </a:moveTo>
                  <a:cubicBezTo>
                    <a:pt x="187352" y="77694"/>
                    <a:pt x="179361" y="55496"/>
                    <a:pt x="165154" y="37738"/>
                  </a:cubicBezTo>
                  <a:lnTo>
                    <a:pt x="187352" y="37738"/>
                  </a:lnTo>
                  <a:cubicBezTo>
                    <a:pt x="197563" y="37738"/>
                    <a:pt x="205998" y="29302"/>
                    <a:pt x="205998" y="18869"/>
                  </a:cubicBezTo>
                  <a:cubicBezTo>
                    <a:pt x="205998" y="8436"/>
                    <a:pt x="197563" y="1"/>
                    <a:pt x="187352" y="1"/>
                  </a:cubicBezTo>
                  <a:lnTo>
                    <a:pt x="91012" y="1"/>
                  </a:lnTo>
                  <a:lnTo>
                    <a:pt x="89681" y="1"/>
                  </a:lnTo>
                  <a:lnTo>
                    <a:pt x="86573" y="1"/>
                  </a:lnTo>
                  <a:cubicBezTo>
                    <a:pt x="51056" y="1"/>
                    <a:pt x="17981" y="18869"/>
                    <a:pt x="0" y="49725"/>
                  </a:cubicBezTo>
                </a:path>
              </a:pathLst>
            </a:custGeom>
            <a:noFill/>
            <a:ln cap="flat" cmpd="sng" w="9525">
              <a:solidFill>
                <a:srgbClr val="325D79"/>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8"/>
            <p:cNvSpPr/>
            <p:nvPr/>
          </p:nvSpPr>
          <p:spPr>
            <a:xfrm>
              <a:off x="5965975" y="415700"/>
              <a:ext cx="754750" cy="754750"/>
            </a:xfrm>
            <a:custGeom>
              <a:rect b="b" l="l" r="r" t="t"/>
              <a:pathLst>
                <a:path extrusionOk="0" fill="none" h="30190" w="30190">
                  <a:moveTo>
                    <a:pt x="17315" y="0"/>
                  </a:moveTo>
                  <a:cubicBezTo>
                    <a:pt x="5772" y="0"/>
                    <a:pt x="0" y="13763"/>
                    <a:pt x="7992" y="21977"/>
                  </a:cubicBezTo>
                  <a:cubicBezTo>
                    <a:pt x="16205" y="30190"/>
                    <a:pt x="30190" y="24418"/>
                    <a:pt x="30190" y="12875"/>
                  </a:cubicBezTo>
                  <a:cubicBezTo>
                    <a:pt x="30190" y="5772"/>
                    <a:pt x="24418" y="0"/>
                    <a:pt x="17315" y="0"/>
                  </a:cubicBezTo>
                  <a:close/>
                </a:path>
              </a:pathLst>
            </a:custGeom>
            <a:noFill/>
            <a:ln cap="flat" cmpd="sng" w="9525">
              <a:solidFill>
                <a:srgbClr val="E3E9ED"/>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8"/>
            <p:cNvSpPr/>
            <p:nvPr/>
          </p:nvSpPr>
          <p:spPr>
            <a:xfrm>
              <a:off x="699475" y="2457925"/>
              <a:ext cx="5183275" cy="2647150"/>
            </a:xfrm>
            <a:custGeom>
              <a:rect b="b" l="l" r="r" t="t"/>
              <a:pathLst>
                <a:path extrusionOk="0" fill="none" h="105886" w="207331">
                  <a:moveTo>
                    <a:pt x="39513" y="0"/>
                  </a:moveTo>
                  <a:cubicBezTo>
                    <a:pt x="38847" y="4440"/>
                    <a:pt x="38404" y="8880"/>
                    <a:pt x="38626" y="13319"/>
                  </a:cubicBezTo>
                  <a:cubicBezTo>
                    <a:pt x="38404" y="31300"/>
                    <a:pt x="43953" y="48836"/>
                    <a:pt x="54164" y="63487"/>
                  </a:cubicBezTo>
                  <a:lnTo>
                    <a:pt x="18869" y="63487"/>
                  </a:lnTo>
                  <a:cubicBezTo>
                    <a:pt x="8436" y="63487"/>
                    <a:pt x="1" y="71922"/>
                    <a:pt x="1" y="82355"/>
                  </a:cubicBezTo>
                  <a:cubicBezTo>
                    <a:pt x="1" y="92566"/>
                    <a:pt x="8436" y="101002"/>
                    <a:pt x="18869" y="101002"/>
                  </a:cubicBezTo>
                  <a:lnTo>
                    <a:pt x="116097" y="101002"/>
                  </a:lnTo>
                  <a:cubicBezTo>
                    <a:pt x="154277" y="105885"/>
                    <a:pt x="191126" y="85463"/>
                    <a:pt x="207331" y="50390"/>
                  </a:cubicBezTo>
                </a:path>
              </a:pathLst>
            </a:custGeom>
            <a:noFill/>
            <a:ln cap="flat" cmpd="sng" w="9525">
              <a:solidFill>
                <a:srgbClr val="667E92"/>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8"/>
            <p:cNvSpPr/>
            <p:nvPr/>
          </p:nvSpPr>
          <p:spPr>
            <a:xfrm>
              <a:off x="2075775" y="387950"/>
              <a:ext cx="4012325" cy="2402975"/>
            </a:xfrm>
            <a:custGeom>
              <a:rect b="b" l="l" r="r" t="t"/>
              <a:pathLst>
                <a:path extrusionOk="0" fill="none" h="96119" w="160493">
                  <a:moveTo>
                    <a:pt x="160492" y="96118"/>
                  </a:moveTo>
                  <a:cubicBezTo>
                    <a:pt x="160492" y="57494"/>
                    <a:pt x="135630" y="23530"/>
                    <a:pt x="99003" y="11765"/>
                  </a:cubicBezTo>
                  <a:cubicBezTo>
                    <a:pt x="62377" y="0"/>
                    <a:pt x="22420" y="13097"/>
                    <a:pt x="0" y="44397"/>
                  </a:cubicBezTo>
                </a:path>
              </a:pathLst>
            </a:custGeom>
            <a:noFill/>
            <a:ln cap="flat" cmpd="sng" w="9525">
              <a:solidFill>
                <a:srgbClr val="667E92"/>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8"/>
            <p:cNvSpPr/>
            <p:nvPr/>
          </p:nvSpPr>
          <p:spPr>
            <a:xfrm>
              <a:off x="649648" y="670971"/>
              <a:ext cx="5183118" cy="4298214"/>
            </a:xfrm>
            <a:custGeom>
              <a:rect b="b" l="l" r="r" t="t"/>
              <a:pathLst>
                <a:path extrusionOk="0" fill="none" h="170260" w="205333">
                  <a:moveTo>
                    <a:pt x="205333" y="84575"/>
                  </a:moveTo>
                  <a:cubicBezTo>
                    <a:pt x="205333" y="51944"/>
                    <a:pt x="185133" y="22865"/>
                    <a:pt x="154721" y="11322"/>
                  </a:cubicBezTo>
                  <a:cubicBezTo>
                    <a:pt x="124088" y="1"/>
                    <a:pt x="89681" y="8880"/>
                    <a:pt x="68371" y="33520"/>
                  </a:cubicBezTo>
                  <a:lnTo>
                    <a:pt x="18869" y="33520"/>
                  </a:lnTo>
                  <a:cubicBezTo>
                    <a:pt x="8436" y="33520"/>
                    <a:pt x="1" y="41955"/>
                    <a:pt x="1" y="52388"/>
                  </a:cubicBezTo>
                  <a:cubicBezTo>
                    <a:pt x="1" y="62599"/>
                    <a:pt x="8436" y="71034"/>
                    <a:pt x="18869" y="71034"/>
                  </a:cubicBezTo>
                  <a:lnTo>
                    <a:pt x="50612" y="71034"/>
                  </a:lnTo>
                  <a:cubicBezTo>
                    <a:pt x="44175" y="108549"/>
                    <a:pt x="65929" y="145176"/>
                    <a:pt x="101668" y="157607"/>
                  </a:cubicBezTo>
                  <a:cubicBezTo>
                    <a:pt x="137629" y="170260"/>
                    <a:pt x="177363" y="155165"/>
                    <a:pt x="195788" y="121868"/>
                  </a:cubicBezTo>
                </a:path>
              </a:pathLst>
            </a:custGeom>
            <a:noFill/>
            <a:ln cap="flat" cmpd="sng" w="9525">
              <a:solidFill>
                <a:srgbClr val="445D73"/>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8"/>
            <p:cNvSpPr/>
            <p:nvPr/>
          </p:nvSpPr>
          <p:spPr>
            <a:xfrm>
              <a:off x="1731700" y="1059450"/>
              <a:ext cx="5133325" cy="3762600"/>
            </a:xfrm>
            <a:custGeom>
              <a:rect b="b" l="l" r="r" t="t"/>
              <a:pathLst>
                <a:path extrusionOk="0" fill="none" h="150504" w="205333">
                  <a:moveTo>
                    <a:pt x="85685" y="0"/>
                  </a:moveTo>
                  <a:cubicBezTo>
                    <a:pt x="33297" y="222"/>
                    <a:pt x="0" y="56383"/>
                    <a:pt x="25306" y="102333"/>
                  </a:cubicBezTo>
                  <a:cubicBezTo>
                    <a:pt x="50390" y="148283"/>
                    <a:pt x="115652" y="150503"/>
                    <a:pt x="144066" y="106551"/>
                  </a:cubicBezTo>
                  <a:lnTo>
                    <a:pt x="186464" y="106551"/>
                  </a:lnTo>
                  <a:cubicBezTo>
                    <a:pt x="196897" y="106551"/>
                    <a:pt x="205332" y="98116"/>
                    <a:pt x="205332" y="87683"/>
                  </a:cubicBezTo>
                  <a:cubicBezTo>
                    <a:pt x="205332" y="77250"/>
                    <a:pt x="196897" y="68814"/>
                    <a:pt x="186464" y="68814"/>
                  </a:cubicBezTo>
                  <a:lnTo>
                    <a:pt x="154943" y="68814"/>
                  </a:lnTo>
                  <a:cubicBezTo>
                    <a:pt x="154721" y="30856"/>
                    <a:pt x="123865" y="0"/>
                    <a:pt x="85685" y="0"/>
                  </a:cubicBezTo>
                  <a:close/>
                </a:path>
              </a:pathLst>
            </a:custGeom>
            <a:noFill/>
            <a:ln cap="flat" cmpd="sng" w="9525">
              <a:solidFill>
                <a:srgbClr val="869FB1"/>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8"/>
            <p:cNvSpPr/>
            <p:nvPr/>
          </p:nvSpPr>
          <p:spPr>
            <a:xfrm>
              <a:off x="5965975" y="2912975"/>
              <a:ext cx="754750" cy="754775"/>
            </a:xfrm>
            <a:custGeom>
              <a:rect b="b" l="l" r="r" t="t"/>
              <a:pathLst>
                <a:path extrusionOk="0" fill="none" h="30191" w="30190">
                  <a:moveTo>
                    <a:pt x="17315" y="1"/>
                  </a:moveTo>
                  <a:cubicBezTo>
                    <a:pt x="5772" y="1"/>
                    <a:pt x="0" y="13764"/>
                    <a:pt x="7992" y="21977"/>
                  </a:cubicBezTo>
                  <a:cubicBezTo>
                    <a:pt x="16205" y="30190"/>
                    <a:pt x="30190" y="24419"/>
                    <a:pt x="30190" y="12876"/>
                  </a:cubicBezTo>
                  <a:cubicBezTo>
                    <a:pt x="30190" y="5772"/>
                    <a:pt x="24418" y="1"/>
                    <a:pt x="17315" y="1"/>
                  </a:cubicBezTo>
                  <a:close/>
                </a:path>
              </a:pathLst>
            </a:custGeom>
            <a:noFill/>
            <a:ln cap="flat" cmpd="sng" w="9525">
              <a:solidFill>
                <a:srgbClr val="E3E9ED"/>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8"/>
            <p:cNvSpPr/>
            <p:nvPr/>
          </p:nvSpPr>
          <p:spPr>
            <a:xfrm>
              <a:off x="2453125" y="1464550"/>
              <a:ext cx="2874675" cy="2785900"/>
            </a:xfrm>
            <a:custGeom>
              <a:rect b="b" l="l" r="r" t="t"/>
              <a:pathLst>
                <a:path extrusionOk="0" fill="none" h="111436" w="114987">
                  <a:moveTo>
                    <a:pt x="56828" y="1"/>
                  </a:moveTo>
                  <a:cubicBezTo>
                    <a:pt x="31744" y="1"/>
                    <a:pt x="9990" y="17759"/>
                    <a:pt x="4884" y="42621"/>
                  </a:cubicBezTo>
                  <a:cubicBezTo>
                    <a:pt x="1" y="67483"/>
                    <a:pt x="13320" y="92123"/>
                    <a:pt x="36628" y="101890"/>
                  </a:cubicBezTo>
                  <a:cubicBezTo>
                    <a:pt x="59936" y="111435"/>
                    <a:pt x="87017" y="103444"/>
                    <a:pt x="101002" y="82356"/>
                  </a:cubicBezTo>
                  <a:cubicBezTo>
                    <a:pt x="114987" y="61268"/>
                    <a:pt x="112323" y="33298"/>
                    <a:pt x="94343" y="15539"/>
                  </a:cubicBezTo>
                  <a:cubicBezTo>
                    <a:pt x="84353" y="5550"/>
                    <a:pt x="71035" y="1"/>
                    <a:pt x="56828" y="1"/>
                  </a:cubicBezTo>
                  <a:close/>
                </a:path>
              </a:pathLst>
            </a:custGeom>
            <a:noFill/>
            <a:ln cap="flat" cmpd="sng" w="9525">
              <a:solidFill>
                <a:srgbClr val="E3E9ED"/>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8"/>
            <p:cNvSpPr/>
            <p:nvPr/>
          </p:nvSpPr>
          <p:spPr>
            <a:xfrm>
              <a:off x="732775" y="4183825"/>
              <a:ext cx="754775" cy="760300"/>
            </a:xfrm>
            <a:custGeom>
              <a:rect b="b" l="l" r="r" t="t"/>
              <a:pathLst>
                <a:path extrusionOk="0" fill="none" h="30412" w="30191">
                  <a:moveTo>
                    <a:pt x="17315" y="0"/>
                  </a:moveTo>
                  <a:cubicBezTo>
                    <a:pt x="5772" y="0"/>
                    <a:pt x="1" y="13985"/>
                    <a:pt x="7992" y="22199"/>
                  </a:cubicBezTo>
                  <a:cubicBezTo>
                    <a:pt x="16205" y="30412"/>
                    <a:pt x="30190" y="24640"/>
                    <a:pt x="30190" y="13097"/>
                  </a:cubicBezTo>
                  <a:cubicBezTo>
                    <a:pt x="30190" y="5772"/>
                    <a:pt x="24419" y="0"/>
                    <a:pt x="17315" y="0"/>
                  </a:cubicBezTo>
                  <a:close/>
                </a:path>
              </a:pathLst>
            </a:custGeom>
            <a:noFill/>
            <a:ln cap="flat" cmpd="sng" w="9525">
              <a:solidFill>
                <a:srgbClr val="E3E9ED"/>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8"/>
            <p:cNvSpPr/>
            <p:nvPr/>
          </p:nvSpPr>
          <p:spPr>
            <a:xfrm>
              <a:off x="732775" y="1669900"/>
              <a:ext cx="754775" cy="754750"/>
            </a:xfrm>
            <a:custGeom>
              <a:rect b="b" l="l" r="r" t="t"/>
              <a:pathLst>
                <a:path extrusionOk="0" fill="none" h="30190" w="30191">
                  <a:moveTo>
                    <a:pt x="17315" y="0"/>
                  </a:moveTo>
                  <a:cubicBezTo>
                    <a:pt x="5772" y="0"/>
                    <a:pt x="1" y="13985"/>
                    <a:pt x="8214" y="22198"/>
                  </a:cubicBezTo>
                  <a:cubicBezTo>
                    <a:pt x="16205" y="30189"/>
                    <a:pt x="30190" y="24418"/>
                    <a:pt x="30190" y="12875"/>
                  </a:cubicBezTo>
                  <a:cubicBezTo>
                    <a:pt x="30190" y="5772"/>
                    <a:pt x="24419" y="0"/>
                    <a:pt x="17315" y="0"/>
                  </a:cubicBezTo>
                  <a:close/>
                </a:path>
              </a:pathLst>
            </a:custGeom>
            <a:noFill/>
            <a:ln cap="flat" cmpd="sng" w="9525">
              <a:solidFill>
                <a:srgbClr val="E3E9ED"/>
              </a:solidFill>
              <a:prstDash val="solid"/>
              <a:miter lim="22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2" name="Google Shape;272;p8"/>
          <p:cNvGrpSpPr/>
          <p:nvPr/>
        </p:nvGrpSpPr>
        <p:grpSpPr>
          <a:xfrm>
            <a:off x="3048577" y="1905117"/>
            <a:ext cx="291242" cy="283509"/>
            <a:chOff x="5289631" y="1500214"/>
            <a:chExt cx="332355" cy="354974"/>
          </a:xfrm>
        </p:grpSpPr>
        <p:sp>
          <p:nvSpPr>
            <p:cNvPr id="273" name="Google Shape;273;p8"/>
            <p:cNvSpPr/>
            <p:nvPr/>
          </p:nvSpPr>
          <p:spPr>
            <a:xfrm>
              <a:off x="5432603" y="1667040"/>
              <a:ext cx="45651" cy="16157"/>
            </a:xfrm>
            <a:custGeom>
              <a:rect b="b" l="l" r="r" t="t"/>
              <a:pathLst>
                <a:path extrusionOk="0" h="510" w="1441">
                  <a:moveTo>
                    <a:pt x="183" y="0"/>
                  </a:moveTo>
                  <a:cubicBezTo>
                    <a:pt x="140" y="0"/>
                    <a:pt x="96" y="15"/>
                    <a:pt x="60" y="45"/>
                  </a:cubicBezTo>
                  <a:cubicBezTo>
                    <a:pt x="0" y="104"/>
                    <a:pt x="0" y="211"/>
                    <a:pt x="60" y="283"/>
                  </a:cubicBezTo>
                  <a:cubicBezTo>
                    <a:pt x="203" y="426"/>
                    <a:pt x="441" y="509"/>
                    <a:pt x="691" y="509"/>
                  </a:cubicBezTo>
                  <a:cubicBezTo>
                    <a:pt x="965" y="509"/>
                    <a:pt x="1203" y="426"/>
                    <a:pt x="1334" y="283"/>
                  </a:cubicBezTo>
                  <a:cubicBezTo>
                    <a:pt x="1441" y="223"/>
                    <a:pt x="1441" y="128"/>
                    <a:pt x="1370" y="45"/>
                  </a:cubicBezTo>
                  <a:cubicBezTo>
                    <a:pt x="1334" y="15"/>
                    <a:pt x="1292" y="0"/>
                    <a:pt x="1251" y="0"/>
                  </a:cubicBezTo>
                  <a:cubicBezTo>
                    <a:pt x="1209" y="0"/>
                    <a:pt x="1167" y="15"/>
                    <a:pt x="1131" y="45"/>
                  </a:cubicBezTo>
                  <a:cubicBezTo>
                    <a:pt x="1072" y="104"/>
                    <a:pt x="917" y="188"/>
                    <a:pt x="715" y="188"/>
                  </a:cubicBezTo>
                  <a:cubicBezTo>
                    <a:pt x="500" y="188"/>
                    <a:pt x="358" y="104"/>
                    <a:pt x="298" y="45"/>
                  </a:cubicBezTo>
                  <a:cubicBezTo>
                    <a:pt x="268" y="15"/>
                    <a:pt x="227" y="0"/>
                    <a:pt x="183"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8"/>
            <p:cNvSpPr/>
            <p:nvPr/>
          </p:nvSpPr>
          <p:spPr>
            <a:xfrm>
              <a:off x="5416763" y="1628074"/>
              <a:ext cx="10581" cy="15872"/>
            </a:xfrm>
            <a:custGeom>
              <a:rect b="b" l="l" r="r" t="t"/>
              <a:pathLst>
                <a:path extrusionOk="0" h="501" w="334">
                  <a:moveTo>
                    <a:pt x="167" y="1"/>
                  </a:moveTo>
                  <a:cubicBezTo>
                    <a:pt x="84" y="1"/>
                    <a:pt x="0" y="72"/>
                    <a:pt x="0" y="167"/>
                  </a:cubicBezTo>
                  <a:lnTo>
                    <a:pt x="0" y="346"/>
                  </a:lnTo>
                  <a:cubicBezTo>
                    <a:pt x="0" y="429"/>
                    <a:pt x="84" y="501"/>
                    <a:pt x="167" y="501"/>
                  </a:cubicBezTo>
                  <a:cubicBezTo>
                    <a:pt x="262" y="501"/>
                    <a:pt x="334" y="429"/>
                    <a:pt x="334" y="346"/>
                  </a:cubicBezTo>
                  <a:lnTo>
                    <a:pt x="334" y="167"/>
                  </a:lnTo>
                  <a:cubicBezTo>
                    <a:pt x="334" y="72"/>
                    <a:pt x="262" y="1"/>
                    <a:pt x="167" y="1"/>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8"/>
            <p:cNvSpPr/>
            <p:nvPr/>
          </p:nvSpPr>
          <p:spPr>
            <a:xfrm>
              <a:off x="5483893" y="1628074"/>
              <a:ext cx="10233" cy="15872"/>
            </a:xfrm>
            <a:custGeom>
              <a:rect b="b" l="l" r="r" t="t"/>
              <a:pathLst>
                <a:path extrusionOk="0" h="501" w="323">
                  <a:moveTo>
                    <a:pt x="155" y="1"/>
                  </a:moveTo>
                  <a:cubicBezTo>
                    <a:pt x="72" y="1"/>
                    <a:pt x="1" y="72"/>
                    <a:pt x="1" y="167"/>
                  </a:cubicBezTo>
                  <a:lnTo>
                    <a:pt x="1" y="346"/>
                  </a:lnTo>
                  <a:cubicBezTo>
                    <a:pt x="1" y="429"/>
                    <a:pt x="72" y="501"/>
                    <a:pt x="155" y="501"/>
                  </a:cubicBezTo>
                  <a:cubicBezTo>
                    <a:pt x="251" y="501"/>
                    <a:pt x="322" y="429"/>
                    <a:pt x="322" y="346"/>
                  </a:cubicBezTo>
                  <a:lnTo>
                    <a:pt x="322" y="167"/>
                  </a:lnTo>
                  <a:cubicBezTo>
                    <a:pt x="322" y="72"/>
                    <a:pt x="251" y="1"/>
                    <a:pt x="155" y="1"/>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8"/>
            <p:cNvSpPr/>
            <p:nvPr/>
          </p:nvSpPr>
          <p:spPr>
            <a:xfrm>
              <a:off x="5411093" y="1611474"/>
              <a:ext cx="21923" cy="10613"/>
            </a:xfrm>
            <a:custGeom>
              <a:rect b="b" l="l" r="r" t="t"/>
              <a:pathLst>
                <a:path extrusionOk="0" h="335" w="692">
                  <a:moveTo>
                    <a:pt x="167" y="1"/>
                  </a:moveTo>
                  <a:cubicBezTo>
                    <a:pt x="72" y="1"/>
                    <a:pt x="1" y="72"/>
                    <a:pt x="1" y="168"/>
                  </a:cubicBezTo>
                  <a:cubicBezTo>
                    <a:pt x="1" y="251"/>
                    <a:pt x="72" y="334"/>
                    <a:pt x="167" y="334"/>
                  </a:cubicBezTo>
                  <a:lnTo>
                    <a:pt x="525" y="334"/>
                  </a:lnTo>
                  <a:cubicBezTo>
                    <a:pt x="608" y="334"/>
                    <a:pt x="691" y="251"/>
                    <a:pt x="691" y="168"/>
                  </a:cubicBezTo>
                  <a:cubicBezTo>
                    <a:pt x="691" y="72"/>
                    <a:pt x="620" y="1"/>
                    <a:pt x="525" y="1"/>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8"/>
            <p:cNvSpPr/>
            <p:nvPr/>
          </p:nvSpPr>
          <p:spPr>
            <a:xfrm>
              <a:off x="5478254" y="1611474"/>
              <a:ext cx="21511" cy="10613"/>
            </a:xfrm>
            <a:custGeom>
              <a:rect b="b" l="l" r="r" t="t"/>
              <a:pathLst>
                <a:path extrusionOk="0" h="335" w="679">
                  <a:moveTo>
                    <a:pt x="155" y="1"/>
                  </a:moveTo>
                  <a:cubicBezTo>
                    <a:pt x="71" y="1"/>
                    <a:pt x="0" y="72"/>
                    <a:pt x="0" y="168"/>
                  </a:cubicBezTo>
                  <a:cubicBezTo>
                    <a:pt x="0" y="251"/>
                    <a:pt x="71" y="334"/>
                    <a:pt x="155" y="334"/>
                  </a:cubicBezTo>
                  <a:lnTo>
                    <a:pt x="524" y="334"/>
                  </a:lnTo>
                  <a:cubicBezTo>
                    <a:pt x="607" y="334"/>
                    <a:pt x="679" y="251"/>
                    <a:pt x="679" y="168"/>
                  </a:cubicBezTo>
                  <a:cubicBezTo>
                    <a:pt x="679" y="72"/>
                    <a:pt x="607" y="1"/>
                    <a:pt x="524" y="1"/>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8"/>
            <p:cNvSpPr/>
            <p:nvPr/>
          </p:nvSpPr>
          <p:spPr>
            <a:xfrm>
              <a:off x="5289631" y="1500214"/>
              <a:ext cx="332355" cy="354974"/>
            </a:xfrm>
            <a:custGeom>
              <a:rect b="b" l="l" r="r" t="t"/>
              <a:pathLst>
                <a:path extrusionOk="0" h="11205" w="10491">
                  <a:moveTo>
                    <a:pt x="5930" y="322"/>
                  </a:moveTo>
                  <a:cubicBezTo>
                    <a:pt x="6395" y="322"/>
                    <a:pt x="6978" y="596"/>
                    <a:pt x="7347" y="858"/>
                  </a:cubicBezTo>
                  <a:cubicBezTo>
                    <a:pt x="7752" y="1143"/>
                    <a:pt x="8240" y="1655"/>
                    <a:pt x="8335" y="2429"/>
                  </a:cubicBezTo>
                  <a:cubicBezTo>
                    <a:pt x="8395" y="2989"/>
                    <a:pt x="8550" y="3263"/>
                    <a:pt x="8716" y="3513"/>
                  </a:cubicBezTo>
                  <a:cubicBezTo>
                    <a:pt x="8812" y="3680"/>
                    <a:pt x="8895" y="3822"/>
                    <a:pt x="8966" y="4049"/>
                  </a:cubicBezTo>
                  <a:cubicBezTo>
                    <a:pt x="9073" y="4370"/>
                    <a:pt x="9073" y="4632"/>
                    <a:pt x="9073" y="4894"/>
                  </a:cubicBezTo>
                  <a:cubicBezTo>
                    <a:pt x="9073" y="5144"/>
                    <a:pt x="9073" y="5406"/>
                    <a:pt x="9169" y="5715"/>
                  </a:cubicBezTo>
                  <a:cubicBezTo>
                    <a:pt x="9228" y="5918"/>
                    <a:pt x="9300" y="6085"/>
                    <a:pt x="9371" y="6239"/>
                  </a:cubicBezTo>
                  <a:cubicBezTo>
                    <a:pt x="9526" y="6537"/>
                    <a:pt x="9657" y="6799"/>
                    <a:pt x="9645" y="7442"/>
                  </a:cubicBezTo>
                  <a:cubicBezTo>
                    <a:pt x="9621" y="8037"/>
                    <a:pt x="9800" y="8430"/>
                    <a:pt x="9919" y="8740"/>
                  </a:cubicBezTo>
                  <a:cubicBezTo>
                    <a:pt x="10062" y="9049"/>
                    <a:pt x="10145" y="9264"/>
                    <a:pt x="10026" y="9597"/>
                  </a:cubicBezTo>
                  <a:cubicBezTo>
                    <a:pt x="9931" y="9918"/>
                    <a:pt x="9645" y="10133"/>
                    <a:pt x="9454" y="10252"/>
                  </a:cubicBezTo>
                  <a:lnTo>
                    <a:pt x="9454" y="9692"/>
                  </a:lnTo>
                  <a:cubicBezTo>
                    <a:pt x="9454" y="9168"/>
                    <a:pt x="9121" y="8704"/>
                    <a:pt x="8633" y="8549"/>
                  </a:cubicBezTo>
                  <a:lnTo>
                    <a:pt x="6811" y="7906"/>
                  </a:lnTo>
                  <a:cubicBezTo>
                    <a:pt x="6609" y="7835"/>
                    <a:pt x="6454" y="7620"/>
                    <a:pt x="6454" y="7394"/>
                  </a:cubicBezTo>
                  <a:lnTo>
                    <a:pt x="6454" y="6680"/>
                  </a:lnTo>
                  <a:cubicBezTo>
                    <a:pt x="7180" y="6263"/>
                    <a:pt x="7692" y="5465"/>
                    <a:pt x="7692" y="4561"/>
                  </a:cubicBezTo>
                  <a:lnTo>
                    <a:pt x="7692" y="3977"/>
                  </a:lnTo>
                  <a:cubicBezTo>
                    <a:pt x="7704" y="3989"/>
                    <a:pt x="7716" y="3989"/>
                    <a:pt x="7716" y="4001"/>
                  </a:cubicBezTo>
                  <a:cubicBezTo>
                    <a:pt x="8073" y="4263"/>
                    <a:pt x="8300" y="4418"/>
                    <a:pt x="8347" y="4989"/>
                  </a:cubicBezTo>
                  <a:cubicBezTo>
                    <a:pt x="8347" y="5073"/>
                    <a:pt x="8419" y="5132"/>
                    <a:pt x="8514" y="5132"/>
                  </a:cubicBezTo>
                  <a:lnTo>
                    <a:pt x="8526" y="5132"/>
                  </a:lnTo>
                  <a:cubicBezTo>
                    <a:pt x="8609" y="5132"/>
                    <a:pt x="8692" y="5049"/>
                    <a:pt x="8669" y="4953"/>
                  </a:cubicBezTo>
                  <a:cubicBezTo>
                    <a:pt x="8609" y="4239"/>
                    <a:pt x="8276" y="3989"/>
                    <a:pt x="7895" y="3739"/>
                  </a:cubicBezTo>
                  <a:cubicBezTo>
                    <a:pt x="7633" y="3560"/>
                    <a:pt x="7359" y="3370"/>
                    <a:pt x="7121" y="2965"/>
                  </a:cubicBezTo>
                  <a:cubicBezTo>
                    <a:pt x="6728" y="2322"/>
                    <a:pt x="6287" y="2215"/>
                    <a:pt x="5954" y="2132"/>
                  </a:cubicBezTo>
                  <a:cubicBezTo>
                    <a:pt x="5787" y="2084"/>
                    <a:pt x="5633" y="2060"/>
                    <a:pt x="5513" y="1965"/>
                  </a:cubicBezTo>
                  <a:cubicBezTo>
                    <a:pt x="5442" y="1917"/>
                    <a:pt x="5418" y="1834"/>
                    <a:pt x="5418" y="1763"/>
                  </a:cubicBezTo>
                  <a:lnTo>
                    <a:pt x="5418" y="1417"/>
                  </a:lnTo>
                  <a:cubicBezTo>
                    <a:pt x="5418" y="1322"/>
                    <a:pt x="5335" y="1251"/>
                    <a:pt x="5252" y="1251"/>
                  </a:cubicBezTo>
                  <a:cubicBezTo>
                    <a:pt x="5156" y="1251"/>
                    <a:pt x="5085" y="1322"/>
                    <a:pt x="5085" y="1417"/>
                  </a:cubicBezTo>
                  <a:lnTo>
                    <a:pt x="5085" y="1763"/>
                  </a:lnTo>
                  <a:cubicBezTo>
                    <a:pt x="5085" y="1846"/>
                    <a:pt x="5037" y="1917"/>
                    <a:pt x="4978" y="1965"/>
                  </a:cubicBezTo>
                  <a:cubicBezTo>
                    <a:pt x="4859" y="2060"/>
                    <a:pt x="4716" y="2084"/>
                    <a:pt x="4549" y="2132"/>
                  </a:cubicBezTo>
                  <a:cubicBezTo>
                    <a:pt x="4204" y="2215"/>
                    <a:pt x="3763" y="2322"/>
                    <a:pt x="3370" y="2965"/>
                  </a:cubicBezTo>
                  <a:cubicBezTo>
                    <a:pt x="3120" y="3370"/>
                    <a:pt x="2858" y="3549"/>
                    <a:pt x="2596" y="3739"/>
                  </a:cubicBezTo>
                  <a:cubicBezTo>
                    <a:pt x="2227" y="3989"/>
                    <a:pt x="1882" y="4239"/>
                    <a:pt x="1823" y="4953"/>
                  </a:cubicBezTo>
                  <a:cubicBezTo>
                    <a:pt x="1823" y="5049"/>
                    <a:pt x="1882" y="5120"/>
                    <a:pt x="1977" y="5132"/>
                  </a:cubicBezTo>
                  <a:cubicBezTo>
                    <a:pt x="2061" y="5132"/>
                    <a:pt x="2144" y="5073"/>
                    <a:pt x="2156" y="4989"/>
                  </a:cubicBezTo>
                  <a:cubicBezTo>
                    <a:pt x="2204" y="4418"/>
                    <a:pt x="2442" y="4263"/>
                    <a:pt x="2775" y="4001"/>
                  </a:cubicBezTo>
                  <a:cubicBezTo>
                    <a:pt x="3049" y="3822"/>
                    <a:pt x="3358" y="3584"/>
                    <a:pt x="3644" y="3144"/>
                  </a:cubicBezTo>
                  <a:cubicBezTo>
                    <a:pt x="3966" y="2620"/>
                    <a:pt x="4287" y="2525"/>
                    <a:pt x="4621" y="2453"/>
                  </a:cubicBezTo>
                  <a:cubicBezTo>
                    <a:pt x="4835" y="2394"/>
                    <a:pt x="5061" y="2346"/>
                    <a:pt x="5263" y="2179"/>
                  </a:cubicBezTo>
                  <a:cubicBezTo>
                    <a:pt x="5454" y="2346"/>
                    <a:pt x="5680" y="2394"/>
                    <a:pt x="5906" y="2453"/>
                  </a:cubicBezTo>
                  <a:cubicBezTo>
                    <a:pt x="6252" y="2548"/>
                    <a:pt x="6561" y="2620"/>
                    <a:pt x="6883" y="3144"/>
                  </a:cubicBezTo>
                  <a:cubicBezTo>
                    <a:pt x="7049" y="3394"/>
                    <a:pt x="7216" y="3584"/>
                    <a:pt x="7395" y="3715"/>
                  </a:cubicBezTo>
                  <a:lnTo>
                    <a:pt x="7395" y="4525"/>
                  </a:lnTo>
                  <a:cubicBezTo>
                    <a:pt x="7395" y="5680"/>
                    <a:pt x="6454" y="6656"/>
                    <a:pt x="5299" y="6668"/>
                  </a:cubicBezTo>
                  <a:cubicBezTo>
                    <a:pt x="5292" y="6668"/>
                    <a:pt x="5285" y="6668"/>
                    <a:pt x="5277" y="6668"/>
                  </a:cubicBezTo>
                  <a:cubicBezTo>
                    <a:pt x="4109" y="6668"/>
                    <a:pt x="3156" y="5720"/>
                    <a:pt x="3156" y="4549"/>
                  </a:cubicBezTo>
                  <a:lnTo>
                    <a:pt x="3156" y="4489"/>
                  </a:lnTo>
                  <a:cubicBezTo>
                    <a:pt x="3156" y="4406"/>
                    <a:pt x="3073" y="4334"/>
                    <a:pt x="2989" y="4334"/>
                  </a:cubicBezTo>
                  <a:cubicBezTo>
                    <a:pt x="2894" y="4334"/>
                    <a:pt x="2823" y="4406"/>
                    <a:pt x="2823" y="4489"/>
                  </a:cubicBezTo>
                  <a:lnTo>
                    <a:pt x="2823" y="4549"/>
                  </a:lnTo>
                  <a:cubicBezTo>
                    <a:pt x="2823" y="5465"/>
                    <a:pt x="3311" y="6251"/>
                    <a:pt x="4061" y="6680"/>
                  </a:cubicBezTo>
                  <a:lnTo>
                    <a:pt x="4061" y="7394"/>
                  </a:lnTo>
                  <a:cubicBezTo>
                    <a:pt x="4061" y="7620"/>
                    <a:pt x="3906" y="7823"/>
                    <a:pt x="3704" y="7906"/>
                  </a:cubicBezTo>
                  <a:lnTo>
                    <a:pt x="1882" y="8537"/>
                  </a:lnTo>
                  <a:cubicBezTo>
                    <a:pt x="1394" y="8716"/>
                    <a:pt x="1072" y="9180"/>
                    <a:pt x="1072" y="9692"/>
                  </a:cubicBezTo>
                  <a:lnTo>
                    <a:pt x="1072" y="10252"/>
                  </a:lnTo>
                  <a:cubicBezTo>
                    <a:pt x="858" y="10133"/>
                    <a:pt x="596" y="9906"/>
                    <a:pt x="489" y="9597"/>
                  </a:cubicBezTo>
                  <a:cubicBezTo>
                    <a:pt x="370" y="9252"/>
                    <a:pt x="453" y="9049"/>
                    <a:pt x="608" y="8740"/>
                  </a:cubicBezTo>
                  <a:cubicBezTo>
                    <a:pt x="739" y="8418"/>
                    <a:pt x="906" y="8049"/>
                    <a:pt x="894" y="7442"/>
                  </a:cubicBezTo>
                  <a:cubicBezTo>
                    <a:pt x="870" y="6799"/>
                    <a:pt x="1025" y="6513"/>
                    <a:pt x="1156" y="6239"/>
                  </a:cubicBezTo>
                  <a:cubicBezTo>
                    <a:pt x="1227" y="6085"/>
                    <a:pt x="1311" y="5918"/>
                    <a:pt x="1370" y="5715"/>
                  </a:cubicBezTo>
                  <a:cubicBezTo>
                    <a:pt x="1453" y="5406"/>
                    <a:pt x="1453" y="5144"/>
                    <a:pt x="1453" y="4894"/>
                  </a:cubicBezTo>
                  <a:cubicBezTo>
                    <a:pt x="1453" y="4632"/>
                    <a:pt x="1453" y="4370"/>
                    <a:pt x="1561" y="4049"/>
                  </a:cubicBezTo>
                  <a:cubicBezTo>
                    <a:pt x="1632" y="3822"/>
                    <a:pt x="1727" y="3680"/>
                    <a:pt x="1811" y="3513"/>
                  </a:cubicBezTo>
                  <a:cubicBezTo>
                    <a:pt x="1965" y="3263"/>
                    <a:pt x="2120" y="2989"/>
                    <a:pt x="2204" y="2429"/>
                  </a:cubicBezTo>
                  <a:cubicBezTo>
                    <a:pt x="2287" y="1655"/>
                    <a:pt x="2775" y="1155"/>
                    <a:pt x="3180" y="858"/>
                  </a:cubicBezTo>
                  <a:cubicBezTo>
                    <a:pt x="3692" y="489"/>
                    <a:pt x="4251" y="322"/>
                    <a:pt x="4597" y="322"/>
                  </a:cubicBezTo>
                  <a:cubicBezTo>
                    <a:pt x="4763" y="322"/>
                    <a:pt x="4894" y="358"/>
                    <a:pt x="4978" y="429"/>
                  </a:cubicBezTo>
                  <a:cubicBezTo>
                    <a:pt x="5067" y="489"/>
                    <a:pt x="5168" y="518"/>
                    <a:pt x="5268" y="518"/>
                  </a:cubicBezTo>
                  <a:cubicBezTo>
                    <a:pt x="5368" y="518"/>
                    <a:pt x="5466" y="489"/>
                    <a:pt x="5549" y="429"/>
                  </a:cubicBezTo>
                  <a:cubicBezTo>
                    <a:pt x="5656" y="370"/>
                    <a:pt x="5775" y="322"/>
                    <a:pt x="5930" y="322"/>
                  </a:cubicBezTo>
                  <a:close/>
                  <a:moveTo>
                    <a:pt x="4585" y="0"/>
                  </a:moveTo>
                  <a:cubicBezTo>
                    <a:pt x="4109" y="0"/>
                    <a:pt x="3478" y="239"/>
                    <a:pt x="2977" y="596"/>
                  </a:cubicBezTo>
                  <a:cubicBezTo>
                    <a:pt x="2525" y="917"/>
                    <a:pt x="1965" y="1489"/>
                    <a:pt x="1858" y="2382"/>
                  </a:cubicBezTo>
                  <a:cubicBezTo>
                    <a:pt x="1799" y="2870"/>
                    <a:pt x="1668" y="3096"/>
                    <a:pt x="1513" y="3334"/>
                  </a:cubicBezTo>
                  <a:cubicBezTo>
                    <a:pt x="1418" y="3501"/>
                    <a:pt x="1311" y="3680"/>
                    <a:pt x="1239" y="3941"/>
                  </a:cubicBezTo>
                  <a:cubicBezTo>
                    <a:pt x="1132" y="4311"/>
                    <a:pt x="1120" y="4596"/>
                    <a:pt x="1120" y="4882"/>
                  </a:cubicBezTo>
                  <a:cubicBezTo>
                    <a:pt x="1120" y="5120"/>
                    <a:pt x="1120" y="5346"/>
                    <a:pt x="1037" y="5608"/>
                  </a:cubicBezTo>
                  <a:cubicBezTo>
                    <a:pt x="1001" y="5787"/>
                    <a:pt x="918" y="5918"/>
                    <a:pt x="846" y="6073"/>
                  </a:cubicBezTo>
                  <a:cubicBezTo>
                    <a:pt x="703" y="6382"/>
                    <a:pt x="537" y="6716"/>
                    <a:pt x="549" y="7430"/>
                  </a:cubicBezTo>
                  <a:cubicBezTo>
                    <a:pt x="560" y="7966"/>
                    <a:pt x="418" y="8287"/>
                    <a:pt x="287" y="8585"/>
                  </a:cubicBezTo>
                  <a:cubicBezTo>
                    <a:pt x="132" y="8918"/>
                    <a:pt x="1" y="9228"/>
                    <a:pt x="168" y="9692"/>
                  </a:cubicBezTo>
                  <a:cubicBezTo>
                    <a:pt x="346" y="10192"/>
                    <a:pt x="846" y="10514"/>
                    <a:pt x="1061" y="10609"/>
                  </a:cubicBezTo>
                  <a:lnTo>
                    <a:pt x="1061" y="11026"/>
                  </a:lnTo>
                  <a:cubicBezTo>
                    <a:pt x="1061" y="11121"/>
                    <a:pt x="1132" y="11192"/>
                    <a:pt x="1215" y="11192"/>
                  </a:cubicBezTo>
                  <a:cubicBezTo>
                    <a:pt x="1311" y="11192"/>
                    <a:pt x="1382" y="11121"/>
                    <a:pt x="1382" y="11026"/>
                  </a:cubicBezTo>
                  <a:lnTo>
                    <a:pt x="1382" y="9668"/>
                  </a:lnTo>
                  <a:cubicBezTo>
                    <a:pt x="1382" y="9514"/>
                    <a:pt x="1430" y="9359"/>
                    <a:pt x="1501" y="9228"/>
                  </a:cubicBezTo>
                  <a:lnTo>
                    <a:pt x="2275" y="9895"/>
                  </a:lnTo>
                  <a:cubicBezTo>
                    <a:pt x="2394" y="10002"/>
                    <a:pt x="2465" y="10145"/>
                    <a:pt x="2465" y="10299"/>
                  </a:cubicBezTo>
                  <a:lnTo>
                    <a:pt x="2465" y="11026"/>
                  </a:lnTo>
                  <a:cubicBezTo>
                    <a:pt x="2465" y="11121"/>
                    <a:pt x="2549" y="11192"/>
                    <a:pt x="2632" y="11192"/>
                  </a:cubicBezTo>
                  <a:cubicBezTo>
                    <a:pt x="2716" y="11192"/>
                    <a:pt x="2799" y="11121"/>
                    <a:pt x="2799" y="11026"/>
                  </a:cubicBezTo>
                  <a:lnTo>
                    <a:pt x="2799" y="10299"/>
                  </a:lnTo>
                  <a:cubicBezTo>
                    <a:pt x="2799" y="10049"/>
                    <a:pt x="2692" y="9811"/>
                    <a:pt x="2501" y="9645"/>
                  </a:cubicBezTo>
                  <a:lnTo>
                    <a:pt x="1727" y="8978"/>
                  </a:lnTo>
                  <a:cubicBezTo>
                    <a:pt x="1799" y="8918"/>
                    <a:pt x="1882" y="8871"/>
                    <a:pt x="1977" y="8823"/>
                  </a:cubicBezTo>
                  <a:lnTo>
                    <a:pt x="3013" y="8454"/>
                  </a:lnTo>
                  <a:cubicBezTo>
                    <a:pt x="3728" y="9371"/>
                    <a:pt x="4466" y="10002"/>
                    <a:pt x="5192" y="10299"/>
                  </a:cubicBezTo>
                  <a:cubicBezTo>
                    <a:pt x="5204" y="10311"/>
                    <a:pt x="5240" y="10311"/>
                    <a:pt x="5252" y="10311"/>
                  </a:cubicBezTo>
                  <a:cubicBezTo>
                    <a:pt x="5263" y="10311"/>
                    <a:pt x="5299" y="10311"/>
                    <a:pt x="5311" y="10299"/>
                  </a:cubicBezTo>
                  <a:cubicBezTo>
                    <a:pt x="5764" y="10121"/>
                    <a:pt x="6216" y="9811"/>
                    <a:pt x="6668" y="9395"/>
                  </a:cubicBezTo>
                  <a:cubicBezTo>
                    <a:pt x="6728" y="9335"/>
                    <a:pt x="6740" y="9228"/>
                    <a:pt x="6668" y="9156"/>
                  </a:cubicBezTo>
                  <a:cubicBezTo>
                    <a:pt x="6636" y="9124"/>
                    <a:pt x="6590" y="9102"/>
                    <a:pt x="6543" y="9102"/>
                  </a:cubicBezTo>
                  <a:cubicBezTo>
                    <a:pt x="6503" y="9102"/>
                    <a:pt x="6463" y="9118"/>
                    <a:pt x="6430" y="9156"/>
                  </a:cubicBezTo>
                  <a:cubicBezTo>
                    <a:pt x="6025" y="9525"/>
                    <a:pt x="5644" y="9811"/>
                    <a:pt x="5252" y="9966"/>
                  </a:cubicBezTo>
                  <a:cubicBezTo>
                    <a:pt x="4478" y="9633"/>
                    <a:pt x="3811" y="8930"/>
                    <a:pt x="3347" y="8347"/>
                  </a:cubicBezTo>
                  <a:lnTo>
                    <a:pt x="3799" y="8204"/>
                  </a:lnTo>
                  <a:cubicBezTo>
                    <a:pt x="4132" y="8085"/>
                    <a:pt x="4370" y="7751"/>
                    <a:pt x="4370" y="7382"/>
                  </a:cubicBezTo>
                  <a:lnTo>
                    <a:pt x="4370" y="6811"/>
                  </a:lnTo>
                  <a:cubicBezTo>
                    <a:pt x="4656" y="6918"/>
                    <a:pt x="4954" y="6978"/>
                    <a:pt x="5263" y="6978"/>
                  </a:cubicBezTo>
                  <a:cubicBezTo>
                    <a:pt x="5585" y="6978"/>
                    <a:pt x="5883" y="6918"/>
                    <a:pt x="6156" y="6811"/>
                  </a:cubicBezTo>
                  <a:lnTo>
                    <a:pt x="6156" y="7382"/>
                  </a:lnTo>
                  <a:cubicBezTo>
                    <a:pt x="6156" y="7751"/>
                    <a:pt x="6395" y="8085"/>
                    <a:pt x="6740" y="8204"/>
                  </a:cubicBezTo>
                  <a:lnTo>
                    <a:pt x="7192" y="8347"/>
                  </a:lnTo>
                  <a:cubicBezTo>
                    <a:pt x="7097" y="8466"/>
                    <a:pt x="7014" y="8573"/>
                    <a:pt x="6907" y="8692"/>
                  </a:cubicBezTo>
                  <a:cubicBezTo>
                    <a:pt x="6847" y="8763"/>
                    <a:pt x="6847" y="8871"/>
                    <a:pt x="6918" y="8930"/>
                  </a:cubicBezTo>
                  <a:cubicBezTo>
                    <a:pt x="6954" y="8954"/>
                    <a:pt x="6990" y="8978"/>
                    <a:pt x="7026" y="8978"/>
                  </a:cubicBezTo>
                  <a:cubicBezTo>
                    <a:pt x="7073" y="8978"/>
                    <a:pt x="7109" y="8954"/>
                    <a:pt x="7145" y="8918"/>
                  </a:cubicBezTo>
                  <a:cubicBezTo>
                    <a:pt x="7264" y="8787"/>
                    <a:pt x="7383" y="8633"/>
                    <a:pt x="7502" y="8490"/>
                  </a:cubicBezTo>
                  <a:lnTo>
                    <a:pt x="8538" y="8859"/>
                  </a:lnTo>
                  <a:cubicBezTo>
                    <a:pt x="8645" y="8883"/>
                    <a:pt x="8740" y="8942"/>
                    <a:pt x="8812" y="9002"/>
                  </a:cubicBezTo>
                  <a:lnTo>
                    <a:pt x="8038" y="9656"/>
                  </a:lnTo>
                  <a:cubicBezTo>
                    <a:pt x="7847" y="9823"/>
                    <a:pt x="7740" y="10061"/>
                    <a:pt x="7740" y="10311"/>
                  </a:cubicBezTo>
                  <a:lnTo>
                    <a:pt x="7740" y="11038"/>
                  </a:lnTo>
                  <a:cubicBezTo>
                    <a:pt x="7740" y="11133"/>
                    <a:pt x="7811" y="11204"/>
                    <a:pt x="7895" y="11204"/>
                  </a:cubicBezTo>
                  <a:cubicBezTo>
                    <a:pt x="7990" y="11204"/>
                    <a:pt x="8061" y="11133"/>
                    <a:pt x="8061" y="11038"/>
                  </a:cubicBezTo>
                  <a:lnTo>
                    <a:pt x="8061" y="10311"/>
                  </a:lnTo>
                  <a:cubicBezTo>
                    <a:pt x="8061" y="10145"/>
                    <a:pt x="8133" y="10002"/>
                    <a:pt x="8252" y="9918"/>
                  </a:cubicBezTo>
                  <a:lnTo>
                    <a:pt x="9014" y="9264"/>
                  </a:lnTo>
                  <a:cubicBezTo>
                    <a:pt x="9085" y="9395"/>
                    <a:pt x="9133" y="9537"/>
                    <a:pt x="9133" y="9692"/>
                  </a:cubicBezTo>
                  <a:lnTo>
                    <a:pt x="9133" y="11049"/>
                  </a:lnTo>
                  <a:cubicBezTo>
                    <a:pt x="9133" y="11133"/>
                    <a:pt x="9204" y="11204"/>
                    <a:pt x="9300" y="11204"/>
                  </a:cubicBezTo>
                  <a:cubicBezTo>
                    <a:pt x="9383" y="11204"/>
                    <a:pt x="9466" y="11133"/>
                    <a:pt x="9466" y="11049"/>
                  </a:cubicBezTo>
                  <a:lnTo>
                    <a:pt x="9466" y="10633"/>
                  </a:lnTo>
                  <a:cubicBezTo>
                    <a:pt x="9681" y="10514"/>
                    <a:pt x="10193" y="10216"/>
                    <a:pt x="10359" y="9704"/>
                  </a:cubicBezTo>
                  <a:cubicBezTo>
                    <a:pt x="10490" y="9240"/>
                    <a:pt x="10359" y="8930"/>
                    <a:pt x="10228" y="8585"/>
                  </a:cubicBezTo>
                  <a:cubicBezTo>
                    <a:pt x="10085" y="8287"/>
                    <a:pt x="9955" y="7966"/>
                    <a:pt x="9955" y="7430"/>
                  </a:cubicBezTo>
                  <a:cubicBezTo>
                    <a:pt x="9966" y="6716"/>
                    <a:pt x="9812" y="6382"/>
                    <a:pt x="9657" y="6073"/>
                  </a:cubicBezTo>
                  <a:cubicBezTo>
                    <a:pt x="9585" y="5918"/>
                    <a:pt x="9526" y="5787"/>
                    <a:pt x="9466" y="5608"/>
                  </a:cubicBezTo>
                  <a:cubicBezTo>
                    <a:pt x="9395" y="5346"/>
                    <a:pt x="9395" y="5120"/>
                    <a:pt x="9395" y="4882"/>
                  </a:cubicBezTo>
                  <a:cubicBezTo>
                    <a:pt x="9395" y="4596"/>
                    <a:pt x="9395" y="4311"/>
                    <a:pt x="9276" y="3941"/>
                  </a:cubicBezTo>
                  <a:cubicBezTo>
                    <a:pt x="9193" y="3680"/>
                    <a:pt x="9097" y="3513"/>
                    <a:pt x="8990" y="3334"/>
                  </a:cubicBezTo>
                  <a:cubicBezTo>
                    <a:pt x="8835" y="3096"/>
                    <a:pt x="8704" y="2870"/>
                    <a:pt x="8645" y="2382"/>
                  </a:cubicBezTo>
                  <a:cubicBezTo>
                    <a:pt x="8538" y="1489"/>
                    <a:pt x="7978" y="917"/>
                    <a:pt x="7526" y="596"/>
                  </a:cubicBezTo>
                  <a:cubicBezTo>
                    <a:pt x="7026" y="239"/>
                    <a:pt x="6395" y="0"/>
                    <a:pt x="5918" y="0"/>
                  </a:cubicBezTo>
                  <a:cubicBezTo>
                    <a:pt x="5704" y="0"/>
                    <a:pt x="5502" y="48"/>
                    <a:pt x="5359" y="143"/>
                  </a:cubicBezTo>
                  <a:cubicBezTo>
                    <a:pt x="5329" y="167"/>
                    <a:pt x="5290" y="179"/>
                    <a:pt x="5252" y="179"/>
                  </a:cubicBezTo>
                  <a:cubicBezTo>
                    <a:pt x="5213" y="179"/>
                    <a:pt x="5174" y="167"/>
                    <a:pt x="5144" y="143"/>
                  </a:cubicBezTo>
                  <a:cubicBezTo>
                    <a:pt x="5002" y="48"/>
                    <a:pt x="4811" y="0"/>
                    <a:pt x="4585"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9" name="Google Shape;279;p8"/>
          <p:cNvGrpSpPr/>
          <p:nvPr/>
        </p:nvGrpSpPr>
        <p:grpSpPr>
          <a:xfrm>
            <a:off x="1181093" y="2354777"/>
            <a:ext cx="256155" cy="284934"/>
            <a:chOff x="7613518" y="1501354"/>
            <a:chExt cx="264433" cy="353074"/>
          </a:xfrm>
        </p:grpSpPr>
        <p:sp>
          <p:nvSpPr>
            <p:cNvPr id="280" name="Google Shape;280;p8"/>
            <p:cNvSpPr/>
            <p:nvPr/>
          </p:nvSpPr>
          <p:spPr>
            <a:xfrm>
              <a:off x="7707069" y="1628454"/>
              <a:ext cx="10201" cy="16252"/>
            </a:xfrm>
            <a:custGeom>
              <a:rect b="b" l="l" r="r" t="t"/>
              <a:pathLst>
                <a:path extrusionOk="0" h="513" w="322">
                  <a:moveTo>
                    <a:pt x="155" y="1"/>
                  </a:moveTo>
                  <a:cubicBezTo>
                    <a:pt x="71" y="1"/>
                    <a:pt x="0" y="72"/>
                    <a:pt x="0" y="167"/>
                  </a:cubicBezTo>
                  <a:lnTo>
                    <a:pt x="0" y="346"/>
                  </a:lnTo>
                  <a:cubicBezTo>
                    <a:pt x="0" y="429"/>
                    <a:pt x="71" y="513"/>
                    <a:pt x="155" y="513"/>
                  </a:cubicBezTo>
                  <a:cubicBezTo>
                    <a:pt x="250" y="513"/>
                    <a:pt x="322" y="429"/>
                    <a:pt x="322" y="346"/>
                  </a:cubicBezTo>
                  <a:lnTo>
                    <a:pt x="322" y="167"/>
                  </a:lnTo>
                  <a:cubicBezTo>
                    <a:pt x="322" y="72"/>
                    <a:pt x="250" y="1"/>
                    <a:pt x="155" y="1"/>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8"/>
            <p:cNvSpPr/>
            <p:nvPr/>
          </p:nvSpPr>
          <p:spPr>
            <a:xfrm>
              <a:off x="7773439" y="1628454"/>
              <a:ext cx="10201" cy="16252"/>
            </a:xfrm>
            <a:custGeom>
              <a:rect b="b" l="l" r="r" t="t"/>
              <a:pathLst>
                <a:path extrusionOk="0" h="513" w="322">
                  <a:moveTo>
                    <a:pt x="167" y="1"/>
                  </a:moveTo>
                  <a:cubicBezTo>
                    <a:pt x="72" y="1"/>
                    <a:pt x="1" y="72"/>
                    <a:pt x="1" y="167"/>
                  </a:cubicBezTo>
                  <a:lnTo>
                    <a:pt x="1" y="346"/>
                  </a:lnTo>
                  <a:cubicBezTo>
                    <a:pt x="1" y="429"/>
                    <a:pt x="72" y="513"/>
                    <a:pt x="167" y="513"/>
                  </a:cubicBezTo>
                  <a:cubicBezTo>
                    <a:pt x="251" y="513"/>
                    <a:pt x="322" y="429"/>
                    <a:pt x="322" y="346"/>
                  </a:cubicBezTo>
                  <a:lnTo>
                    <a:pt x="322" y="167"/>
                  </a:lnTo>
                  <a:cubicBezTo>
                    <a:pt x="322" y="72"/>
                    <a:pt x="251" y="1"/>
                    <a:pt x="167" y="1"/>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8"/>
            <p:cNvSpPr/>
            <p:nvPr/>
          </p:nvSpPr>
          <p:spPr>
            <a:xfrm>
              <a:off x="7613518" y="1501354"/>
              <a:ext cx="264433" cy="353074"/>
            </a:xfrm>
            <a:custGeom>
              <a:rect b="b" l="l" r="r" t="t"/>
              <a:pathLst>
                <a:path extrusionOk="0" h="11145" w="8347">
                  <a:moveTo>
                    <a:pt x="4156" y="334"/>
                  </a:moveTo>
                  <a:cubicBezTo>
                    <a:pt x="5703" y="334"/>
                    <a:pt x="6954" y="1584"/>
                    <a:pt x="6954" y="3132"/>
                  </a:cubicBezTo>
                  <a:lnTo>
                    <a:pt x="6954" y="4358"/>
                  </a:lnTo>
                  <a:cubicBezTo>
                    <a:pt x="6954" y="5263"/>
                    <a:pt x="7156" y="5941"/>
                    <a:pt x="7335" y="6382"/>
                  </a:cubicBezTo>
                  <a:cubicBezTo>
                    <a:pt x="7346" y="6418"/>
                    <a:pt x="7346" y="6465"/>
                    <a:pt x="7335" y="6513"/>
                  </a:cubicBezTo>
                  <a:cubicBezTo>
                    <a:pt x="7323" y="6561"/>
                    <a:pt x="7275" y="6596"/>
                    <a:pt x="7227" y="6620"/>
                  </a:cubicBezTo>
                  <a:cubicBezTo>
                    <a:pt x="7156" y="6644"/>
                    <a:pt x="7073" y="6680"/>
                    <a:pt x="6989" y="6703"/>
                  </a:cubicBezTo>
                  <a:cubicBezTo>
                    <a:pt x="6787" y="6441"/>
                    <a:pt x="6442" y="6263"/>
                    <a:pt x="6072" y="6263"/>
                  </a:cubicBezTo>
                  <a:lnTo>
                    <a:pt x="5846" y="6263"/>
                  </a:lnTo>
                  <a:cubicBezTo>
                    <a:pt x="6299" y="5810"/>
                    <a:pt x="6584" y="5203"/>
                    <a:pt x="6584" y="4525"/>
                  </a:cubicBezTo>
                  <a:lnTo>
                    <a:pt x="6584" y="3834"/>
                  </a:lnTo>
                  <a:cubicBezTo>
                    <a:pt x="6584" y="3358"/>
                    <a:pt x="6192" y="2977"/>
                    <a:pt x="5715" y="2977"/>
                  </a:cubicBezTo>
                  <a:lnTo>
                    <a:pt x="5430" y="2977"/>
                  </a:lnTo>
                  <a:lnTo>
                    <a:pt x="4620" y="2155"/>
                  </a:lnTo>
                  <a:cubicBezTo>
                    <a:pt x="4588" y="2123"/>
                    <a:pt x="4546" y="2108"/>
                    <a:pt x="4503" y="2108"/>
                  </a:cubicBezTo>
                  <a:cubicBezTo>
                    <a:pt x="4482" y="2108"/>
                    <a:pt x="4461" y="2112"/>
                    <a:pt x="4441" y="2120"/>
                  </a:cubicBezTo>
                  <a:cubicBezTo>
                    <a:pt x="4382" y="2155"/>
                    <a:pt x="4334" y="2215"/>
                    <a:pt x="4334" y="2274"/>
                  </a:cubicBezTo>
                  <a:lnTo>
                    <a:pt x="4334" y="2989"/>
                  </a:lnTo>
                  <a:lnTo>
                    <a:pt x="3453" y="2989"/>
                  </a:lnTo>
                  <a:cubicBezTo>
                    <a:pt x="3370" y="2989"/>
                    <a:pt x="3286" y="3060"/>
                    <a:pt x="3286" y="3155"/>
                  </a:cubicBezTo>
                  <a:cubicBezTo>
                    <a:pt x="3286" y="3239"/>
                    <a:pt x="3370" y="3310"/>
                    <a:pt x="3453" y="3310"/>
                  </a:cubicBezTo>
                  <a:lnTo>
                    <a:pt x="4501" y="3310"/>
                  </a:lnTo>
                  <a:cubicBezTo>
                    <a:pt x="4584" y="3310"/>
                    <a:pt x="4656" y="3239"/>
                    <a:pt x="4656" y="3155"/>
                  </a:cubicBezTo>
                  <a:lnTo>
                    <a:pt x="4656" y="2679"/>
                  </a:lnTo>
                  <a:lnTo>
                    <a:pt x="5251" y="3274"/>
                  </a:lnTo>
                  <a:cubicBezTo>
                    <a:pt x="5287" y="3298"/>
                    <a:pt x="5322" y="3310"/>
                    <a:pt x="5370" y="3310"/>
                  </a:cubicBezTo>
                  <a:lnTo>
                    <a:pt x="5715" y="3310"/>
                  </a:lnTo>
                  <a:cubicBezTo>
                    <a:pt x="6013" y="3310"/>
                    <a:pt x="6251" y="3548"/>
                    <a:pt x="6251" y="3846"/>
                  </a:cubicBezTo>
                  <a:lnTo>
                    <a:pt x="6251" y="4548"/>
                  </a:lnTo>
                  <a:cubicBezTo>
                    <a:pt x="6251" y="5715"/>
                    <a:pt x="5310" y="6644"/>
                    <a:pt x="4156" y="6644"/>
                  </a:cubicBezTo>
                  <a:cubicBezTo>
                    <a:pt x="2989" y="6644"/>
                    <a:pt x="2048" y="5715"/>
                    <a:pt x="2048" y="4548"/>
                  </a:cubicBezTo>
                  <a:lnTo>
                    <a:pt x="2048" y="3834"/>
                  </a:lnTo>
                  <a:cubicBezTo>
                    <a:pt x="2048" y="3536"/>
                    <a:pt x="2286" y="3298"/>
                    <a:pt x="2584" y="3298"/>
                  </a:cubicBezTo>
                  <a:lnTo>
                    <a:pt x="2763" y="3298"/>
                  </a:lnTo>
                  <a:cubicBezTo>
                    <a:pt x="2858" y="3298"/>
                    <a:pt x="2929" y="3227"/>
                    <a:pt x="2929" y="3132"/>
                  </a:cubicBezTo>
                  <a:cubicBezTo>
                    <a:pt x="2929" y="3048"/>
                    <a:pt x="2858" y="2965"/>
                    <a:pt x="2763" y="2965"/>
                  </a:cubicBezTo>
                  <a:lnTo>
                    <a:pt x="2584" y="2965"/>
                  </a:lnTo>
                  <a:cubicBezTo>
                    <a:pt x="2108" y="2965"/>
                    <a:pt x="1727" y="3358"/>
                    <a:pt x="1727" y="3834"/>
                  </a:cubicBezTo>
                  <a:lnTo>
                    <a:pt x="1727" y="4536"/>
                  </a:lnTo>
                  <a:cubicBezTo>
                    <a:pt x="1727" y="5215"/>
                    <a:pt x="2012" y="5822"/>
                    <a:pt x="2453" y="6275"/>
                  </a:cubicBezTo>
                  <a:lnTo>
                    <a:pt x="2227" y="6275"/>
                  </a:lnTo>
                  <a:cubicBezTo>
                    <a:pt x="1858" y="6275"/>
                    <a:pt x="1536" y="6441"/>
                    <a:pt x="1310" y="6703"/>
                  </a:cubicBezTo>
                  <a:cubicBezTo>
                    <a:pt x="1239" y="6680"/>
                    <a:pt x="1143" y="6644"/>
                    <a:pt x="1072" y="6620"/>
                  </a:cubicBezTo>
                  <a:cubicBezTo>
                    <a:pt x="1024" y="6596"/>
                    <a:pt x="989" y="6561"/>
                    <a:pt x="965" y="6513"/>
                  </a:cubicBezTo>
                  <a:cubicBezTo>
                    <a:pt x="953" y="6465"/>
                    <a:pt x="953" y="6418"/>
                    <a:pt x="965" y="6382"/>
                  </a:cubicBezTo>
                  <a:cubicBezTo>
                    <a:pt x="1143" y="5965"/>
                    <a:pt x="1358" y="5263"/>
                    <a:pt x="1358" y="4358"/>
                  </a:cubicBezTo>
                  <a:lnTo>
                    <a:pt x="1358" y="3132"/>
                  </a:lnTo>
                  <a:cubicBezTo>
                    <a:pt x="1358" y="1584"/>
                    <a:pt x="2608" y="334"/>
                    <a:pt x="4156" y="334"/>
                  </a:cubicBezTo>
                  <a:close/>
                  <a:moveTo>
                    <a:pt x="2953" y="7096"/>
                  </a:moveTo>
                  <a:lnTo>
                    <a:pt x="2953" y="7108"/>
                  </a:lnTo>
                  <a:lnTo>
                    <a:pt x="2953" y="7334"/>
                  </a:lnTo>
                  <a:cubicBezTo>
                    <a:pt x="2953" y="7537"/>
                    <a:pt x="2834" y="7739"/>
                    <a:pt x="2632" y="7823"/>
                  </a:cubicBezTo>
                  <a:lnTo>
                    <a:pt x="2155" y="7513"/>
                  </a:lnTo>
                  <a:cubicBezTo>
                    <a:pt x="2060" y="7454"/>
                    <a:pt x="2060" y="7334"/>
                    <a:pt x="2072" y="7263"/>
                  </a:cubicBezTo>
                  <a:cubicBezTo>
                    <a:pt x="2096" y="7180"/>
                    <a:pt x="2155" y="7096"/>
                    <a:pt x="2274" y="7096"/>
                  </a:cubicBezTo>
                  <a:close/>
                  <a:moveTo>
                    <a:pt x="6025" y="7108"/>
                  </a:moveTo>
                  <a:cubicBezTo>
                    <a:pt x="6144" y="7108"/>
                    <a:pt x="6227" y="7180"/>
                    <a:pt x="6239" y="7275"/>
                  </a:cubicBezTo>
                  <a:cubicBezTo>
                    <a:pt x="6263" y="7346"/>
                    <a:pt x="6251" y="7454"/>
                    <a:pt x="6144" y="7525"/>
                  </a:cubicBezTo>
                  <a:lnTo>
                    <a:pt x="5668" y="7835"/>
                  </a:lnTo>
                  <a:cubicBezTo>
                    <a:pt x="5489" y="7751"/>
                    <a:pt x="5370" y="7561"/>
                    <a:pt x="5370" y="7346"/>
                  </a:cubicBezTo>
                  <a:lnTo>
                    <a:pt x="5370" y="7108"/>
                  </a:lnTo>
                  <a:close/>
                  <a:moveTo>
                    <a:pt x="6096" y="6584"/>
                  </a:moveTo>
                  <a:cubicBezTo>
                    <a:pt x="6596" y="6584"/>
                    <a:pt x="6977" y="6989"/>
                    <a:pt x="6977" y="7465"/>
                  </a:cubicBezTo>
                  <a:cubicBezTo>
                    <a:pt x="6965" y="8477"/>
                    <a:pt x="6180" y="9311"/>
                    <a:pt x="5191" y="9406"/>
                  </a:cubicBezTo>
                  <a:lnTo>
                    <a:pt x="5191" y="9228"/>
                  </a:lnTo>
                  <a:cubicBezTo>
                    <a:pt x="5191" y="9132"/>
                    <a:pt x="5120" y="9061"/>
                    <a:pt x="5037" y="9061"/>
                  </a:cubicBezTo>
                  <a:cubicBezTo>
                    <a:pt x="4941" y="9061"/>
                    <a:pt x="4870" y="9132"/>
                    <a:pt x="4870" y="9228"/>
                  </a:cubicBezTo>
                  <a:lnTo>
                    <a:pt x="4870" y="9406"/>
                  </a:lnTo>
                  <a:lnTo>
                    <a:pt x="3453" y="9406"/>
                  </a:lnTo>
                  <a:lnTo>
                    <a:pt x="3453" y="9228"/>
                  </a:lnTo>
                  <a:cubicBezTo>
                    <a:pt x="3453" y="9132"/>
                    <a:pt x="3382" y="9061"/>
                    <a:pt x="3286" y="9061"/>
                  </a:cubicBezTo>
                  <a:cubicBezTo>
                    <a:pt x="3203" y="9061"/>
                    <a:pt x="3132" y="9132"/>
                    <a:pt x="3132" y="9228"/>
                  </a:cubicBezTo>
                  <a:lnTo>
                    <a:pt x="3132" y="9406"/>
                  </a:lnTo>
                  <a:cubicBezTo>
                    <a:pt x="2143" y="9311"/>
                    <a:pt x="1358" y="8489"/>
                    <a:pt x="1358" y="7477"/>
                  </a:cubicBezTo>
                  <a:cubicBezTo>
                    <a:pt x="1358" y="6989"/>
                    <a:pt x="1762" y="6608"/>
                    <a:pt x="2239" y="6608"/>
                  </a:cubicBezTo>
                  <a:lnTo>
                    <a:pt x="2870" y="6608"/>
                  </a:lnTo>
                  <a:cubicBezTo>
                    <a:pt x="2905" y="6620"/>
                    <a:pt x="2917" y="6632"/>
                    <a:pt x="2953" y="6644"/>
                  </a:cubicBezTo>
                  <a:lnTo>
                    <a:pt x="2953" y="6799"/>
                  </a:lnTo>
                  <a:lnTo>
                    <a:pt x="2298" y="6799"/>
                  </a:lnTo>
                  <a:cubicBezTo>
                    <a:pt x="2036" y="6799"/>
                    <a:pt x="1846" y="6942"/>
                    <a:pt x="1774" y="7180"/>
                  </a:cubicBezTo>
                  <a:cubicBezTo>
                    <a:pt x="1703" y="7418"/>
                    <a:pt x="1786" y="7656"/>
                    <a:pt x="2001" y="7799"/>
                  </a:cubicBezTo>
                  <a:lnTo>
                    <a:pt x="3786" y="8989"/>
                  </a:lnTo>
                  <a:cubicBezTo>
                    <a:pt x="3906" y="9061"/>
                    <a:pt x="4037" y="9108"/>
                    <a:pt x="4167" y="9108"/>
                  </a:cubicBezTo>
                  <a:cubicBezTo>
                    <a:pt x="4298" y="9108"/>
                    <a:pt x="4441" y="9061"/>
                    <a:pt x="4560" y="8989"/>
                  </a:cubicBezTo>
                  <a:lnTo>
                    <a:pt x="4953" y="8716"/>
                  </a:lnTo>
                  <a:cubicBezTo>
                    <a:pt x="5037" y="8668"/>
                    <a:pt x="5049" y="8573"/>
                    <a:pt x="5001" y="8489"/>
                  </a:cubicBezTo>
                  <a:cubicBezTo>
                    <a:pt x="4972" y="8446"/>
                    <a:pt x="4927" y="8425"/>
                    <a:pt x="4877" y="8425"/>
                  </a:cubicBezTo>
                  <a:cubicBezTo>
                    <a:pt x="4843" y="8425"/>
                    <a:pt x="4808" y="8435"/>
                    <a:pt x="4775" y="8454"/>
                  </a:cubicBezTo>
                  <a:lnTo>
                    <a:pt x="4382" y="8716"/>
                  </a:lnTo>
                  <a:cubicBezTo>
                    <a:pt x="4322" y="8751"/>
                    <a:pt x="4251" y="8769"/>
                    <a:pt x="4179" y="8769"/>
                  </a:cubicBezTo>
                  <a:cubicBezTo>
                    <a:pt x="4108" y="8769"/>
                    <a:pt x="4037" y="8751"/>
                    <a:pt x="3977" y="8716"/>
                  </a:cubicBezTo>
                  <a:lnTo>
                    <a:pt x="2941" y="8037"/>
                  </a:lnTo>
                  <a:cubicBezTo>
                    <a:pt x="3155" y="7870"/>
                    <a:pt x="3286" y="7620"/>
                    <a:pt x="3286" y="7346"/>
                  </a:cubicBezTo>
                  <a:lnTo>
                    <a:pt x="3286" y="6799"/>
                  </a:lnTo>
                  <a:cubicBezTo>
                    <a:pt x="3560" y="6906"/>
                    <a:pt x="3858" y="6965"/>
                    <a:pt x="4167" y="6965"/>
                  </a:cubicBezTo>
                  <a:cubicBezTo>
                    <a:pt x="4477" y="6965"/>
                    <a:pt x="4775" y="6906"/>
                    <a:pt x="5049" y="6799"/>
                  </a:cubicBezTo>
                  <a:lnTo>
                    <a:pt x="5049" y="7346"/>
                  </a:lnTo>
                  <a:cubicBezTo>
                    <a:pt x="5049" y="7620"/>
                    <a:pt x="5180" y="7870"/>
                    <a:pt x="5394" y="8037"/>
                  </a:cubicBezTo>
                  <a:cubicBezTo>
                    <a:pt x="5310" y="8073"/>
                    <a:pt x="5299" y="8180"/>
                    <a:pt x="5346" y="8251"/>
                  </a:cubicBezTo>
                  <a:cubicBezTo>
                    <a:pt x="5370" y="8299"/>
                    <a:pt x="5430" y="8335"/>
                    <a:pt x="5477" y="8335"/>
                  </a:cubicBezTo>
                  <a:cubicBezTo>
                    <a:pt x="5513" y="8335"/>
                    <a:pt x="5537" y="8311"/>
                    <a:pt x="5572" y="8299"/>
                  </a:cubicBezTo>
                  <a:lnTo>
                    <a:pt x="6346" y="7775"/>
                  </a:lnTo>
                  <a:cubicBezTo>
                    <a:pt x="6549" y="7644"/>
                    <a:pt x="6644" y="7406"/>
                    <a:pt x="6561" y="7168"/>
                  </a:cubicBezTo>
                  <a:cubicBezTo>
                    <a:pt x="6489" y="6930"/>
                    <a:pt x="6287" y="6787"/>
                    <a:pt x="6049" y="6787"/>
                  </a:cubicBezTo>
                  <a:lnTo>
                    <a:pt x="5394" y="6787"/>
                  </a:lnTo>
                  <a:lnTo>
                    <a:pt x="5394" y="6632"/>
                  </a:lnTo>
                  <a:cubicBezTo>
                    <a:pt x="5418" y="6620"/>
                    <a:pt x="5430" y="6608"/>
                    <a:pt x="5465" y="6584"/>
                  </a:cubicBezTo>
                  <a:close/>
                  <a:moveTo>
                    <a:pt x="4167" y="0"/>
                  </a:moveTo>
                  <a:cubicBezTo>
                    <a:pt x="2441" y="0"/>
                    <a:pt x="1048" y="1393"/>
                    <a:pt x="1048" y="3120"/>
                  </a:cubicBezTo>
                  <a:lnTo>
                    <a:pt x="1048" y="4346"/>
                  </a:lnTo>
                  <a:cubicBezTo>
                    <a:pt x="1048" y="5239"/>
                    <a:pt x="822" y="5906"/>
                    <a:pt x="691" y="6227"/>
                  </a:cubicBezTo>
                  <a:cubicBezTo>
                    <a:pt x="631" y="6346"/>
                    <a:pt x="631" y="6501"/>
                    <a:pt x="691" y="6620"/>
                  </a:cubicBezTo>
                  <a:cubicBezTo>
                    <a:pt x="750" y="6751"/>
                    <a:pt x="834" y="6846"/>
                    <a:pt x="965" y="6906"/>
                  </a:cubicBezTo>
                  <a:cubicBezTo>
                    <a:pt x="1024" y="6930"/>
                    <a:pt x="1084" y="6942"/>
                    <a:pt x="1143" y="6977"/>
                  </a:cubicBezTo>
                  <a:cubicBezTo>
                    <a:pt x="1084" y="7120"/>
                    <a:pt x="1048" y="7287"/>
                    <a:pt x="1048" y="7465"/>
                  </a:cubicBezTo>
                  <a:cubicBezTo>
                    <a:pt x="1048" y="7775"/>
                    <a:pt x="1108" y="8061"/>
                    <a:pt x="1227" y="8335"/>
                  </a:cubicBezTo>
                  <a:lnTo>
                    <a:pt x="810" y="8477"/>
                  </a:lnTo>
                  <a:cubicBezTo>
                    <a:pt x="334" y="8644"/>
                    <a:pt x="0" y="9108"/>
                    <a:pt x="0" y="9620"/>
                  </a:cubicBezTo>
                  <a:lnTo>
                    <a:pt x="0" y="10978"/>
                  </a:lnTo>
                  <a:cubicBezTo>
                    <a:pt x="0" y="11073"/>
                    <a:pt x="72" y="11144"/>
                    <a:pt x="167" y="11144"/>
                  </a:cubicBezTo>
                  <a:cubicBezTo>
                    <a:pt x="250" y="11144"/>
                    <a:pt x="334" y="11073"/>
                    <a:pt x="334" y="10978"/>
                  </a:cubicBezTo>
                  <a:lnTo>
                    <a:pt x="334" y="9620"/>
                  </a:lnTo>
                  <a:cubicBezTo>
                    <a:pt x="334" y="9525"/>
                    <a:pt x="346" y="9418"/>
                    <a:pt x="393" y="9311"/>
                  </a:cubicBezTo>
                  <a:lnTo>
                    <a:pt x="1203" y="10013"/>
                  </a:lnTo>
                  <a:cubicBezTo>
                    <a:pt x="1322" y="10109"/>
                    <a:pt x="1405" y="10263"/>
                    <a:pt x="1405" y="10406"/>
                  </a:cubicBezTo>
                  <a:lnTo>
                    <a:pt x="1405" y="10966"/>
                  </a:lnTo>
                  <a:cubicBezTo>
                    <a:pt x="1405" y="11049"/>
                    <a:pt x="1477" y="11121"/>
                    <a:pt x="1560" y="11121"/>
                  </a:cubicBezTo>
                  <a:cubicBezTo>
                    <a:pt x="1655" y="11121"/>
                    <a:pt x="1727" y="11049"/>
                    <a:pt x="1727" y="10966"/>
                  </a:cubicBezTo>
                  <a:lnTo>
                    <a:pt x="1727" y="10406"/>
                  </a:lnTo>
                  <a:cubicBezTo>
                    <a:pt x="1727" y="10156"/>
                    <a:pt x="1620" y="9918"/>
                    <a:pt x="1429" y="9751"/>
                  </a:cubicBezTo>
                  <a:lnTo>
                    <a:pt x="560" y="9013"/>
                  </a:lnTo>
                  <a:cubicBezTo>
                    <a:pt x="655" y="8906"/>
                    <a:pt x="786" y="8823"/>
                    <a:pt x="929" y="8775"/>
                  </a:cubicBezTo>
                  <a:lnTo>
                    <a:pt x="1370" y="8608"/>
                  </a:lnTo>
                  <a:cubicBezTo>
                    <a:pt x="1739" y="9216"/>
                    <a:pt x="2382" y="9656"/>
                    <a:pt x="3144" y="9692"/>
                  </a:cubicBezTo>
                  <a:lnTo>
                    <a:pt x="3144" y="10930"/>
                  </a:lnTo>
                  <a:cubicBezTo>
                    <a:pt x="3144" y="11025"/>
                    <a:pt x="3215" y="11097"/>
                    <a:pt x="3310" y="11097"/>
                  </a:cubicBezTo>
                  <a:cubicBezTo>
                    <a:pt x="3394" y="11097"/>
                    <a:pt x="3465" y="11025"/>
                    <a:pt x="3465" y="10930"/>
                  </a:cubicBezTo>
                  <a:lnTo>
                    <a:pt x="3465" y="9692"/>
                  </a:lnTo>
                  <a:lnTo>
                    <a:pt x="4882" y="9692"/>
                  </a:lnTo>
                  <a:lnTo>
                    <a:pt x="4882" y="10930"/>
                  </a:lnTo>
                  <a:cubicBezTo>
                    <a:pt x="4882" y="11025"/>
                    <a:pt x="4953" y="11097"/>
                    <a:pt x="5049" y="11097"/>
                  </a:cubicBezTo>
                  <a:cubicBezTo>
                    <a:pt x="5132" y="11097"/>
                    <a:pt x="5203" y="11025"/>
                    <a:pt x="5203" y="10930"/>
                  </a:cubicBezTo>
                  <a:lnTo>
                    <a:pt x="5203" y="9692"/>
                  </a:lnTo>
                  <a:cubicBezTo>
                    <a:pt x="5953" y="9632"/>
                    <a:pt x="6608" y="9216"/>
                    <a:pt x="6977" y="8608"/>
                  </a:cubicBezTo>
                  <a:lnTo>
                    <a:pt x="7430" y="8775"/>
                  </a:lnTo>
                  <a:cubicBezTo>
                    <a:pt x="7561" y="8823"/>
                    <a:pt x="7692" y="8906"/>
                    <a:pt x="7787" y="9013"/>
                  </a:cubicBezTo>
                  <a:lnTo>
                    <a:pt x="6918" y="9751"/>
                  </a:lnTo>
                  <a:cubicBezTo>
                    <a:pt x="6727" y="9918"/>
                    <a:pt x="6620" y="10156"/>
                    <a:pt x="6620" y="10406"/>
                  </a:cubicBezTo>
                  <a:lnTo>
                    <a:pt x="6620" y="10966"/>
                  </a:lnTo>
                  <a:cubicBezTo>
                    <a:pt x="6620" y="11049"/>
                    <a:pt x="6692" y="11121"/>
                    <a:pt x="6787" y="11121"/>
                  </a:cubicBezTo>
                  <a:cubicBezTo>
                    <a:pt x="6870" y="11121"/>
                    <a:pt x="6954" y="11049"/>
                    <a:pt x="6954" y="10966"/>
                  </a:cubicBezTo>
                  <a:lnTo>
                    <a:pt x="6954" y="10406"/>
                  </a:lnTo>
                  <a:cubicBezTo>
                    <a:pt x="6954" y="10263"/>
                    <a:pt x="7025" y="10109"/>
                    <a:pt x="7144" y="10013"/>
                  </a:cubicBezTo>
                  <a:lnTo>
                    <a:pt x="7966" y="9311"/>
                  </a:lnTo>
                  <a:cubicBezTo>
                    <a:pt x="7989" y="9418"/>
                    <a:pt x="8025" y="9513"/>
                    <a:pt x="8025" y="9620"/>
                  </a:cubicBezTo>
                  <a:lnTo>
                    <a:pt x="8025" y="10978"/>
                  </a:lnTo>
                  <a:cubicBezTo>
                    <a:pt x="8025" y="11073"/>
                    <a:pt x="8097" y="11144"/>
                    <a:pt x="8180" y="11144"/>
                  </a:cubicBezTo>
                  <a:cubicBezTo>
                    <a:pt x="8275" y="11144"/>
                    <a:pt x="8347" y="11073"/>
                    <a:pt x="8347" y="10978"/>
                  </a:cubicBezTo>
                  <a:lnTo>
                    <a:pt x="8347" y="9620"/>
                  </a:lnTo>
                  <a:cubicBezTo>
                    <a:pt x="8335" y="9120"/>
                    <a:pt x="8013" y="8656"/>
                    <a:pt x="7537" y="8477"/>
                  </a:cubicBezTo>
                  <a:lnTo>
                    <a:pt x="7120" y="8335"/>
                  </a:lnTo>
                  <a:cubicBezTo>
                    <a:pt x="7215" y="8061"/>
                    <a:pt x="7299" y="7775"/>
                    <a:pt x="7299" y="7465"/>
                  </a:cubicBezTo>
                  <a:cubicBezTo>
                    <a:pt x="7299" y="7287"/>
                    <a:pt x="7251" y="7120"/>
                    <a:pt x="7192" y="6977"/>
                  </a:cubicBezTo>
                  <a:cubicBezTo>
                    <a:pt x="7251" y="6942"/>
                    <a:pt x="7311" y="6930"/>
                    <a:pt x="7370" y="6906"/>
                  </a:cubicBezTo>
                  <a:cubicBezTo>
                    <a:pt x="7501" y="6858"/>
                    <a:pt x="7596" y="6751"/>
                    <a:pt x="7656" y="6620"/>
                  </a:cubicBezTo>
                  <a:cubicBezTo>
                    <a:pt x="7716" y="6501"/>
                    <a:pt x="7716" y="6346"/>
                    <a:pt x="7656" y="6227"/>
                  </a:cubicBezTo>
                  <a:cubicBezTo>
                    <a:pt x="7513" y="5906"/>
                    <a:pt x="7299" y="5239"/>
                    <a:pt x="7299" y="4346"/>
                  </a:cubicBezTo>
                  <a:lnTo>
                    <a:pt x="7299" y="3120"/>
                  </a:lnTo>
                  <a:cubicBezTo>
                    <a:pt x="7299" y="1393"/>
                    <a:pt x="5894" y="0"/>
                    <a:pt x="4167"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8"/>
            <p:cNvSpPr/>
            <p:nvPr/>
          </p:nvSpPr>
          <p:spPr>
            <a:xfrm>
              <a:off x="7701778" y="1611474"/>
              <a:ext cx="21162" cy="10613"/>
            </a:xfrm>
            <a:custGeom>
              <a:rect b="b" l="l" r="r" t="t"/>
              <a:pathLst>
                <a:path extrusionOk="0" h="335" w="668">
                  <a:moveTo>
                    <a:pt x="167" y="1"/>
                  </a:moveTo>
                  <a:cubicBezTo>
                    <a:pt x="72" y="1"/>
                    <a:pt x="0" y="72"/>
                    <a:pt x="0" y="168"/>
                  </a:cubicBezTo>
                  <a:cubicBezTo>
                    <a:pt x="0" y="251"/>
                    <a:pt x="72" y="334"/>
                    <a:pt x="167" y="334"/>
                  </a:cubicBezTo>
                  <a:lnTo>
                    <a:pt x="500" y="334"/>
                  </a:lnTo>
                  <a:cubicBezTo>
                    <a:pt x="596" y="334"/>
                    <a:pt x="667" y="251"/>
                    <a:pt x="667" y="168"/>
                  </a:cubicBezTo>
                  <a:cubicBezTo>
                    <a:pt x="667" y="72"/>
                    <a:pt x="596" y="1"/>
                    <a:pt x="500" y="1"/>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8"/>
            <p:cNvSpPr/>
            <p:nvPr/>
          </p:nvSpPr>
          <p:spPr>
            <a:xfrm>
              <a:off x="7768148" y="1611474"/>
              <a:ext cx="21162" cy="10613"/>
            </a:xfrm>
            <a:custGeom>
              <a:rect b="b" l="l" r="r" t="t"/>
              <a:pathLst>
                <a:path extrusionOk="0" h="335" w="668">
                  <a:moveTo>
                    <a:pt x="168" y="1"/>
                  </a:moveTo>
                  <a:cubicBezTo>
                    <a:pt x="72" y="1"/>
                    <a:pt x="1" y="72"/>
                    <a:pt x="1" y="168"/>
                  </a:cubicBezTo>
                  <a:cubicBezTo>
                    <a:pt x="1" y="251"/>
                    <a:pt x="72" y="334"/>
                    <a:pt x="168" y="334"/>
                  </a:cubicBezTo>
                  <a:lnTo>
                    <a:pt x="513" y="334"/>
                  </a:lnTo>
                  <a:cubicBezTo>
                    <a:pt x="596" y="334"/>
                    <a:pt x="668" y="251"/>
                    <a:pt x="668" y="168"/>
                  </a:cubicBezTo>
                  <a:cubicBezTo>
                    <a:pt x="668" y="72"/>
                    <a:pt x="596" y="1"/>
                    <a:pt x="513" y="1"/>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8"/>
            <p:cNvSpPr/>
            <p:nvPr/>
          </p:nvSpPr>
          <p:spPr>
            <a:xfrm>
              <a:off x="7715337" y="1659025"/>
              <a:ext cx="60382" cy="32820"/>
            </a:xfrm>
            <a:custGeom>
              <a:rect b="b" l="l" r="r" t="t"/>
              <a:pathLst>
                <a:path extrusionOk="0" h="1036" w="1906">
                  <a:moveTo>
                    <a:pt x="1537" y="321"/>
                  </a:moveTo>
                  <a:cubicBezTo>
                    <a:pt x="1465" y="536"/>
                    <a:pt x="1227" y="691"/>
                    <a:pt x="953" y="691"/>
                  </a:cubicBezTo>
                  <a:cubicBezTo>
                    <a:pt x="668" y="691"/>
                    <a:pt x="453" y="536"/>
                    <a:pt x="358" y="321"/>
                  </a:cubicBezTo>
                  <a:close/>
                  <a:moveTo>
                    <a:pt x="168" y="0"/>
                  </a:moveTo>
                  <a:cubicBezTo>
                    <a:pt x="72" y="0"/>
                    <a:pt x="1" y="83"/>
                    <a:pt x="1" y="167"/>
                  </a:cubicBezTo>
                  <a:cubicBezTo>
                    <a:pt x="1" y="643"/>
                    <a:pt x="430" y="1036"/>
                    <a:pt x="953" y="1036"/>
                  </a:cubicBezTo>
                  <a:cubicBezTo>
                    <a:pt x="1477" y="1036"/>
                    <a:pt x="1906" y="643"/>
                    <a:pt x="1906" y="167"/>
                  </a:cubicBezTo>
                  <a:cubicBezTo>
                    <a:pt x="1894" y="60"/>
                    <a:pt x="1823" y="0"/>
                    <a:pt x="1727"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6" name="Google Shape;286;p8"/>
          <p:cNvGrpSpPr/>
          <p:nvPr/>
        </p:nvGrpSpPr>
        <p:grpSpPr>
          <a:xfrm>
            <a:off x="3072090" y="2833641"/>
            <a:ext cx="243570" cy="289247"/>
            <a:chOff x="7144274" y="1500214"/>
            <a:chExt cx="282174" cy="355735"/>
          </a:xfrm>
        </p:grpSpPr>
        <p:sp>
          <p:nvSpPr>
            <p:cNvPr id="287" name="Google Shape;287;p8"/>
            <p:cNvSpPr/>
            <p:nvPr/>
          </p:nvSpPr>
          <p:spPr>
            <a:xfrm>
              <a:off x="7245745" y="1613375"/>
              <a:ext cx="10613" cy="16252"/>
            </a:xfrm>
            <a:custGeom>
              <a:rect b="b" l="l" r="r" t="t"/>
              <a:pathLst>
                <a:path extrusionOk="0" h="513" w="335">
                  <a:moveTo>
                    <a:pt x="167" y="0"/>
                  </a:moveTo>
                  <a:cubicBezTo>
                    <a:pt x="72" y="0"/>
                    <a:pt x="1" y="72"/>
                    <a:pt x="1" y="167"/>
                  </a:cubicBezTo>
                  <a:lnTo>
                    <a:pt x="1" y="346"/>
                  </a:lnTo>
                  <a:cubicBezTo>
                    <a:pt x="1" y="429"/>
                    <a:pt x="72" y="512"/>
                    <a:pt x="167" y="512"/>
                  </a:cubicBezTo>
                  <a:cubicBezTo>
                    <a:pt x="251" y="512"/>
                    <a:pt x="334" y="429"/>
                    <a:pt x="334" y="346"/>
                  </a:cubicBezTo>
                  <a:lnTo>
                    <a:pt x="334" y="167"/>
                  </a:lnTo>
                  <a:cubicBezTo>
                    <a:pt x="334" y="72"/>
                    <a:pt x="251" y="0"/>
                    <a:pt x="167"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8"/>
            <p:cNvSpPr/>
            <p:nvPr/>
          </p:nvSpPr>
          <p:spPr>
            <a:xfrm>
              <a:off x="7313635" y="1613375"/>
              <a:ext cx="10613" cy="16252"/>
            </a:xfrm>
            <a:custGeom>
              <a:rect b="b" l="l" r="r" t="t"/>
              <a:pathLst>
                <a:path extrusionOk="0" h="513" w="335">
                  <a:moveTo>
                    <a:pt x="168" y="0"/>
                  </a:moveTo>
                  <a:cubicBezTo>
                    <a:pt x="72" y="0"/>
                    <a:pt x="1" y="72"/>
                    <a:pt x="1" y="167"/>
                  </a:cubicBezTo>
                  <a:lnTo>
                    <a:pt x="1" y="346"/>
                  </a:lnTo>
                  <a:cubicBezTo>
                    <a:pt x="1" y="429"/>
                    <a:pt x="72" y="512"/>
                    <a:pt x="168" y="512"/>
                  </a:cubicBezTo>
                  <a:cubicBezTo>
                    <a:pt x="251" y="512"/>
                    <a:pt x="334" y="429"/>
                    <a:pt x="334" y="346"/>
                  </a:cubicBezTo>
                  <a:lnTo>
                    <a:pt x="334" y="167"/>
                  </a:lnTo>
                  <a:cubicBezTo>
                    <a:pt x="334" y="72"/>
                    <a:pt x="251" y="0"/>
                    <a:pt x="168"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8"/>
            <p:cNvSpPr/>
            <p:nvPr/>
          </p:nvSpPr>
          <p:spPr>
            <a:xfrm>
              <a:off x="7262345" y="1653070"/>
              <a:ext cx="45302" cy="16157"/>
            </a:xfrm>
            <a:custGeom>
              <a:rect b="b" l="l" r="r" t="t"/>
              <a:pathLst>
                <a:path extrusionOk="0" h="510" w="1430">
                  <a:moveTo>
                    <a:pt x="184" y="0"/>
                  </a:moveTo>
                  <a:cubicBezTo>
                    <a:pt x="140" y="0"/>
                    <a:pt x="96" y="15"/>
                    <a:pt x="60" y="45"/>
                  </a:cubicBezTo>
                  <a:cubicBezTo>
                    <a:pt x="1" y="105"/>
                    <a:pt x="1" y="212"/>
                    <a:pt x="60" y="283"/>
                  </a:cubicBezTo>
                  <a:cubicBezTo>
                    <a:pt x="203" y="426"/>
                    <a:pt x="441" y="509"/>
                    <a:pt x="715" y="509"/>
                  </a:cubicBezTo>
                  <a:cubicBezTo>
                    <a:pt x="977" y="509"/>
                    <a:pt x="1215" y="414"/>
                    <a:pt x="1370" y="283"/>
                  </a:cubicBezTo>
                  <a:cubicBezTo>
                    <a:pt x="1429" y="212"/>
                    <a:pt x="1429" y="105"/>
                    <a:pt x="1370" y="45"/>
                  </a:cubicBezTo>
                  <a:cubicBezTo>
                    <a:pt x="1340" y="15"/>
                    <a:pt x="1298" y="0"/>
                    <a:pt x="1255" y="0"/>
                  </a:cubicBezTo>
                  <a:cubicBezTo>
                    <a:pt x="1212" y="0"/>
                    <a:pt x="1167" y="15"/>
                    <a:pt x="1132" y="45"/>
                  </a:cubicBezTo>
                  <a:cubicBezTo>
                    <a:pt x="1072" y="105"/>
                    <a:pt x="917" y="176"/>
                    <a:pt x="715" y="176"/>
                  </a:cubicBezTo>
                  <a:cubicBezTo>
                    <a:pt x="501" y="176"/>
                    <a:pt x="358" y="105"/>
                    <a:pt x="298" y="45"/>
                  </a:cubicBezTo>
                  <a:cubicBezTo>
                    <a:pt x="268" y="15"/>
                    <a:pt x="227" y="0"/>
                    <a:pt x="184"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8"/>
            <p:cNvSpPr/>
            <p:nvPr/>
          </p:nvSpPr>
          <p:spPr>
            <a:xfrm>
              <a:off x="7144274" y="1500214"/>
              <a:ext cx="282174" cy="355735"/>
            </a:xfrm>
            <a:custGeom>
              <a:rect b="b" l="l" r="r" t="t"/>
              <a:pathLst>
                <a:path extrusionOk="0" h="11229" w="8907">
                  <a:moveTo>
                    <a:pt x="7299" y="334"/>
                  </a:moveTo>
                  <a:cubicBezTo>
                    <a:pt x="7228" y="1048"/>
                    <a:pt x="6597" y="1608"/>
                    <a:pt x="5871" y="1608"/>
                  </a:cubicBezTo>
                  <a:lnTo>
                    <a:pt x="2656" y="1608"/>
                  </a:lnTo>
                  <a:cubicBezTo>
                    <a:pt x="2561" y="1608"/>
                    <a:pt x="2489" y="1679"/>
                    <a:pt x="2489" y="1775"/>
                  </a:cubicBezTo>
                  <a:cubicBezTo>
                    <a:pt x="2489" y="1858"/>
                    <a:pt x="2561" y="1941"/>
                    <a:pt x="2656" y="1941"/>
                  </a:cubicBezTo>
                  <a:lnTo>
                    <a:pt x="5871" y="1941"/>
                  </a:lnTo>
                  <a:cubicBezTo>
                    <a:pt x="6192" y="1941"/>
                    <a:pt x="6514" y="1846"/>
                    <a:pt x="6776" y="1679"/>
                  </a:cubicBezTo>
                  <a:lnTo>
                    <a:pt x="6776" y="3560"/>
                  </a:lnTo>
                  <a:cubicBezTo>
                    <a:pt x="6776" y="3644"/>
                    <a:pt x="6847" y="3727"/>
                    <a:pt x="6942" y="3727"/>
                  </a:cubicBezTo>
                  <a:lnTo>
                    <a:pt x="7026" y="3727"/>
                  </a:lnTo>
                  <a:cubicBezTo>
                    <a:pt x="7109" y="3727"/>
                    <a:pt x="7180" y="3751"/>
                    <a:pt x="7240" y="3810"/>
                  </a:cubicBezTo>
                  <a:cubicBezTo>
                    <a:pt x="7299" y="3870"/>
                    <a:pt x="7311" y="3941"/>
                    <a:pt x="7311" y="4037"/>
                  </a:cubicBezTo>
                  <a:cubicBezTo>
                    <a:pt x="7299" y="4180"/>
                    <a:pt x="7168" y="4287"/>
                    <a:pt x="7002" y="4287"/>
                  </a:cubicBezTo>
                  <a:lnTo>
                    <a:pt x="6930" y="4287"/>
                  </a:lnTo>
                  <a:lnTo>
                    <a:pt x="6930" y="4275"/>
                  </a:lnTo>
                  <a:cubicBezTo>
                    <a:pt x="6930" y="4180"/>
                    <a:pt x="6847" y="4108"/>
                    <a:pt x="6764" y="4108"/>
                  </a:cubicBezTo>
                  <a:cubicBezTo>
                    <a:pt x="6668" y="4108"/>
                    <a:pt x="6597" y="4180"/>
                    <a:pt x="6597" y="4275"/>
                  </a:cubicBezTo>
                  <a:cubicBezTo>
                    <a:pt x="6597" y="5465"/>
                    <a:pt x="5633" y="6430"/>
                    <a:pt x="4442" y="6430"/>
                  </a:cubicBezTo>
                  <a:cubicBezTo>
                    <a:pt x="3251" y="6430"/>
                    <a:pt x="2287" y="5465"/>
                    <a:pt x="2287" y="4275"/>
                  </a:cubicBezTo>
                  <a:cubicBezTo>
                    <a:pt x="2287" y="4180"/>
                    <a:pt x="2204" y="4108"/>
                    <a:pt x="2120" y="4108"/>
                  </a:cubicBezTo>
                  <a:cubicBezTo>
                    <a:pt x="2025" y="4108"/>
                    <a:pt x="1954" y="4180"/>
                    <a:pt x="1954" y="4275"/>
                  </a:cubicBezTo>
                  <a:lnTo>
                    <a:pt x="1954" y="4287"/>
                  </a:lnTo>
                  <a:lnTo>
                    <a:pt x="1846" y="4287"/>
                  </a:lnTo>
                  <a:cubicBezTo>
                    <a:pt x="1775" y="4287"/>
                    <a:pt x="1704" y="4263"/>
                    <a:pt x="1644" y="4203"/>
                  </a:cubicBezTo>
                  <a:cubicBezTo>
                    <a:pt x="1584" y="4144"/>
                    <a:pt x="1573" y="4061"/>
                    <a:pt x="1573" y="3977"/>
                  </a:cubicBezTo>
                  <a:cubicBezTo>
                    <a:pt x="1584" y="3822"/>
                    <a:pt x="1715" y="3727"/>
                    <a:pt x="1882" y="3727"/>
                  </a:cubicBezTo>
                  <a:lnTo>
                    <a:pt x="1942" y="3727"/>
                  </a:lnTo>
                  <a:cubicBezTo>
                    <a:pt x="2025" y="3727"/>
                    <a:pt x="2108" y="3644"/>
                    <a:pt x="2108" y="3560"/>
                  </a:cubicBezTo>
                  <a:lnTo>
                    <a:pt x="2108" y="1775"/>
                  </a:lnTo>
                  <a:cubicBezTo>
                    <a:pt x="2108" y="989"/>
                    <a:pt x="2739" y="334"/>
                    <a:pt x="3549" y="334"/>
                  </a:cubicBezTo>
                  <a:close/>
                  <a:moveTo>
                    <a:pt x="3025" y="6763"/>
                  </a:moveTo>
                  <a:lnTo>
                    <a:pt x="3025" y="7085"/>
                  </a:lnTo>
                  <a:cubicBezTo>
                    <a:pt x="3025" y="7239"/>
                    <a:pt x="2918" y="7382"/>
                    <a:pt x="2787" y="7430"/>
                  </a:cubicBezTo>
                  <a:lnTo>
                    <a:pt x="2406" y="7180"/>
                  </a:lnTo>
                  <a:cubicBezTo>
                    <a:pt x="2299" y="7097"/>
                    <a:pt x="2287" y="7001"/>
                    <a:pt x="2311" y="6918"/>
                  </a:cubicBezTo>
                  <a:cubicBezTo>
                    <a:pt x="2346" y="6847"/>
                    <a:pt x="2406" y="6763"/>
                    <a:pt x="2537" y="6763"/>
                  </a:cubicBezTo>
                  <a:close/>
                  <a:moveTo>
                    <a:pt x="6359" y="6763"/>
                  </a:moveTo>
                  <a:cubicBezTo>
                    <a:pt x="6478" y="6763"/>
                    <a:pt x="6549" y="6847"/>
                    <a:pt x="6585" y="6918"/>
                  </a:cubicBezTo>
                  <a:cubicBezTo>
                    <a:pt x="6609" y="7001"/>
                    <a:pt x="6597" y="7120"/>
                    <a:pt x="6490" y="7180"/>
                  </a:cubicBezTo>
                  <a:lnTo>
                    <a:pt x="6109" y="7430"/>
                  </a:lnTo>
                  <a:cubicBezTo>
                    <a:pt x="5954" y="7382"/>
                    <a:pt x="5859" y="7239"/>
                    <a:pt x="5859" y="7085"/>
                  </a:cubicBezTo>
                  <a:lnTo>
                    <a:pt x="5859" y="6763"/>
                  </a:lnTo>
                  <a:close/>
                  <a:moveTo>
                    <a:pt x="6371" y="6216"/>
                  </a:moveTo>
                  <a:cubicBezTo>
                    <a:pt x="6883" y="6216"/>
                    <a:pt x="7276" y="6620"/>
                    <a:pt x="7276" y="7132"/>
                  </a:cubicBezTo>
                  <a:cubicBezTo>
                    <a:pt x="7311" y="8156"/>
                    <a:pt x="6514" y="9025"/>
                    <a:pt x="5502" y="9097"/>
                  </a:cubicBezTo>
                  <a:lnTo>
                    <a:pt x="5502" y="8918"/>
                  </a:lnTo>
                  <a:cubicBezTo>
                    <a:pt x="5502" y="8823"/>
                    <a:pt x="5418" y="8752"/>
                    <a:pt x="5335" y="8752"/>
                  </a:cubicBezTo>
                  <a:cubicBezTo>
                    <a:pt x="5240" y="8752"/>
                    <a:pt x="5168" y="8823"/>
                    <a:pt x="5168" y="8918"/>
                  </a:cubicBezTo>
                  <a:lnTo>
                    <a:pt x="5168" y="9109"/>
                  </a:lnTo>
                  <a:lnTo>
                    <a:pt x="3716" y="9109"/>
                  </a:lnTo>
                  <a:lnTo>
                    <a:pt x="3716" y="8918"/>
                  </a:lnTo>
                  <a:cubicBezTo>
                    <a:pt x="3716" y="8823"/>
                    <a:pt x="3632" y="8752"/>
                    <a:pt x="3549" y="8752"/>
                  </a:cubicBezTo>
                  <a:cubicBezTo>
                    <a:pt x="3454" y="8752"/>
                    <a:pt x="3382" y="8823"/>
                    <a:pt x="3382" y="8918"/>
                  </a:cubicBezTo>
                  <a:lnTo>
                    <a:pt x="3382" y="9097"/>
                  </a:lnTo>
                  <a:cubicBezTo>
                    <a:pt x="2370" y="9002"/>
                    <a:pt x="1573" y="8156"/>
                    <a:pt x="1573" y="7132"/>
                  </a:cubicBezTo>
                  <a:cubicBezTo>
                    <a:pt x="1573" y="6620"/>
                    <a:pt x="1965" y="6227"/>
                    <a:pt x="2477" y="6227"/>
                  </a:cubicBezTo>
                  <a:lnTo>
                    <a:pt x="2906" y="6227"/>
                  </a:lnTo>
                  <a:cubicBezTo>
                    <a:pt x="2954" y="6251"/>
                    <a:pt x="3001" y="6287"/>
                    <a:pt x="3025" y="6311"/>
                  </a:cubicBezTo>
                  <a:lnTo>
                    <a:pt x="3025" y="6430"/>
                  </a:lnTo>
                  <a:lnTo>
                    <a:pt x="2525" y="6430"/>
                  </a:lnTo>
                  <a:cubicBezTo>
                    <a:pt x="2263" y="6430"/>
                    <a:pt x="2061" y="6585"/>
                    <a:pt x="1989" y="6835"/>
                  </a:cubicBezTo>
                  <a:cubicBezTo>
                    <a:pt x="1906" y="7085"/>
                    <a:pt x="2001" y="7323"/>
                    <a:pt x="2204" y="7454"/>
                  </a:cubicBezTo>
                  <a:lnTo>
                    <a:pt x="4037" y="8680"/>
                  </a:lnTo>
                  <a:cubicBezTo>
                    <a:pt x="4156" y="8752"/>
                    <a:pt x="4287" y="8799"/>
                    <a:pt x="4430" y="8799"/>
                  </a:cubicBezTo>
                  <a:cubicBezTo>
                    <a:pt x="4561" y="8799"/>
                    <a:pt x="4692" y="8752"/>
                    <a:pt x="4811" y="8680"/>
                  </a:cubicBezTo>
                  <a:lnTo>
                    <a:pt x="5228" y="8394"/>
                  </a:lnTo>
                  <a:cubicBezTo>
                    <a:pt x="5299" y="8347"/>
                    <a:pt x="5323" y="8252"/>
                    <a:pt x="5275" y="8168"/>
                  </a:cubicBezTo>
                  <a:cubicBezTo>
                    <a:pt x="5247" y="8125"/>
                    <a:pt x="5197" y="8104"/>
                    <a:pt x="5146" y="8104"/>
                  </a:cubicBezTo>
                  <a:cubicBezTo>
                    <a:pt x="5112" y="8104"/>
                    <a:pt x="5078" y="8113"/>
                    <a:pt x="5049" y="8132"/>
                  </a:cubicBezTo>
                  <a:lnTo>
                    <a:pt x="4632" y="8406"/>
                  </a:lnTo>
                  <a:cubicBezTo>
                    <a:pt x="4573" y="8454"/>
                    <a:pt x="4501" y="8478"/>
                    <a:pt x="4429" y="8478"/>
                  </a:cubicBezTo>
                  <a:cubicBezTo>
                    <a:pt x="4356" y="8478"/>
                    <a:pt x="4281" y="8454"/>
                    <a:pt x="4216" y="8406"/>
                  </a:cubicBezTo>
                  <a:lnTo>
                    <a:pt x="3073" y="7656"/>
                  </a:lnTo>
                  <a:cubicBezTo>
                    <a:pt x="3239" y="7513"/>
                    <a:pt x="3335" y="7323"/>
                    <a:pt x="3335" y="7097"/>
                  </a:cubicBezTo>
                  <a:lnTo>
                    <a:pt x="3335" y="6525"/>
                  </a:lnTo>
                  <a:cubicBezTo>
                    <a:pt x="3668" y="6680"/>
                    <a:pt x="4037" y="6775"/>
                    <a:pt x="4430" y="6775"/>
                  </a:cubicBezTo>
                  <a:cubicBezTo>
                    <a:pt x="4811" y="6775"/>
                    <a:pt x="5180" y="6680"/>
                    <a:pt x="5514" y="6525"/>
                  </a:cubicBezTo>
                  <a:lnTo>
                    <a:pt x="5514" y="7097"/>
                  </a:lnTo>
                  <a:cubicBezTo>
                    <a:pt x="5514" y="7323"/>
                    <a:pt x="5621" y="7513"/>
                    <a:pt x="5775" y="7656"/>
                  </a:cubicBezTo>
                  <a:lnTo>
                    <a:pt x="5668" y="7728"/>
                  </a:lnTo>
                  <a:cubicBezTo>
                    <a:pt x="5597" y="7775"/>
                    <a:pt x="5585" y="7871"/>
                    <a:pt x="5633" y="7954"/>
                  </a:cubicBezTo>
                  <a:cubicBezTo>
                    <a:pt x="5656" y="7990"/>
                    <a:pt x="5716" y="8025"/>
                    <a:pt x="5764" y="8025"/>
                  </a:cubicBezTo>
                  <a:cubicBezTo>
                    <a:pt x="5799" y="8025"/>
                    <a:pt x="5823" y="8001"/>
                    <a:pt x="5847" y="7990"/>
                  </a:cubicBezTo>
                  <a:lnTo>
                    <a:pt x="6645" y="7454"/>
                  </a:lnTo>
                  <a:cubicBezTo>
                    <a:pt x="6847" y="7323"/>
                    <a:pt x="6942" y="7073"/>
                    <a:pt x="6859" y="6835"/>
                  </a:cubicBezTo>
                  <a:cubicBezTo>
                    <a:pt x="6787" y="6597"/>
                    <a:pt x="6585" y="6430"/>
                    <a:pt x="6323" y="6430"/>
                  </a:cubicBezTo>
                  <a:lnTo>
                    <a:pt x="5823" y="6430"/>
                  </a:lnTo>
                  <a:lnTo>
                    <a:pt x="5823" y="6311"/>
                  </a:lnTo>
                  <a:cubicBezTo>
                    <a:pt x="5871" y="6287"/>
                    <a:pt x="5906" y="6251"/>
                    <a:pt x="5942" y="6216"/>
                  </a:cubicBezTo>
                  <a:close/>
                  <a:moveTo>
                    <a:pt x="3561" y="0"/>
                  </a:moveTo>
                  <a:cubicBezTo>
                    <a:pt x="2585" y="0"/>
                    <a:pt x="1787" y="786"/>
                    <a:pt x="1787" y="1775"/>
                  </a:cubicBezTo>
                  <a:lnTo>
                    <a:pt x="1787" y="3394"/>
                  </a:lnTo>
                  <a:cubicBezTo>
                    <a:pt x="1513" y="3441"/>
                    <a:pt x="1287" y="3668"/>
                    <a:pt x="1251" y="3930"/>
                  </a:cubicBezTo>
                  <a:cubicBezTo>
                    <a:pt x="1239" y="4108"/>
                    <a:pt x="1299" y="4275"/>
                    <a:pt x="1406" y="4406"/>
                  </a:cubicBezTo>
                  <a:cubicBezTo>
                    <a:pt x="1525" y="4537"/>
                    <a:pt x="1692" y="4608"/>
                    <a:pt x="1846" y="4608"/>
                  </a:cubicBezTo>
                  <a:lnTo>
                    <a:pt x="1989" y="4608"/>
                  </a:lnTo>
                  <a:cubicBezTo>
                    <a:pt x="2061" y="5108"/>
                    <a:pt x="2251" y="5537"/>
                    <a:pt x="2561" y="5894"/>
                  </a:cubicBezTo>
                  <a:lnTo>
                    <a:pt x="2489" y="5894"/>
                  </a:lnTo>
                  <a:cubicBezTo>
                    <a:pt x="1811" y="5894"/>
                    <a:pt x="1251" y="6442"/>
                    <a:pt x="1251" y="7132"/>
                  </a:cubicBezTo>
                  <a:cubicBezTo>
                    <a:pt x="1251" y="7382"/>
                    <a:pt x="1299" y="7620"/>
                    <a:pt x="1370" y="7859"/>
                  </a:cubicBezTo>
                  <a:lnTo>
                    <a:pt x="894" y="7990"/>
                  </a:lnTo>
                  <a:cubicBezTo>
                    <a:pt x="382" y="8144"/>
                    <a:pt x="1" y="8633"/>
                    <a:pt x="1" y="9180"/>
                  </a:cubicBezTo>
                  <a:lnTo>
                    <a:pt x="1" y="11061"/>
                  </a:lnTo>
                  <a:cubicBezTo>
                    <a:pt x="1" y="11145"/>
                    <a:pt x="84" y="11228"/>
                    <a:pt x="168" y="11228"/>
                  </a:cubicBezTo>
                  <a:cubicBezTo>
                    <a:pt x="263" y="11228"/>
                    <a:pt x="334" y="11145"/>
                    <a:pt x="334" y="11061"/>
                  </a:cubicBezTo>
                  <a:lnTo>
                    <a:pt x="334" y="9180"/>
                  </a:lnTo>
                  <a:cubicBezTo>
                    <a:pt x="334" y="8775"/>
                    <a:pt x="596" y="8418"/>
                    <a:pt x="989" y="8323"/>
                  </a:cubicBezTo>
                  <a:lnTo>
                    <a:pt x="1489" y="8168"/>
                  </a:lnTo>
                  <a:cubicBezTo>
                    <a:pt x="1846" y="8883"/>
                    <a:pt x="2561" y="9371"/>
                    <a:pt x="3394" y="9430"/>
                  </a:cubicBezTo>
                  <a:lnTo>
                    <a:pt x="3394" y="11061"/>
                  </a:lnTo>
                  <a:cubicBezTo>
                    <a:pt x="3394" y="11145"/>
                    <a:pt x="3478" y="11216"/>
                    <a:pt x="3561" y="11216"/>
                  </a:cubicBezTo>
                  <a:cubicBezTo>
                    <a:pt x="3656" y="11216"/>
                    <a:pt x="3728" y="11145"/>
                    <a:pt x="3728" y="11061"/>
                  </a:cubicBezTo>
                  <a:lnTo>
                    <a:pt x="3728" y="9430"/>
                  </a:lnTo>
                  <a:lnTo>
                    <a:pt x="5180" y="9430"/>
                  </a:lnTo>
                  <a:lnTo>
                    <a:pt x="5180" y="11061"/>
                  </a:lnTo>
                  <a:cubicBezTo>
                    <a:pt x="5180" y="11145"/>
                    <a:pt x="5263" y="11216"/>
                    <a:pt x="5347" y="11216"/>
                  </a:cubicBezTo>
                  <a:cubicBezTo>
                    <a:pt x="5430" y="11216"/>
                    <a:pt x="5514" y="11145"/>
                    <a:pt x="5514" y="11061"/>
                  </a:cubicBezTo>
                  <a:lnTo>
                    <a:pt x="5514" y="9430"/>
                  </a:lnTo>
                  <a:cubicBezTo>
                    <a:pt x="6347" y="9371"/>
                    <a:pt x="7061" y="8871"/>
                    <a:pt x="7419" y="8168"/>
                  </a:cubicBezTo>
                  <a:lnTo>
                    <a:pt x="7919" y="8323"/>
                  </a:lnTo>
                  <a:cubicBezTo>
                    <a:pt x="8311" y="8442"/>
                    <a:pt x="8573" y="8799"/>
                    <a:pt x="8573" y="9180"/>
                  </a:cubicBezTo>
                  <a:lnTo>
                    <a:pt x="8573" y="11061"/>
                  </a:lnTo>
                  <a:cubicBezTo>
                    <a:pt x="8573" y="11145"/>
                    <a:pt x="8657" y="11228"/>
                    <a:pt x="8740" y="11228"/>
                  </a:cubicBezTo>
                  <a:cubicBezTo>
                    <a:pt x="8823" y="11228"/>
                    <a:pt x="8907" y="11145"/>
                    <a:pt x="8907" y="11061"/>
                  </a:cubicBezTo>
                  <a:lnTo>
                    <a:pt x="8907" y="9180"/>
                  </a:lnTo>
                  <a:cubicBezTo>
                    <a:pt x="8895" y="8633"/>
                    <a:pt x="8514" y="8144"/>
                    <a:pt x="8002" y="7990"/>
                  </a:cubicBezTo>
                  <a:lnTo>
                    <a:pt x="7526" y="7859"/>
                  </a:lnTo>
                  <a:cubicBezTo>
                    <a:pt x="7597" y="7632"/>
                    <a:pt x="7645" y="7382"/>
                    <a:pt x="7645" y="7132"/>
                  </a:cubicBezTo>
                  <a:cubicBezTo>
                    <a:pt x="7645" y="6442"/>
                    <a:pt x="7085" y="5894"/>
                    <a:pt x="6406" y="5894"/>
                  </a:cubicBezTo>
                  <a:lnTo>
                    <a:pt x="6311" y="5894"/>
                  </a:lnTo>
                  <a:cubicBezTo>
                    <a:pt x="6609" y="5537"/>
                    <a:pt x="6823" y="5108"/>
                    <a:pt x="6895" y="4620"/>
                  </a:cubicBezTo>
                  <a:lnTo>
                    <a:pt x="7002" y="4620"/>
                  </a:lnTo>
                  <a:cubicBezTo>
                    <a:pt x="7323" y="4620"/>
                    <a:pt x="7597" y="4382"/>
                    <a:pt x="7645" y="4061"/>
                  </a:cubicBezTo>
                  <a:cubicBezTo>
                    <a:pt x="7657" y="3882"/>
                    <a:pt x="7597" y="3727"/>
                    <a:pt x="7490" y="3584"/>
                  </a:cubicBezTo>
                  <a:cubicBezTo>
                    <a:pt x="7383" y="3489"/>
                    <a:pt x="7252" y="3406"/>
                    <a:pt x="7121" y="3394"/>
                  </a:cubicBezTo>
                  <a:lnTo>
                    <a:pt x="7121" y="1429"/>
                  </a:lnTo>
                  <a:cubicBezTo>
                    <a:pt x="7442" y="1108"/>
                    <a:pt x="7657" y="655"/>
                    <a:pt x="7657" y="167"/>
                  </a:cubicBezTo>
                  <a:cubicBezTo>
                    <a:pt x="7657" y="72"/>
                    <a:pt x="7585" y="0"/>
                    <a:pt x="7490"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8"/>
            <p:cNvSpPr/>
            <p:nvPr/>
          </p:nvSpPr>
          <p:spPr>
            <a:xfrm>
              <a:off x="7239726" y="1594081"/>
              <a:ext cx="22651" cy="12165"/>
            </a:xfrm>
            <a:custGeom>
              <a:rect b="b" l="l" r="r" t="t"/>
              <a:pathLst>
                <a:path extrusionOk="0" h="384" w="715">
                  <a:moveTo>
                    <a:pt x="524" y="1"/>
                  </a:moveTo>
                  <a:cubicBezTo>
                    <a:pt x="517" y="1"/>
                    <a:pt x="508" y="1"/>
                    <a:pt x="500" y="2"/>
                  </a:cubicBezTo>
                  <a:lnTo>
                    <a:pt x="143" y="62"/>
                  </a:lnTo>
                  <a:cubicBezTo>
                    <a:pt x="60" y="74"/>
                    <a:pt x="0" y="169"/>
                    <a:pt x="12" y="252"/>
                  </a:cubicBezTo>
                  <a:cubicBezTo>
                    <a:pt x="24" y="324"/>
                    <a:pt x="95" y="383"/>
                    <a:pt x="179" y="383"/>
                  </a:cubicBezTo>
                  <a:lnTo>
                    <a:pt x="203" y="383"/>
                  </a:lnTo>
                  <a:lnTo>
                    <a:pt x="560" y="324"/>
                  </a:lnTo>
                  <a:cubicBezTo>
                    <a:pt x="655" y="312"/>
                    <a:pt x="715" y="228"/>
                    <a:pt x="703" y="133"/>
                  </a:cubicBezTo>
                  <a:cubicBezTo>
                    <a:pt x="681" y="57"/>
                    <a:pt x="609" y="1"/>
                    <a:pt x="524" y="1"/>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8"/>
            <p:cNvSpPr/>
            <p:nvPr/>
          </p:nvSpPr>
          <p:spPr>
            <a:xfrm>
              <a:off x="7307616" y="1594462"/>
              <a:ext cx="22651" cy="12514"/>
            </a:xfrm>
            <a:custGeom>
              <a:rect b="b" l="l" r="r" t="t"/>
              <a:pathLst>
                <a:path extrusionOk="0" h="395" w="715">
                  <a:moveTo>
                    <a:pt x="181" y="1"/>
                  </a:moveTo>
                  <a:cubicBezTo>
                    <a:pt x="104" y="1"/>
                    <a:pt x="23" y="57"/>
                    <a:pt x="12" y="133"/>
                  </a:cubicBezTo>
                  <a:cubicBezTo>
                    <a:pt x="0" y="228"/>
                    <a:pt x="60" y="312"/>
                    <a:pt x="143" y="335"/>
                  </a:cubicBezTo>
                  <a:lnTo>
                    <a:pt x="500" y="395"/>
                  </a:lnTo>
                  <a:lnTo>
                    <a:pt x="536" y="395"/>
                  </a:lnTo>
                  <a:cubicBezTo>
                    <a:pt x="608" y="395"/>
                    <a:pt x="679" y="335"/>
                    <a:pt x="703" y="252"/>
                  </a:cubicBezTo>
                  <a:cubicBezTo>
                    <a:pt x="715" y="169"/>
                    <a:pt x="655" y="73"/>
                    <a:pt x="560" y="62"/>
                  </a:cubicBezTo>
                  <a:lnTo>
                    <a:pt x="203" y="2"/>
                  </a:lnTo>
                  <a:cubicBezTo>
                    <a:pt x="196" y="1"/>
                    <a:pt x="188" y="1"/>
                    <a:pt x="181" y="1"/>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3" name="Google Shape;293;p8"/>
          <p:cNvGrpSpPr/>
          <p:nvPr/>
        </p:nvGrpSpPr>
        <p:grpSpPr>
          <a:xfrm>
            <a:off x="1208303" y="3310622"/>
            <a:ext cx="283472" cy="279522"/>
            <a:chOff x="8047661" y="1501037"/>
            <a:chExt cx="278404" cy="355260"/>
          </a:xfrm>
        </p:grpSpPr>
        <p:sp>
          <p:nvSpPr>
            <p:cNvPr id="294" name="Google Shape;294;p8"/>
            <p:cNvSpPr/>
            <p:nvPr/>
          </p:nvSpPr>
          <p:spPr>
            <a:xfrm>
              <a:off x="8147611" y="1622815"/>
              <a:ext cx="10581" cy="16220"/>
            </a:xfrm>
            <a:custGeom>
              <a:rect b="b" l="l" r="r" t="t"/>
              <a:pathLst>
                <a:path extrusionOk="0" h="512" w="334">
                  <a:moveTo>
                    <a:pt x="167" y="0"/>
                  </a:moveTo>
                  <a:cubicBezTo>
                    <a:pt x="84" y="0"/>
                    <a:pt x="1" y="71"/>
                    <a:pt x="1" y="167"/>
                  </a:cubicBezTo>
                  <a:lnTo>
                    <a:pt x="1" y="345"/>
                  </a:lnTo>
                  <a:cubicBezTo>
                    <a:pt x="1" y="429"/>
                    <a:pt x="84" y="512"/>
                    <a:pt x="167" y="512"/>
                  </a:cubicBezTo>
                  <a:cubicBezTo>
                    <a:pt x="251" y="512"/>
                    <a:pt x="334" y="429"/>
                    <a:pt x="334" y="345"/>
                  </a:cubicBezTo>
                  <a:lnTo>
                    <a:pt x="334" y="167"/>
                  </a:lnTo>
                  <a:cubicBezTo>
                    <a:pt x="334" y="71"/>
                    <a:pt x="262" y="0"/>
                    <a:pt x="167"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8"/>
            <p:cNvSpPr/>
            <p:nvPr/>
          </p:nvSpPr>
          <p:spPr>
            <a:xfrm>
              <a:off x="8214741" y="1622815"/>
              <a:ext cx="10233" cy="16220"/>
            </a:xfrm>
            <a:custGeom>
              <a:rect b="b" l="l" r="r" t="t"/>
              <a:pathLst>
                <a:path extrusionOk="0" h="512" w="323">
                  <a:moveTo>
                    <a:pt x="168" y="0"/>
                  </a:moveTo>
                  <a:cubicBezTo>
                    <a:pt x="72" y="0"/>
                    <a:pt x="1" y="71"/>
                    <a:pt x="1" y="167"/>
                  </a:cubicBezTo>
                  <a:lnTo>
                    <a:pt x="1" y="345"/>
                  </a:lnTo>
                  <a:cubicBezTo>
                    <a:pt x="1" y="429"/>
                    <a:pt x="72" y="512"/>
                    <a:pt x="168" y="512"/>
                  </a:cubicBezTo>
                  <a:cubicBezTo>
                    <a:pt x="251" y="512"/>
                    <a:pt x="322" y="429"/>
                    <a:pt x="322" y="345"/>
                  </a:cubicBezTo>
                  <a:lnTo>
                    <a:pt x="322" y="167"/>
                  </a:lnTo>
                  <a:cubicBezTo>
                    <a:pt x="322" y="71"/>
                    <a:pt x="251" y="0"/>
                    <a:pt x="168"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8"/>
            <p:cNvSpPr/>
            <p:nvPr/>
          </p:nvSpPr>
          <p:spPr>
            <a:xfrm>
              <a:off x="8163451" y="1661370"/>
              <a:ext cx="45302" cy="16157"/>
            </a:xfrm>
            <a:custGeom>
              <a:rect b="b" l="l" r="r" t="t"/>
              <a:pathLst>
                <a:path extrusionOk="0" h="510" w="1430">
                  <a:moveTo>
                    <a:pt x="184" y="0"/>
                  </a:moveTo>
                  <a:cubicBezTo>
                    <a:pt x="141" y="0"/>
                    <a:pt x="96" y="15"/>
                    <a:pt x="60" y="45"/>
                  </a:cubicBezTo>
                  <a:cubicBezTo>
                    <a:pt x="1" y="105"/>
                    <a:pt x="1" y="212"/>
                    <a:pt x="60" y="283"/>
                  </a:cubicBezTo>
                  <a:cubicBezTo>
                    <a:pt x="203" y="426"/>
                    <a:pt x="441" y="509"/>
                    <a:pt x="691" y="509"/>
                  </a:cubicBezTo>
                  <a:cubicBezTo>
                    <a:pt x="965" y="509"/>
                    <a:pt x="1203" y="426"/>
                    <a:pt x="1334" y="283"/>
                  </a:cubicBezTo>
                  <a:cubicBezTo>
                    <a:pt x="1429" y="224"/>
                    <a:pt x="1429" y="128"/>
                    <a:pt x="1370" y="45"/>
                  </a:cubicBezTo>
                  <a:cubicBezTo>
                    <a:pt x="1340" y="15"/>
                    <a:pt x="1298" y="0"/>
                    <a:pt x="1255" y="0"/>
                  </a:cubicBezTo>
                  <a:cubicBezTo>
                    <a:pt x="1212" y="0"/>
                    <a:pt x="1167" y="15"/>
                    <a:pt x="1132" y="45"/>
                  </a:cubicBezTo>
                  <a:cubicBezTo>
                    <a:pt x="1072" y="105"/>
                    <a:pt x="917" y="188"/>
                    <a:pt x="715" y="188"/>
                  </a:cubicBezTo>
                  <a:cubicBezTo>
                    <a:pt x="501" y="188"/>
                    <a:pt x="358" y="105"/>
                    <a:pt x="298" y="45"/>
                  </a:cubicBezTo>
                  <a:cubicBezTo>
                    <a:pt x="269" y="15"/>
                    <a:pt x="227" y="0"/>
                    <a:pt x="184"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8"/>
            <p:cNvSpPr/>
            <p:nvPr/>
          </p:nvSpPr>
          <p:spPr>
            <a:xfrm>
              <a:off x="8047661" y="1501037"/>
              <a:ext cx="278404" cy="355260"/>
            </a:xfrm>
            <a:custGeom>
              <a:rect b="b" l="l" r="r" t="t"/>
              <a:pathLst>
                <a:path extrusionOk="0" h="11214" w="8788">
                  <a:moveTo>
                    <a:pt x="5358" y="344"/>
                  </a:moveTo>
                  <a:lnTo>
                    <a:pt x="5823" y="808"/>
                  </a:lnTo>
                  <a:cubicBezTo>
                    <a:pt x="5858" y="844"/>
                    <a:pt x="5894" y="856"/>
                    <a:pt x="5942" y="856"/>
                  </a:cubicBezTo>
                  <a:lnTo>
                    <a:pt x="6751" y="856"/>
                  </a:lnTo>
                  <a:lnTo>
                    <a:pt x="6477" y="1510"/>
                  </a:lnTo>
                  <a:cubicBezTo>
                    <a:pt x="6465" y="1558"/>
                    <a:pt x="6465" y="1618"/>
                    <a:pt x="6489" y="1653"/>
                  </a:cubicBezTo>
                  <a:cubicBezTo>
                    <a:pt x="6525" y="1701"/>
                    <a:pt x="6573" y="1737"/>
                    <a:pt x="6632" y="1737"/>
                  </a:cubicBezTo>
                  <a:lnTo>
                    <a:pt x="7287" y="1737"/>
                  </a:lnTo>
                  <a:lnTo>
                    <a:pt x="7001" y="2570"/>
                  </a:lnTo>
                  <a:cubicBezTo>
                    <a:pt x="6989" y="2630"/>
                    <a:pt x="7001" y="2689"/>
                    <a:pt x="7049" y="2725"/>
                  </a:cubicBezTo>
                  <a:lnTo>
                    <a:pt x="7311" y="2999"/>
                  </a:lnTo>
                  <a:lnTo>
                    <a:pt x="7025" y="3677"/>
                  </a:lnTo>
                  <a:cubicBezTo>
                    <a:pt x="6989" y="3665"/>
                    <a:pt x="6942" y="3665"/>
                    <a:pt x="6882" y="3665"/>
                  </a:cubicBezTo>
                  <a:lnTo>
                    <a:pt x="6608" y="3665"/>
                  </a:lnTo>
                  <a:cubicBezTo>
                    <a:pt x="6513" y="3665"/>
                    <a:pt x="6418" y="3582"/>
                    <a:pt x="6418" y="3475"/>
                  </a:cubicBezTo>
                  <a:lnTo>
                    <a:pt x="6418" y="3118"/>
                  </a:lnTo>
                  <a:cubicBezTo>
                    <a:pt x="6418" y="3058"/>
                    <a:pt x="6394" y="3011"/>
                    <a:pt x="6346" y="2987"/>
                  </a:cubicBezTo>
                  <a:lnTo>
                    <a:pt x="5287" y="2284"/>
                  </a:lnTo>
                  <a:cubicBezTo>
                    <a:pt x="5261" y="2265"/>
                    <a:pt x="5227" y="2256"/>
                    <a:pt x="5194" y="2256"/>
                  </a:cubicBezTo>
                  <a:cubicBezTo>
                    <a:pt x="5168" y="2256"/>
                    <a:pt x="5141" y="2262"/>
                    <a:pt x="5120" y="2272"/>
                  </a:cubicBezTo>
                  <a:cubicBezTo>
                    <a:pt x="5061" y="2296"/>
                    <a:pt x="5037" y="2356"/>
                    <a:pt x="5037" y="2415"/>
                  </a:cubicBezTo>
                  <a:lnTo>
                    <a:pt x="5037" y="2832"/>
                  </a:lnTo>
                  <a:lnTo>
                    <a:pt x="4049" y="2272"/>
                  </a:lnTo>
                  <a:cubicBezTo>
                    <a:pt x="4022" y="2255"/>
                    <a:pt x="3994" y="2247"/>
                    <a:pt x="3967" y="2247"/>
                  </a:cubicBezTo>
                  <a:cubicBezTo>
                    <a:pt x="3919" y="2247"/>
                    <a:pt x="3872" y="2270"/>
                    <a:pt x="3834" y="2308"/>
                  </a:cubicBezTo>
                  <a:lnTo>
                    <a:pt x="3560" y="2725"/>
                  </a:lnTo>
                  <a:lnTo>
                    <a:pt x="3156" y="2534"/>
                  </a:lnTo>
                  <a:cubicBezTo>
                    <a:pt x="3132" y="2521"/>
                    <a:pt x="3108" y="2515"/>
                    <a:pt x="3084" y="2515"/>
                  </a:cubicBezTo>
                  <a:cubicBezTo>
                    <a:pt x="3024" y="2515"/>
                    <a:pt x="2967" y="2554"/>
                    <a:pt x="2941" y="2606"/>
                  </a:cubicBezTo>
                  <a:cubicBezTo>
                    <a:pt x="2894" y="2701"/>
                    <a:pt x="2941" y="2784"/>
                    <a:pt x="3013" y="2832"/>
                  </a:cubicBezTo>
                  <a:lnTo>
                    <a:pt x="3537" y="3082"/>
                  </a:lnTo>
                  <a:cubicBezTo>
                    <a:pt x="3561" y="3094"/>
                    <a:pt x="3587" y="3101"/>
                    <a:pt x="3613" y="3101"/>
                  </a:cubicBezTo>
                  <a:cubicBezTo>
                    <a:pt x="3661" y="3101"/>
                    <a:pt x="3708" y="3077"/>
                    <a:pt x="3739" y="3022"/>
                  </a:cubicBezTo>
                  <a:lnTo>
                    <a:pt x="4013" y="2630"/>
                  </a:lnTo>
                  <a:lnTo>
                    <a:pt x="5108" y="3249"/>
                  </a:lnTo>
                  <a:cubicBezTo>
                    <a:pt x="5132" y="3267"/>
                    <a:pt x="5162" y="3275"/>
                    <a:pt x="5192" y="3275"/>
                  </a:cubicBezTo>
                  <a:cubicBezTo>
                    <a:pt x="5221" y="3275"/>
                    <a:pt x="5251" y="3267"/>
                    <a:pt x="5275" y="3249"/>
                  </a:cubicBezTo>
                  <a:cubicBezTo>
                    <a:pt x="5322" y="3225"/>
                    <a:pt x="5346" y="3165"/>
                    <a:pt x="5346" y="3106"/>
                  </a:cubicBezTo>
                  <a:lnTo>
                    <a:pt x="5346" y="2701"/>
                  </a:lnTo>
                  <a:lnTo>
                    <a:pt x="6073" y="3177"/>
                  </a:lnTo>
                  <a:lnTo>
                    <a:pt x="6073" y="3439"/>
                  </a:lnTo>
                  <a:cubicBezTo>
                    <a:pt x="6073" y="3725"/>
                    <a:pt x="6311" y="3963"/>
                    <a:pt x="6596" y="3963"/>
                  </a:cubicBezTo>
                  <a:lnTo>
                    <a:pt x="6870" y="3963"/>
                  </a:lnTo>
                  <a:cubicBezTo>
                    <a:pt x="6942" y="3963"/>
                    <a:pt x="7013" y="3999"/>
                    <a:pt x="7073" y="4058"/>
                  </a:cubicBezTo>
                  <a:cubicBezTo>
                    <a:pt x="7132" y="4118"/>
                    <a:pt x="7144" y="4189"/>
                    <a:pt x="7144" y="4261"/>
                  </a:cubicBezTo>
                  <a:cubicBezTo>
                    <a:pt x="7132" y="4392"/>
                    <a:pt x="7001" y="4511"/>
                    <a:pt x="6846" y="4511"/>
                  </a:cubicBezTo>
                  <a:lnTo>
                    <a:pt x="6775" y="4511"/>
                  </a:lnTo>
                  <a:lnTo>
                    <a:pt x="6775" y="4499"/>
                  </a:lnTo>
                  <a:cubicBezTo>
                    <a:pt x="6775" y="4416"/>
                    <a:pt x="6704" y="4332"/>
                    <a:pt x="6608" y="4332"/>
                  </a:cubicBezTo>
                  <a:cubicBezTo>
                    <a:pt x="6525" y="4332"/>
                    <a:pt x="6454" y="4416"/>
                    <a:pt x="6454" y="4499"/>
                  </a:cubicBezTo>
                  <a:cubicBezTo>
                    <a:pt x="6454" y="5666"/>
                    <a:pt x="5501" y="6618"/>
                    <a:pt x="4334" y="6618"/>
                  </a:cubicBezTo>
                  <a:cubicBezTo>
                    <a:pt x="4320" y="6618"/>
                    <a:pt x="4306" y="6619"/>
                    <a:pt x="4292" y="6619"/>
                  </a:cubicBezTo>
                  <a:cubicBezTo>
                    <a:pt x="3180" y="6619"/>
                    <a:pt x="2263" y="5687"/>
                    <a:pt x="2263" y="4535"/>
                  </a:cubicBezTo>
                  <a:cubicBezTo>
                    <a:pt x="2263" y="4439"/>
                    <a:pt x="2191" y="4368"/>
                    <a:pt x="2108" y="4368"/>
                  </a:cubicBezTo>
                  <a:cubicBezTo>
                    <a:pt x="2013" y="4368"/>
                    <a:pt x="1941" y="4439"/>
                    <a:pt x="1941" y="4535"/>
                  </a:cubicBezTo>
                  <a:lnTo>
                    <a:pt x="1941" y="4546"/>
                  </a:lnTo>
                  <a:lnTo>
                    <a:pt x="1834" y="4546"/>
                  </a:lnTo>
                  <a:cubicBezTo>
                    <a:pt x="1763" y="4546"/>
                    <a:pt x="1691" y="4511"/>
                    <a:pt x="1632" y="4451"/>
                  </a:cubicBezTo>
                  <a:cubicBezTo>
                    <a:pt x="1572" y="4392"/>
                    <a:pt x="1548" y="4320"/>
                    <a:pt x="1548" y="4249"/>
                  </a:cubicBezTo>
                  <a:cubicBezTo>
                    <a:pt x="1572" y="4118"/>
                    <a:pt x="1703" y="3999"/>
                    <a:pt x="1846" y="3999"/>
                  </a:cubicBezTo>
                  <a:lnTo>
                    <a:pt x="2084" y="3999"/>
                  </a:lnTo>
                  <a:cubicBezTo>
                    <a:pt x="2370" y="3999"/>
                    <a:pt x="2608" y="3761"/>
                    <a:pt x="2608" y="3475"/>
                  </a:cubicBezTo>
                  <a:lnTo>
                    <a:pt x="2608" y="2415"/>
                  </a:lnTo>
                  <a:cubicBezTo>
                    <a:pt x="2608" y="2332"/>
                    <a:pt x="2536" y="2249"/>
                    <a:pt x="2441" y="2249"/>
                  </a:cubicBezTo>
                  <a:cubicBezTo>
                    <a:pt x="2358" y="2249"/>
                    <a:pt x="2286" y="2332"/>
                    <a:pt x="2286" y="2415"/>
                  </a:cubicBezTo>
                  <a:lnTo>
                    <a:pt x="2286" y="3475"/>
                  </a:lnTo>
                  <a:cubicBezTo>
                    <a:pt x="2286" y="3582"/>
                    <a:pt x="2191" y="3665"/>
                    <a:pt x="2084" y="3665"/>
                  </a:cubicBezTo>
                  <a:lnTo>
                    <a:pt x="1846" y="3665"/>
                  </a:lnTo>
                  <a:cubicBezTo>
                    <a:pt x="1786" y="3665"/>
                    <a:pt x="1727" y="3677"/>
                    <a:pt x="1691" y="3701"/>
                  </a:cubicBezTo>
                  <a:lnTo>
                    <a:pt x="1405" y="2999"/>
                  </a:lnTo>
                  <a:lnTo>
                    <a:pt x="1667" y="2725"/>
                  </a:lnTo>
                  <a:cubicBezTo>
                    <a:pt x="1715" y="2689"/>
                    <a:pt x="1727" y="2630"/>
                    <a:pt x="1715" y="2570"/>
                  </a:cubicBezTo>
                  <a:lnTo>
                    <a:pt x="1429" y="1737"/>
                  </a:lnTo>
                  <a:lnTo>
                    <a:pt x="1905" y="1737"/>
                  </a:lnTo>
                  <a:cubicBezTo>
                    <a:pt x="2001" y="1737"/>
                    <a:pt x="2072" y="1653"/>
                    <a:pt x="2072" y="1570"/>
                  </a:cubicBezTo>
                  <a:lnTo>
                    <a:pt x="2072" y="856"/>
                  </a:lnTo>
                  <a:lnTo>
                    <a:pt x="2786" y="856"/>
                  </a:lnTo>
                  <a:cubicBezTo>
                    <a:pt x="2822" y="856"/>
                    <a:pt x="2858" y="832"/>
                    <a:pt x="2894" y="820"/>
                  </a:cubicBezTo>
                  <a:lnTo>
                    <a:pt x="3537" y="344"/>
                  </a:lnTo>
                  <a:lnTo>
                    <a:pt x="4156" y="510"/>
                  </a:lnTo>
                  <a:lnTo>
                    <a:pt x="4215" y="510"/>
                  </a:lnTo>
                  <a:lnTo>
                    <a:pt x="5358" y="344"/>
                  </a:lnTo>
                  <a:close/>
                  <a:moveTo>
                    <a:pt x="2882" y="7225"/>
                  </a:moveTo>
                  <a:lnTo>
                    <a:pt x="4096" y="7892"/>
                  </a:lnTo>
                  <a:lnTo>
                    <a:pt x="3203" y="8654"/>
                  </a:lnTo>
                  <a:lnTo>
                    <a:pt x="3191" y="8654"/>
                  </a:lnTo>
                  <a:lnTo>
                    <a:pt x="2644" y="7690"/>
                  </a:lnTo>
                  <a:lnTo>
                    <a:pt x="2858" y="7225"/>
                  </a:lnTo>
                  <a:close/>
                  <a:moveTo>
                    <a:pt x="5442" y="6737"/>
                  </a:moveTo>
                  <a:lnTo>
                    <a:pt x="5442" y="7094"/>
                  </a:lnTo>
                  <a:lnTo>
                    <a:pt x="5239" y="7190"/>
                  </a:lnTo>
                  <a:cubicBezTo>
                    <a:pt x="5168" y="7237"/>
                    <a:pt x="5144" y="7344"/>
                    <a:pt x="5180" y="7416"/>
                  </a:cubicBezTo>
                  <a:cubicBezTo>
                    <a:pt x="5212" y="7465"/>
                    <a:pt x="5273" y="7497"/>
                    <a:pt x="5331" y="7497"/>
                  </a:cubicBezTo>
                  <a:cubicBezTo>
                    <a:pt x="5357" y="7497"/>
                    <a:pt x="5383" y="7490"/>
                    <a:pt x="5406" y="7475"/>
                  </a:cubicBezTo>
                  <a:lnTo>
                    <a:pt x="5882" y="7213"/>
                  </a:lnTo>
                  <a:lnTo>
                    <a:pt x="5894" y="7213"/>
                  </a:lnTo>
                  <a:lnTo>
                    <a:pt x="6120" y="7666"/>
                  </a:lnTo>
                  <a:lnTo>
                    <a:pt x="5573" y="8654"/>
                  </a:lnTo>
                  <a:lnTo>
                    <a:pt x="5561" y="8654"/>
                  </a:lnTo>
                  <a:lnTo>
                    <a:pt x="4668" y="7892"/>
                  </a:lnTo>
                  <a:lnTo>
                    <a:pt x="4811" y="7821"/>
                  </a:lnTo>
                  <a:cubicBezTo>
                    <a:pt x="4882" y="7773"/>
                    <a:pt x="4918" y="7666"/>
                    <a:pt x="4870" y="7594"/>
                  </a:cubicBezTo>
                  <a:cubicBezTo>
                    <a:pt x="4837" y="7545"/>
                    <a:pt x="4782" y="7513"/>
                    <a:pt x="4724" y="7513"/>
                  </a:cubicBezTo>
                  <a:cubicBezTo>
                    <a:pt x="4697" y="7513"/>
                    <a:pt x="4670" y="7520"/>
                    <a:pt x="4644" y="7535"/>
                  </a:cubicBezTo>
                  <a:lnTo>
                    <a:pt x="4382" y="7690"/>
                  </a:lnTo>
                  <a:lnTo>
                    <a:pt x="3310" y="7094"/>
                  </a:lnTo>
                  <a:lnTo>
                    <a:pt x="3310" y="6737"/>
                  </a:lnTo>
                  <a:cubicBezTo>
                    <a:pt x="3632" y="6892"/>
                    <a:pt x="3989" y="6975"/>
                    <a:pt x="4382" y="6975"/>
                  </a:cubicBezTo>
                  <a:cubicBezTo>
                    <a:pt x="4763" y="6975"/>
                    <a:pt x="5120" y="6880"/>
                    <a:pt x="5442" y="6737"/>
                  </a:cubicBezTo>
                  <a:close/>
                  <a:moveTo>
                    <a:pt x="4382" y="8071"/>
                  </a:moveTo>
                  <a:lnTo>
                    <a:pt x="4572" y="8237"/>
                  </a:lnTo>
                  <a:lnTo>
                    <a:pt x="4560" y="9630"/>
                  </a:lnTo>
                  <a:lnTo>
                    <a:pt x="4203" y="9630"/>
                  </a:lnTo>
                  <a:cubicBezTo>
                    <a:pt x="4203" y="9630"/>
                    <a:pt x="4191" y="9630"/>
                    <a:pt x="4191" y="9619"/>
                  </a:cubicBezTo>
                  <a:lnTo>
                    <a:pt x="4191" y="8237"/>
                  </a:lnTo>
                  <a:lnTo>
                    <a:pt x="4382" y="8071"/>
                  </a:lnTo>
                  <a:close/>
                  <a:moveTo>
                    <a:pt x="453" y="8726"/>
                  </a:moveTo>
                  <a:lnTo>
                    <a:pt x="1393" y="9535"/>
                  </a:lnTo>
                  <a:cubicBezTo>
                    <a:pt x="1512" y="9630"/>
                    <a:pt x="1584" y="9785"/>
                    <a:pt x="1584" y="9928"/>
                  </a:cubicBezTo>
                  <a:lnTo>
                    <a:pt x="1584" y="10107"/>
                  </a:lnTo>
                  <a:lnTo>
                    <a:pt x="334" y="9833"/>
                  </a:lnTo>
                  <a:lnTo>
                    <a:pt x="334" y="9178"/>
                  </a:lnTo>
                  <a:cubicBezTo>
                    <a:pt x="334" y="9011"/>
                    <a:pt x="369" y="8857"/>
                    <a:pt x="453" y="8726"/>
                  </a:cubicBezTo>
                  <a:close/>
                  <a:moveTo>
                    <a:pt x="3504" y="0"/>
                  </a:moveTo>
                  <a:cubicBezTo>
                    <a:pt x="3468" y="0"/>
                    <a:pt x="3431" y="17"/>
                    <a:pt x="3406" y="34"/>
                  </a:cubicBezTo>
                  <a:lnTo>
                    <a:pt x="2751" y="522"/>
                  </a:lnTo>
                  <a:lnTo>
                    <a:pt x="1941" y="522"/>
                  </a:lnTo>
                  <a:cubicBezTo>
                    <a:pt x="1846" y="522"/>
                    <a:pt x="1774" y="606"/>
                    <a:pt x="1774" y="689"/>
                  </a:cubicBezTo>
                  <a:lnTo>
                    <a:pt x="1774" y="1403"/>
                  </a:lnTo>
                  <a:lnTo>
                    <a:pt x="1239" y="1403"/>
                  </a:lnTo>
                  <a:cubicBezTo>
                    <a:pt x="1179" y="1403"/>
                    <a:pt x="1131" y="1439"/>
                    <a:pt x="1108" y="1475"/>
                  </a:cubicBezTo>
                  <a:cubicBezTo>
                    <a:pt x="1072" y="1522"/>
                    <a:pt x="1060" y="1582"/>
                    <a:pt x="1072" y="1629"/>
                  </a:cubicBezTo>
                  <a:lnTo>
                    <a:pt x="1382" y="2582"/>
                  </a:lnTo>
                  <a:lnTo>
                    <a:pt x="1108" y="2868"/>
                  </a:lnTo>
                  <a:cubicBezTo>
                    <a:pt x="1060" y="2903"/>
                    <a:pt x="1048" y="2987"/>
                    <a:pt x="1072" y="3046"/>
                  </a:cubicBezTo>
                  <a:lnTo>
                    <a:pt x="1417" y="3892"/>
                  </a:lnTo>
                  <a:cubicBezTo>
                    <a:pt x="1322" y="3975"/>
                    <a:pt x="1262" y="4106"/>
                    <a:pt x="1251" y="4249"/>
                  </a:cubicBezTo>
                  <a:cubicBezTo>
                    <a:pt x="1239" y="4404"/>
                    <a:pt x="1298" y="4582"/>
                    <a:pt x="1405" y="4701"/>
                  </a:cubicBezTo>
                  <a:cubicBezTo>
                    <a:pt x="1524" y="4832"/>
                    <a:pt x="1679" y="4904"/>
                    <a:pt x="1846" y="4904"/>
                  </a:cubicBezTo>
                  <a:lnTo>
                    <a:pt x="1965" y="4904"/>
                  </a:lnTo>
                  <a:cubicBezTo>
                    <a:pt x="2060" y="5582"/>
                    <a:pt x="2441" y="6190"/>
                    <a:pt x="2989" y="6571"/>
                  </a:cubicBezTo>
                  <a:lnTo>
                    <a:pt x="2989" y="6940"/>
                  </a:lnTo>
                  <a:cubicBezTo>
                    <a:pt x="2953" y="6928"/>
                    <a:pt x="2917" y="6922"/>
                    <a:pt x="2883" y="6922"/>
                  </a:cubicBezTo>
                  <a:cubicBezTo>
                    <a:pt x="2849" y="6922"/>
                    <a:pt x="2816" y="6928"/>
                    <a:pt x="2786" y="6940"/>
                  </a:cubicBezTo>
                  <a:cubicBezTo>
                    <a:pt x="2691" y="6963"/>
                    <a:pt x="2620" y="7035"/>
                    <a:pt x="2572" y="7118"/>
                  </a:cubicBezTo>
                  <a:lnTo>
                    <a:pt x="2322" y="7618"/>
                  </a:lnTo>
                  <a:lnTo>
                    <a:pt x="881" y="8035"/>
                  </a:lnTo>
                  <a:cubicBezTo>
                    <a:pt x="358" y="8190"/>
                    <a:pt x="0" y="8666"/>
                    <a:pt x="0" y="9202"/>
                  </a:cubicBezTo>
                  <a:lnTo>
                    <a:pt x="0" y="11047"/>
                  </a:lnTo>
                  <a:cubicBezTo>
                    <a:pt x="0" y="11131"/>
                    <a:pt x="72" y="11214"/>
                    <a:pt x="167" y="11214"/>
                  </a:cubicBezTo>
                  <a:cubicBezTo>
                    <a:pt x="250" y="11214"/>
                    <a:pt x="334" y="11131"/>
                    <a:pt x="334" y="11047"/>
                  </a:cubicBezTo>
                  <a:lnTo>
                    <a:pt x="334" y="10202"/>
                  </a:lnTo>
                  <a:lnTo>
                    <a:pt x="1584" y="10476"/>
                  </a:lnTo>
                  <a:lnTo>
                    <a:pt x="1584" y="11047"/>
                  </a:lnTo>
                  <a:cubicBezTo>
                    <a:pt x="1584" y="11131"/>
                    <a:pt x="1655" y="11214"/>
                    <a:pt x="1739" y="11214"/>
                  </a:cubicBezTo>
                  <a:cubicBezTo>
                    <a:pt x="1834" y="11214"/>
                    <a:pt x="1905" y="11131"/>
                    <a:pt x="1905" y="11047"/>
                  </a:cubicBezTo>
                  <a:lnTo>
                    <a:pt x="1905" y="9952"/>
                  </a:lnTo>
                  <a:cubicBezTo>
                    <a:pt x="1905" y="9690"/>
                    <a:pt x="1798" y="9452"/>
                    <a:pt x="1608" y="9297"/>
                  </a:cubicBezTo>
                  <a:lnTo>
                    <a:pt x="667" y="8487"/>
                  </a:lnTo>
                  <a:cubicBezTo>
                    <a:pt x="762" y="8416"/>
                    <a:pt x="870" y="8368"/>
                    <a:pt x="965" y="8345"/>
                  </a:cubicBezTo>
                  <a:lnTo>
                    <a:pt x="2382" y="7928"/>
                  </a:lnTo>
                  <a:lnTo>
                    <a:pt x="2906" y="8833"/>
                  </a:lnTo>
                  <a:cubicBezTo>
                    <a:pt x="2953" y="8916"/>
                    <a:pt x="3036" y="8976"/>
                    <a:pt x="3144" y="8999"/>
                  </a:cubicBezTo>
                  <a:lnTo>
                    <a:pt x="3203" y="8999"/>
                  </a:lnTo>
                  <a:cubicBezTo>
                    <a:pt x="3275" y="8999"/>
                    <a:pt x="3370" y="8964"/>
                    <a:pt x="3429" y="8916"/>
                  </a:cubicBezTo>
                  <a:lnTo>
                    <a:pt x="3870" y="8535"/>
                  </a:lnTo>
                  <a:lnTo>
                    <a:pt x="3870" y="9630"/>
                  </a:lnTo>
                  <a:cubicBezTo>
                    <a:pt x="3870" y="9833"/>
                    <a:pt x="4025" y="9976"/>
                    <a:pt x="4215" y="9976"/>
                  </a:cubicBezTo>
                  <a:lnTo>
                    <a:pt x="4572" y="9976"/>
                  </a:lnTo>
                  <a:cubicBezTo>
                    <a:pt x="4763" y="9976"/>
                    <a:pt x="4918" y="9833"/>
                    <a:pt x="4918" y="9630"/>
                  </a:cubicBezTo>
                  <a:lnTo>
                    <a:pt x="4918" y="8535"/>
                  </a:lnTo>
                  <a:lnTo>
                    <a:pt x="5358" y="8916"/>
                  </a:lnTo>
                  <a:cubicBezTo>
                    <a:pt x="5418" y="8976"/>
                    <a:pt x="5489" y="8999"/>
                    <a:pt x="5584" y="8999"/>
                  </a:cubicBezTo>
                  <a:lnTo>
                    <a:pt x="5644" y="8999"/>
                  </a:lnTo>
                  <a:cubicBezTo>
                    <a:pt x="5751" y="8976"/>
                    <a:pt x="5834" y="8916"/>
                    <a:pt x="5882" y="8833"/>
                  </a:cubicBezTo>
                  <a:lnTo>
                    <a:pt x="6406" y="7928"/>
                  </a:lnTo>
                  <a:lnTo>
                    <a:pt x="7811" y="8345"/>
                  </a:lnTo>
                  <a:cubicBezTo>
                    <a:pt x="7918" y="8368"/>
                    <a:pt x="8025" y="8428"/>
                    <a:pt x="8109" y="8487"/>
                  </a:cubicBezTo>
                  <a:lnTo>
                    <a:pt x="7180" y="9297"/>
                  </a:lnTo>
                  <a:cubicBezTo>
                    <a:pt x="6977" y="9452"/>
                    <a:pt x="6882" y="9690"/>
                    <a:pt x="6882" y="9952"/>
                  </a:cubicBezTo>
                  <a:lnTo>
                    <a:pt x="6882" y="11035"/>
                  </a:lnTo>
                  <a:cubicBezTo>
                    <a:pt x="6882" y="11119"/>
                    <a:pt x="6954" y="11202"/>
                    <a:pt x="7037" y="11202"/>
                  </a:cubicBezTo>
                  <a:cubicBezTo>
                    <a:pt x="7132" y="11202"/>
                    <a:pt x="7204" y="11119"/>
                    <a:pt x="7204" y="11035"/>
                  </a:cubicBezTo>
                  <a:lnTo>
                    <a:pt x="7204" y="10464"/>
                  </a:lnTo>
                  <a:lnTo>
                    <a:pt x="7430" y="10428"/>
                  </a:lnTo>
                  <a:cubicBezTo>
                    <a:pt x="7513" y="10404"/>
                    <a:pt x="7573" y="10321"/>
                    <a:pt x="7549" y="10226"/>
                  </a:cubicBezTo>
                  <a:cubicBezTo>
                    <a:pt x="7539" y="10155"/>
                    <a:pt x="7469" y="10101"/>
                    <a:pt x="7397" y="10101"/>
                  </a:cubicBezTo>
                  <a:cubicBezTo>
                    <a:pt x="7384" y="10101"/>
                    <a:pt x="7371" y="10103"/>
                    <a:pt x="7358" y="10107"/>
                  </a:cubicBezTo>
                  <a:lnTo>
                    <a:pt x="7204" y="10142"/>
                  </a:lnTo>
                  <a:lnTo>
                    <a:pt x="7204" y="9952"/>
                  </a:lnTo>
                  <a:cubicBezTo>
                    <a:pt x="7204" y="9785"/>
                    <a:pt x="7275" y="9630"/>
                    <a:pt x="7394" y="9547"/>
                  </a:cubicBezTo>
                  <a:lnTo>
                    <a:pt x="8335" y="8737"/>
                  </a:lnTo>
                  <a:cubicBezTo>
                    <a:pt x="8406" y="8880"/>
                    <a:pt x="8454" y="9023"/>
                    <a:pt x="8454" y="9190"/>
                  </a:cubicBezTo>
                  <a:lnTo>
                    <a:pt x="8454" y="9845"/>
                  </a:lnTo>
                  <a:lnTo>
                    <a:pt x="8049" y="9928"/>
                  </a:lnTo>
                  <a:cubicBezTo>
                    <a:pt x="7966" y="9952"/>
                    <a:pt x="7906" y="10035"/>
                    <a:pt x="7930" y="10131"/>
                  </a:cubicBezTo>
                  <a:cubicBezTo>
                    <a:pt x="7954" y="10202"/>
                    <a:pt x="8025" y="10261"/>
                    <a:pt x="8097" y="10261"/>
                  </a:cubicBezTo>
                  <a:lnTo>
                    <a:pt x="8132" y="10261"/>
                  </a:lnTo>
                  <a:lnTo>
                    <a:pt x="8454" y="10190"/>
                  </a:lnTo>
                  <a:lnTo>
                    <a:pt x="8454" y="11035"/>
                  </a:lnTo>
                  <a:cubicBezTo>
                    <a:pt x="8454" y="11119"/>
                    <a:pt x="8525" y="11202"/>
                    <a:pt x="8621" y="11202"/>
                  </a:cubicBezTo>
                  <a:cubicBezTo>
                    <a:pt x="8704" y="11202"/>
                    <a:pt x="8787" y="11119"/>
                    <a:pt x="8787" y="11035"/>
                  </a:cubicBezTo>
                  <a:lnTo>
                    <a:pt x="8751" y="9190"/>
                  </a:lnTo>
                  <a:cubicBezTo>
                    <a:pt x="8751" y="8654"/>
                    <a:pt x="8394" y="8178"/>
                    <a:pt x="7870" y="8023"/>
                  </a:cubicBezTo>
                  <a:lnTo>
                    <a:pt x="6430" y="7606"/>
                  </a:lnTo>
                  <a:lnTo>
                    <a:pt x="6180" y="7106"/>
                  </a:lnTo>
                  <a:cubicBezTo>
                    <a:pt x="6132" y="7011"/>
                    <a:pt x="6061" y="6952"/>
                    <a:pt x="5965" y="6928"/>
                  </a:cubicBezTo>
                  <a:cubicBezTo>
                    <a:pt x="5930" y="6922"/>
                    <a:pt x="5894" y="6919"/>
                    <a:pt x="5860" y="6919"/>
                  </a:cubicBezTo>
                  <a:cubicBezTo>
                    <a:pt x="5826" y="6919"/>
                    <a:pt x="5793" y="6922"/>
                    <a:pt x="5763" y="6928"/>
                  </a:cubicBezTo>
                  <a:lnTo>
                    <a:pt x="5763" y="6559"/>
                  </a:lnTo>
                  <a:cubicBezTo>
                    <a:pt x="6311" y="6166"/>
                    <a:pt x="6704" y="5570"/>
                    <a:pt x="6787" y="4892"/>
                  </a:cubicBezTo>
                  <a:lnTo>
                    <a:pt x="6894" y="4892"/>
                  </a:lnTo>
                  <a:cubicBezTo>
                    <a:pt x="7216" y="4892"/>
                    <a:pt x="7489" y="4654"/>
                    <a:pt x="7513" y="4356"/>
                  </a:cubicBezTo>
                  <a:cubicBezTo>
                    <a:pt x="7537" y="4189"/>
                    <a:pt x="7478" y="4011"/>
                    <a:pt x="7370" y="3892"/>
                  </a:cubicBezTo>
                  <a:lnTo>
                    <a:pt x="7358" y="3868"/>
                  </a:lnTo>
                  <a:lnTo>
                    <a:pt x="7680" y="3034"/>
                  </a:lnTo>
                  <a:cubicBezTo>
                    <a:pt x="7716" y="2975"/>
                    <a:pt x="7692" y="2903"/>
                    <a:pt x="7656" y="2856"/>
                  </a:cubicBezTo>
                  <a:lnTo>
                    <a:pt x="7370" y="2582"/>
                  </a:lnTo>
                  <a:lnTo>
                    <a:pt x="7680" y="1629"/>
                  </a:lnTo>
                  <a:cubicBezTo>
                    <a:pt x="7692" y="1582"/>
                    <a:pt x="7692" y="1522"/>
                    <a:pt x="7656" y="1475"/>
                  </a:cubicBezTo>
                  <a:cubicBezTo>
                    <a:pt x="7620" y="1427"/>
                    <a:pt x="7573" y="1403"/>
                    <a:pt x="7513" y="1403"/>
                  </a:cubicBezTo>
                  <a:lnTo>
                    <a:pt x="6882" y="1403"/>
                  </a:lnTo>
                  <a:lnTo>
                    <a:pt x="7144" y="748"/>
                  </a:lnTo>
                  <a:cubicBezTo>
                    <a:pt x="7156" y="701"/>
                    <a:pt x="7156" y="641"/>
                    <a:pt x="7132" y="606"/>
                  </a:cubicBezTo>
                  <a:cubicBezTo>
                    <a:pt x="7097" y="558"/>
                    <a:pt x="7061" y="522"/>
                    <a:pt x="7001" y="522"/>
                  </a:cubicBezTo>
                  <a:lnTo>
                    <a:pt x="6013" y="522"/>
                  </a:lnTo>
                  <a:lnTo>
                    <a:pt x="5537" y="46"/>
                  </a:lnTo>
                  <a:cubicBezTo>
                    <a:pt x="5519" y="28"/>
                    <a:pt x="5479" y="2"/>
                    <a:pt x="5440" y="2"/>
                  </a:cubicBezTo>
                  <a:cubicBezTo>
                    <a:pt x="5429" y="2"/>
                    <a:pt x="5417" y="5"/>
                    <a:pt x="5406" y="10"/>
                  </a:cubicBezTo>
                  <a:lnTo>
                    <a:pt x="4215" y="165"/>
                  </a:lnTo>
                  <a:lnTo>
                    <a:pt x="3548" y="10"/>
                  </a:lnTo>
                  <a:cubicBezTo>
                    <a:pt x="3535" y="3"/>
                    <a:pt x="3520" y="0"/>
                    <a:pt x="3504" y="0"/>
                  </a:cubicBezTo>
                  <a:close/>
                </a:path>
              </a:pathLst>
            </a:custGeom>
            <a:solidFill>
              <a:srgbClr val="1138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9"/>
          <p:cNvSpPr txBox="1"/>
          <p:nvPr>
            <p:ph type="title"/>
          </p:nvPr>
        </p:nvSpPr>
        <p:spPr>
          <a:xfrm>
            <a:off x="720000" y="539400"/>
            <a:ext cx="7801430" cy="5178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000">
                <a:solidFill>
                  <a:srgbClr val="11384D"/>
                </a:solidFill>
                <a:latin typeface="Poppins"/>
                <a:ea typeface="Poppins"/>
                <a:cs typeface="Poppins"/>
                <a:sym typeface="Poppins"/>
              </a:rPr>
              <a:t>Un grupo minoritario sostiene un tercio de la rentabilidad</a:t>
            </a:r>
            <a:endParaRPr sz="2000">
              <a:solidFill>
                <a:srgbClr val="11384D"/>
              </a:solidFill>
              <a:latin typeface="Poppins"/>
              <a:ea typeface="Poppins"/>
              <a:cs typeface="Poppins"/>
              <a:sym typeface="Poppins"/>
            </a:endParaRPr>
          </a:p>
        </p:txBody>
      </p:sp>
      <p:sp>
        <p:nvSpPr>
          <p:cNvPr id="303" name="Google Shape;303;p9"/>
          <p:cNvSpPr/>
          <p:nvPr/>
        </p:nvSpPr>
        <p:spPr>
          <a:xfrm>
            <a:off x="614026" y="1135023"/>
            <a:ext cx="4606045" cy="1024421"/>
          </a:xfrm>
          <a:prstGeom prst="rect">
            <a:avLst/>
          </a:prstGeom>
          <a:solidFill>
            <a:srgbClr val="4D7D95">
              <a:alpha val="50196"/>
            </a:srgbClr>
          </a:solidFill>
          <a:ln>
            <a:noFill/>
          </a:ln>
        </p:spPr>
        <p:txBody>
          <a:bodyPr anchorCtr="0" anchor="ctr" bIns="45700" lIns="91425" spcFirstLastPara="1" rIns="91425" wrap="square" tIns="45700">
            <a:noAutofit/>
          </a:bodyPr>
          <a:lstStyle/>
          <a:p>
            <a:pPr indent="0" lvl="0" marL="0" marR="0" rtl="0" algn="just">
              <a:lnSpc>
                <a:spcPct val="120000"/>
              </a:lnSpc>
              <a:spcBef>
                <a:spcPts val="0"/>
              </a:spcBef>
              <a:spcAft>
                <a:spcPts val="0"/>
              </a:spcAft>
              <a:buClr>
                <a:srgbClr val="000000"/>
              </a:buClr>
              <a:buSzPts val="1200"/>
              <a:buFont typeface="Arial"/>
              <a:buNone/>
            </a:pPr>
            <a:r>
              <a:rPr b="0" i="1" lang="en-US" sz="1200" u="none" cap="none" strike="noStrike">
                <a:solidFill>
                  <a:srgbClr val="11384D"/>
                </a:solidFill>
                <a:latin typeface="Livvic"/>
                <a:ea typeface="Livvic"/>
                <a:cs typeface="Livvic"/>
                <a:sym typeface="Livvic"/>
              </a:rPr>
              <a:t>Esta diferencia entre extremos nos llevó a preguntarnos: ¿pasa lo mismo con el resto de los 300 clientes? Aplicamos un modelo de clustering sobre monto, ganancia y frecuencia, separando a los clientes sin compras en un grupo propio.</a:t>
            </a:r>
            <a:endParaRPr b="0" i="0" sz="1200" u="none" cap="none" strike="noStrike">
              <a:solidFill>
                <a:srgbClr val="11384D"/>
              </a:solidFill>
              <a:latin typeface="Livvic"/>
              <a:ea typeface="Livvic"/>
              <a:cs typeface="Livvic"/>
              <a:sym typeface="Livvic"/>
            </a:endParaRPr>
          </a:p>
        </p:txBody>
      </p:sp>
      <p:graphicFrame>
        <p:nvGraphicFramePr>
          <p:cNvPr id="304" name="Google Shape;304;p9"/>
          <p:cNvGraphicFramePr/>
          <p:nvPr/>
        </p:nvGraphicFramePr>
        <p:xfrm>
          <a:off x="784778" y="2307935"/>
          <a:ext cx="4101668" cy="2296165"/>
        </p:xfrm>
        <a:graphic>
          <a:graphicData uri="http://schemas.openxmlformats.org/drawingml/2006/chart">
            <c:chart r:id="rId3"/>
          </a:graphicData>
        </a:graphic>
      </p:graphicFrame>
      <p:sp>
        <p:nvSpPr>
          <p:cNvPr id="305" name="Google Shape;305;p9"/>
          <p:cNvSpPr/>
          <p:nvPr/>
        </p:nvSpPr>
        <p:spPr>
          <a:xfrm>
            <a:off x="5234940" y="1141878"/>
            <a:ext cx="2342907" cy="3966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250"/>
              <a:buFont typeface="Arial"/>
              <a:buNone/>
            </a:pPr>
            <a:r>
              <a:rPr b="1" i="0" lang="en-US" sz="1250" u="none" cap="none" strike="noStrike">
                <a:solidFill>
                  <a:srgbClr val="11384D"/>
                </a:solidFill>
                <a:latin typeface="Livvic Medium"/>
                <a:ea typeface="Livvic Medium"/>
                <a:cs typeface="Livvic Medium"/>
                <a:sym typeface="Livvic Medium"/>
              </a:rPr>
              <a:t>Alto Valor  </a:t>
            </a:r>
            <a:r>
              <a:rPr b="1" i="0" lang="en-US" sz="1250" u="none" cap="none" strike="noStrike">
                <a:solidFill>
                  <a:srgbClr val="4D7D95"/>
                </a:solidFill>
                <a:latin typeface="Livvic Medium"/>
                <a:ea typeface="Livvic Medium"/>
                <a:cs typeface="Livvic Medium"/>
                <a:sym typeface="Livvic Medium"/>
              </a:rPr>
              <a:t>16,7%</a:t>
            </a:r>
            <a:endParaRPr b="0" i="0" sz="1250" u="none" cap="none" strike="noStrike">
              <a:solidFill>
                <a:srgbClr val="4D7D95"/>
              </a:solidFill>
              <a:latin typeface="Livvic Medium"/>
              <a:ea typeface="Livvic Medium"/>
              <a:cs typeface="Livvic Medium"/>
              <a:sym typeface="Livvic Medium"/>
            </a:endParaRPr>
          </a:p>
        </p:txBody>
      </p:sp>
      <p:sp>
        <p:nvSpPr>
          <p:cNvPr id="306" name="Google Shape;306;p9"/>
          <p:cNvSpPr/>
          <p:nvPr/>
        </p:nvSpPr>
        <p:spPr>
          <a:xfrm>
            <a:off x="5234940" y="1487261"/>
            <a:ext cx="3286490" cy="594360"/>
          </a:xfrm>
          <a:prstGeom prst="rect">
            <a:avLst/>
          </a:prstGeom>
          <a:noFill/>
          <a:ln>
            <a:noFill/>
          </a:ln>
        </p:spPr>
        <p:txBody>
          <a:bodyPr anchorCtr="0" anchor="ctr" bIns="45700" lIns="91425" spcFirstLastPara="1" rIns="91425" wrap="square" tIns="45700">
            <a:noAutofit/>
          </a:bodyPr>
          <a:lstStyle/>
          <a:p>
            <a:pPr indent="0" lvl="0" marL="0" marR="0" rtl="0" algn="just">
              <a:lnSpc>
                <a:spcPct val="120000"/>
              </a:lnSpc>
              <a:spcBef>
                <a:spcPts val="0"/>
              </a:spcBef>
              <a:spcAft>
                <a:spcPts val="0"/>
              </a:spcAft>
              <a:buClr>
                <a:srgbClr val="000000"/>
              </a:buClr>
              <a:buSzPts val="1100"/>
              <a:buFont typeface="Arial"/>
              <a:buNone/>
            </a:pPr>
            <a:r>
              <a:rPr b="0" i="0" lang="en-US" sz="1100" u="none" cap="none" strike="noStrike">
                <a:solidFill>
                  <a:srgbClr val="181818"/>
                </a:solidFill>
                <a:latin typeface="Livvic"/>
                <a:ea typeface="Livvic"/>
                <a:cs typeface="Livvic"/>
                <a:sym typeface="Livvic"/>
              </a:rPr>
              <a:t>50 clientes - Concentran el 32,6% de la ganancia. Compran seguido y gastan mucho ($37.757 prom.).</a:t>
            </a:r>
            <a:endParaRPr b="0" i="0" sz="1100" u="none" cap="none" strike="noStrike">
              <a:solidFill>
                <a:srgbClr val="181818"/>
              </a:solidFill>
              <a:latin typeface="Livvic"/>
              <a:ea typeface="Livvic"/>
              <a:cs typeface="Livvic"/>
              <a:sym typeface="Livvic"/>
            </a:endParaRPr>
          </a:p>
        </p:txBody>
      </p:sp>
      <p:sp>
        <p:nvSpPr>
          <p:cNvPr id="307" name="Google Shape;307;p9"/>
          <p:cNvSpPr/>
          <p:nvPr/>
        </p:nvSpPr>
        <p:spPr>
          <a:xfrm>
            <a:off x="5234940" y="2059686"/>
            <a:ext cx="2342907" cy="27432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250"/>
              <a:buFont typeface="Arial"/>
              <a:buNone/>
            </a:pPr>
            <a:r>
              <a:rPr b="1" i="0" lang="en-US" sz="1250" u="none" cap="none" strike="noStrike">
                <a:solidFill>
                  <a:srgbClr val="11384D"/>
                </a:solidFill>
                <a:latin typeface="Livvic Medium"/>
                <a:ea typeface="Livvic Medium"/>
                <a:cs typeface="Livvic Medium"/>
                <a:sym typeface="Livvic Medium"/>
              </a:rPr>
              <a:t>Recurrentes</a:t>
            </a:r>
            <a:r>
              <a:rPr b="1" i="0" lang="en-US" sz="1250" u="none" cap="none" strike="noStrike">
                <a:solidFill>
                  <a:srgbClr val="1B3B6F"/>
                </a:solidFill>
                <a:latin typeface="Livvic Medium"/>
                <a:ea typeface="Livvic Medium"/>
                <a:cs typeface="Livvic Medium"/>
                <a:sym typeface="Livvic Medium"/>
              </a:rPr>
              <a:t>  </a:t>
            </a:r>
            <a:r>
              <a:rPr b="1" i="0" lang="en-US" sz="1250" u="none" cap="none" strike="noStrike">
                <a:solidFill>
                  <a:srgbClr val="4D7D95"/>
                </a:solidFill>
                <a:latin typeface="Livvic Medium"/>
                <a:ea typeface="Livvic Medium"/>
                <a:cs typeface="Livvic Medium"/>
                <a:sym typeface="Livvic Medium"/>
              </a:rPr>
              <a:t>40,0%</a:t>
            </a:r>
            <a:endParaRPr b="0" i="0" sz="1250" u="none" cap="none" strike="noStrike">
              <a:solidFill>
                <a:srgbClr val="4D7D95"/>
              </a:solidFill>
              <a:latin typeface="Livvic Medium"/>
              <a:ea typeface="Livvic Medium"/>
              <a:cs typeface="Livvic Medium"/>
              <a:sym typeface="Livvic Medium"/>
            </a:endParaRPr>
          </a:p>
        </p:txBody>
      </p:sp>
      <p:sp>
        <p:nvSpPr>
          <p:cNvPr id="308" name="Google Shape;308;p9"/>
          <p:cNvSpPr/>
          <p:nvPr/>
        </p:nvSpPr>
        <p:spPr>
          <a:xfrm>
            <a:off x="5234940" y="2334006"/>
            <a:ext cx="3286490" cy="594360"/>
          </a:xfrm>
          <a:prstGeom prst="rect">
            <a:avLst/>
          </a:prstGeom>
          <a:noFill/>
          <a:ln>
            <a:noFill/>
          </a:ln>
        </p:spPr>
        <p:txBody>
          <a:bodyPr anchorCtr="0" anchor="ctr" bIns="45700" lIns="91425" spcFirstLastPara="1" rIns="91425" wrap="square" tIns="45700">
            <a:noAutofit/>
          </a:bodyPr>
          <a:lstStyle/>
          <a:p>
            <a:pPr indent="0" lvl="0" marL="0" marR="0" rtl="0" algn="just">
              <a:lnSpc>
                <a:spcPct val="120000"/>
              </a:lnSpc>
              <a:spcBef>
                <a:spcPts val="0"/>
              </a:spcBef>
              <a:spcAft>
                <a:spcPts val="0"/>
              </a:spcAft>
              <a:buClr>
                <a:srgbClr val="000000"/>
              </a:buClr>
              <a:buSzPts val="1100"/>
              <a:buFont typeface="Arial"/>
              <a:buNone/>
            </a:pPr>
            <a:r>
              <a:rPr b="0" i="0" lang="en-US" sz="1100" u="none" cap="none" strike="noStrike">
                <a:solidFill>
                  <a:srgbClr val="181818"/>
                </a:solidFill>
                <a:latin typeface="Livvic"/>
                <a:ea typeface="Livvic"/>
                <a:cs typeface="Livvic"/>
                <a:sym typeface="Livvic"/>
              </a:rPr>
              <a:t>120 clientes - El grupo más numeroso de clientes activos. Generan el 46,6% de la ganancia total.</a:t>
            </a:r>
            <a:endParaRPr b="0" i="0" sz="1100" u="none" cap="none" strike="noStrike">
              <a:solidFill>
                <a:srgbClr val="181818"/>
              </a:solidFill>
              <a:latin typeface="Livvic"/>
              <a:ea typeface="Livvic"/>
              <a:cs typeface="Livvic"/>
              <a:sym typeface="Livvic"/>
            </a:endParaRPr>
          </a:p>
        </p:txBody>
      </p:sp>
      <p:sp>
        <p:nvSpPr>
          <p:cNvPr id="309" name="Google Shape;309;p9"/>
          <p:cNvSpPr/>
          <p:nvPr/>
        </p:nvSpPr>
        <p:spPr>
          <a:xfrm>
            <a:off x="5234939" y="2855214"/>
            <a:ext cx="2216447" cy="27432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250"/>
              <a:buFont typeface="Arial"/>
              <a:buNone/>
            </a:pPr>
            <a:r>
              <a:rPr b="1" i="0" lang="en-US" sz="1250" u="none" cap="none" strike="noStrike">
                <a:solidFill>
                  <a:srgbClr val="11384D"/>
                </a:solidFill>
                <a:latin typeface="Livvic Medium"/>
                <a:ea typeface="Livvic Medium"/>
                <a:cs typeface="Livvic Medium"/>
                <a:sym typeface="Livvic Medium"/>
              </a:rPr>
              <a:t>Ocasionales</a:t>
            </a:r>
            <a:r>
              <a:rPr b="1" i="0" lang="en-US" sz="1250" u="none" cap="none" strike="noStrike">
                <a:solidFill>
                  <a:srgbClr val="1B3B6F"/>
                </a:solidFill>
                <a:latin typeface="Livvic Medium"/>
                <a:ea typeface="Livvic Medium"/>
                <a:cs typeface="Livvic Medium"/>
                <a:sym typeface="Livvic Medium"/>
              </a:rPr>
              <a:t>  </a:t>
            </a:r>
            <a:r>
              <a:rPr b="1" i="0" lang="en-US" sz="1250" u="none" cap="none" strike="noStrike">
                <a:solidFill>
                  <a:srgbClr val="4D7D95"/>
                </a:solidFill>
                <a:latin typeface="Livvic Medium"/>
                <a:ea typeface="Livvic Medium"/>
                <a:cs typeface="Livvic Medium"/>
                <a:sym typeface="Livvic Medium"/>
              </a:rPr>
              <a:t>39,7%</a:t>
            </a:r>
            <a:endParaRPr b="0" i="0" sz="1250" u="none" cap="none" strike="noStrike">
              <a:solidFill>
                <a:srgbClr val="4D7D95"/>
              </a:solidFill>
              <a:latin typeface="Livvic Medium"/>
              <a:ea typeface="Livvic Medium"/>
              <a:cs typeface="Livvic Medium"/>
              <a:sym typeface="Livvic Medium"/>
            </a:endParaRPr>
          </a:p>
        </p:txBody>
      </p:sp>
      <p:sp>
        <p:nvSpPr>
          <p:cNvPr id="310" name="Google Shape;310;p9"/>
          <p:cNvSpPr/>
          <p:nvPr/>
        </p:nvSpPr>
        <p:spPr>
          <a:xfrm>
            <a:off x="5234940" y="3129534"/>
            <a:ext cx="3286490" cy="594360"/>
          </a:xfrm>
          <a:prstGeom prst="rect">
            <a:avLst/>
          </a:prstGeom>
          <a:noFill/>
          <a:ln>
            <a:noFill/>
          </a:ln>
        </p:spPr>
        <p:txBody>
          <a:bodyPr anchorCtr="0" anchor="ctr" bIns="45700" lIns="91425" spcFirstLastPara="1" rIns="91425" wrap="square" tIns="45700">
            <a:noAutofit/>
          </a:bodyPr>
          <a:lstStyle/>
          <a:p>
            <a:pPr indent="0" lvl="0" marL="0" marR="0" rtl="0" algn="just">
              <a:lnSpc>
                <a:spcPct val="120000"/>
              </a:lnSpc>
              <a:spcBef>
                <a:spcPts val="0"/>
              </a:spcBef>
              <a:spcAft>
                <a:spcPts val="0"/>
              </a:spcAft>
              <a:buClr>
                <a:srgbClr val="000000"/>
              </a:buClr>
              <a:buSzPts val="1100"/>
              <a:buFont typeface="Arial"/>
              <a:buNone/>
            </a:pPr>
            <a:r>
              <a:rPr b="0" i="0" lang="en-US" sz="1100" u="none" cap="none" strike="noStrike">
                <a:solidFill>
                  <a:srgbClr val="181818"/>
                </a:solidFill>
                <a:latin typeface="Livvic"/>
                <a:ea typeface="Livvic"/>
                <a:cs typeface="Livvic"/>
                <a:sym typeface="Livvic"/>
              </a:rPr>
              <a:t>119 clientes - El grupo con más clientes, pero el que menos aporta: solo 20,8% de la ganancia.</a:t>
            </a:r>
            <a:endParaRPr b="0" i="0" sz="1100" u="none" cap="none" strike="noStrike">
              <a:solidFill>
                <a:srgbClr val="181818"/>
              </a:solidFill>
              <a:latin typeface="Livvic"/>
              <a:ea typeface="Livvic"/>
              <a:cs typeface="Livvic"/>
              <a:sym typeface="Livvic"/>
            </a:endParaRPr>
          </a:p>
        </p:txBody>
      </p:sp>
      <p:sp>
        <p:nvSpPr>
          <p:cNvPr id="311" name="Google Shape;311;p9"/>
          <p:cNvSpPr/>
          <p:nvPr/>
        </p:nvSpPr>
        <p:spPr>
          <a:xfrm>
            <a:off x="5234940" y="3650742"/>
            <a:ext cx="2342907" cy="27432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250"/>
              <a:buFont typeface="Arial"/>
              <a:buNone/>
            </a:pPr>
            <a:r>
              <a:rPr b="1" i="0" lang="en-US" sz="1250" u="none" cap="none" strike="noStrike">
                <a:solidFill>
                  <a:srgbClr val="11384D"/>
                </a:solidFill>
                <a:latin typeface="Livvic Medium"/>
                <a:ea typeface="Livvic Medium"/>
                <a:cs typeface="Livvic Medium"/>
                <a:sym typeface="Livvic Medium"/>
              </a:rPr>
              <a:t>Sin Compras  </a:t>
            </a:r>
            <a:r>
              <a:rPr b="1" i="0" lang="en-US" sz="1250" u="none" cap="none" strike="noStrike">
                <a:solidFill>
                  <a:srgbClr val="4D7D95"/>
                </a:solidFill>
                <a:latin typeface="Livvic Medium"/>
                <a:ea typeface="Livvic Medium"/>
                <a:cs typeface="Livvic Medium"/>
                <a:sym typeface="Livvic Medium"/>
              </a:rPr>
              <a:t>3,7%</a:t>
            </a:r>
            <a:endParaRPr b="0" i="0" sz="1250" u="none" cap="none" strike="noStrike">
              <a:solidFill>
                <a:srgbClr val="4D7D95"/>
              </a:solidFill>
              <a:latin typeface="Livvic Medium"/>
              <a:ea typeface="Livvic Medium"/>
              <a:cs typeface="Livvic Medium"/>
              <a:sym typeface="Livvic Medium"/>
            </a:endParaRPr>
          </a:p>
        </p:txBody>
      </p:sp>
      <p:sp>
        <p:nvSpPr>
          <p:cNvPr id="312" name="Google Shape;312;p9"/>
          <p:cNvSpPr/>
          <p:nvPr/>
        </p:nvSpPr>
        <p:spPr>
          <a:xfrm>
            <a:off x="5234940" y="3925062"/>
            <a:ext cx="3286490" cy="594360"/>
          </a:xfrm>
          <a:prstGeom prst="rect">
            <a:avLst/>
          </a:prstGeom>
          <a:noFill/>
          <a:ln>
            <a:noFill/>
          </a:ln>
        </p:spPr>
        <p:txBody>
          <a:bodyPr anchorCtr="0" anchor="ctr" bIns="45700" lIns="91425" spcFirstLastPara="1" rIns="91425" wrap="square" tIns="45700">
            <a:noAutofit/>
          </a:bodyPr>
          <a:lstStyle/>
          <a:p>
            <a:pPr indent="0" lvl="0" marL="0" marR="0" rtl="0" algn="just">
              <a:lnSpc>
                <a:spcPct val="120000"/>
              </a:lnSpc>
              <a:spcBef>
                <a:spcPts val="0"/>
              </a:spcBef>
              <a:spcAft>
                <a:spcPts val="0"/>
              </a:spcAft>
              <a:buClr>
                <a:srgbClr val="000000"/>
              </a:buClr>
              <a:buSzPts val="1100"/>
              <a:buFont typeface="Arial"/>
              <a:buNone/>
            </a:pPr>
            <a:r>
              <a:rPr b="0" i="0" lang="en-US" sz="1100" u="none" cap="none" strike="noStrike">
                <a:solidFill>
                  <a:srgbClr val="181818"/>
                </a:solidFill>
                <a:latin typeface="Livvic"/>
                <a:ea typeface="Livvic"/>
                <a:cs typeface="Livvic"/>
                <a:sym typeface="Livvic"/>
              </a:rPr>
              <a:t>11 clientes que nunca compraron. Requieren estrategia de primera conversión, no de fidelización.</a:t>
            </a:r>
            <a:endParaRPr b="0" i="0" sz="1100" u="none" cap="none" strike="noStrike">
              <a:solidFill>
                <a:srgbClr val="181818"/>
              </a:solidFill>
              <a:latin typeface="Livvic"/>
              <a:ea typeface="Livvic"/>
              <a:cs typeface="Livvic"/>
              <a:sym typeface="Livv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0"/>
          <p:cNvSpPr txBox="1"/>
          <p:nvPr>
            <p:ph type="title"/>
          </p:nvPr>
        </p:nvSpPr>
        <p:spPr>
          <a:xfrm>
            <a:off x="720000" y="539400"/>
            <a:ext cx="7704000" cy="5178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a:t>Limitaciones y recomendaciones</a:t>
            </a:r>
            <a:endParaRPr/>
          </a:p>
        </p:txBody>
      </p:sp>
      <p:grpSp>
        <p:nvGrpSpPr>
          <p:cNvPr id="318" name="Google Shape;318;p10"/>
          <p:cNvGrpSpPr/>
          <p:nvPr/>
        </p:nvGrpSpPr>
        <p:grpSpPr>
          <a:xfrm>
            <a:off x="802961" y="1312736"/>
            <a:ext cx="355434" cy="355815"/>
            <a:chOff x="4673540" y="3680297"/>
            <a:chExt cx="355434" cy="355815"/>
          </a:xfrm>
        </p:grpSpPr>
        <p:sp>
          <p:nvSpPr>
            <p:cNvPr id="319" name="Google Shape;319;p10"/>
            <p:cNvSpPr/>
            <p:nvPr/>
          </p:nvSpPr>
          <p:spPr>
            <a:xfrm>
              <a:off x="4673540" y="3680297"/>
              <a:ext cx="355434" cy="355815"/>
            </a:xfrm>
            <a:custGeom>
              <a:rect b="b" l="l" r="r" t="t"/>
              <a:pathLst>
                <a:path extrusionOk="0" h="11205" w="11193">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rgbClr val="11384D"/>
            </a:solidFill>
            <a:ln cap="flat" cmpd="sng" w="9525">
              <a:solidFill>
                <a:srgbClr val="4760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0"/>
            <p:cNvSpPr/>
            <p:nvPr/>
          </p:nvSpPr>
          <p:spPr>
            <a:xfrm>
              <a:off x="4805864" y="3736630"/>
              <a:ext cx="93042" cy="92661"/>
            </a:xfrm>
            <a:custGeom>
              <a:rect b="b" l="l" r="r" t="t"/>
              <a:pathLst>
                <a:path extrusionOk="0" h="2918" w="293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0"/>
            <p:cNvSpPr/>
            <p:nvPr/>
          </p:nvSpPr>
          <p:spPr>
            <a:xfrm>
              <a:off x="4779380" y="3841358"/>
              <a:ext cx="143723" cy="138801"/>
            </a:xfrm>
            <a:custGeom>
              <a:rect b="b" l="l" r="r" t="t"/>
              <a:pathLst>
                <a:path extrusionOk="0" h="4371" w="4526">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2" name="Google Shape;322;p10"/>
          <p:cNvGrpSpPr/>
          <p:nvPr/>
        </p:nvGrpSpPr>
        <p:grpSpPr>
          <a:xfrm>
            <a:off x="802961" y="1989514"/>
            <a:ext cx="355434" cy="355815"/>
            <a:chOff x="4673540" y="3680297"/>
            <a:chExt cx="355434" cy="355815"/>
          </a:xfrm>
        </p:grpSpPr>
        <p:sp>
          <p:nvSpPr>
            <p:cNvPr id="323" name="Google Shape;323;p10"/>
            <p:cNvSpPr/>
            <p:nvPr/>
          </p:nvSpPr>
          <p:spPr>
            <a:xfrm>
              <a:off x="4673540" y="3680297"/>
              <a:ext cx="355434" cy="355815"/>
            </a:xfrm>
            <a:custGeom>
              <a:rect b="b" l="l" r="r" t="t"/>
              <a:pathLst>
                <a:path extrusionOk="0" h="11205" w="11193">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rgbClr val="11384D"/>
            </a:solidFill>
            <a:ln cap="flat" cmpd="sng" w="9525">
              <a:solidFill>
                <a:srgbClr val="4760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0"/>
            <p:cNvSpPr/>
            <p:nvPr/>
          </p:nvSpPr>
          <p:spPr>
            <a:xfrm>
              <a:off x="4805864" y="3736630"/>
              <a:ext cx="93042" cy="92661"/>
            </a:xfrm>
            <a:custGeom>
              <a:rect b="b" l="l" r="r" t="t"/>
              <a:pathLst>
                <a:path extrusionOk="0" h="2918" w="293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0"/>
            <p:cNvSpPr/>
            <p:nvPr/>
          </p:nvSpPr>
          <p:spPr>
            <a:xfrm>
              <a:off x="4779380" y="3841358"/>
              <a:ext cx="143723" cy="138801"/>
            </a:xfrm>
            <a:custGeom>
              <a:rect b="b" l="l" r="r" t="t"/>
              <a:pathLst>
                <a:path extrusionOk="0" h="4371" w="4526">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6" name="Google Shape;326;p10"/>
          <p:cNvGrpSpPr/>
          <p:nvPr/>
        </p:nvGrpSpPr>
        <p:grpSpPr>
          <a:xfrm>
            <a:off x="802961" y="2666528"/>
            <a:ext cx="355434" cy="355815"/>
            <a:chOff x="4673540" y="3680297"/>
            <a:chExt cx="355434" cy="355815"/>
          </a:xfrm>
        </p:grpSpPr>
        <p:sp>
          <p:nvSpPr>
            <p:cNvPr id="327" name="Google Shape;327;p10"/>
            <p:cNvSpPr/>
            <p:nvPr/>
          </p:nvSpPr>
          <p:spPr>
            <a:xfrm>
              <a:off x="4673540" y="3680297"/>
              <a:ext cx="355434" cy="355815"/>
            </a:xfrm>
            <a:custGeom>
              <a:rect b="b" l="l" r="r" t="t"/>
              <a:pathLst>
                <a:path extrusionOk="0" h="11205" w="11193">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rgbClr val="11384D"/>
            </a:solidFill>
            <a:ln cap="flat" cmpd="sng" w="9525">
              <a:solidFill>
                <a:srgbClr val="4760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0"/>
            <p:cNvSpPr/>
            <p:nvPr/>
          </p:nvSpPr>
          <p:spPr>
            <a:xfrm>
              <a:off x="4805864" y="3736630"/>
              <a:ext cx="93042" cy="92661"/>
            </a:xfrm>
            <a:custGeom>
              <a:rect b="b" l="l" r="r" t="t"/>
              <a:pathLst>
                <a:path extrusionOk="0" h="2918" w="293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0"/>
            <p:cNvSpPr/>
            <p:nvPr/>
          </p:nvSpPr>
          <p:spPr>
            <a:xfrm>
              <a:off x="4779380" y="3841358"/>
              <a:ext cx="143723" cy="138801"/>
            </a:xfrm>
            <a:custGeom>
              <a:rect b="b" l="l" r="r" t="t"/>
              <a:pathLst>
                <a:path extrusionOk="0" h="4371" w="4526">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0" name="Google Shape;330;p10"/>
          <p:cNvSpPr txBox="1"/>
          <p:nvPr/>
        </p:nvSpPr>
        <p:spPr>
          <a:xfrm>
            <a:off x="1184848" y="1305233"/>
            <a:ext cx="7050351"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263E4A"/>
                </a:solidFill>
                <a:latin typeface="Livvic Medium"/>
                <a:ea typeface="Livvic Medium"/>
                <a:cs typeface="Livvic Medium"/>
                <a:sym typeface="Livvic Medium"/>
              </a:rPr>
              <a:t>Los montos incluyen pedidos </a:t>
            </a:r>
            <a:r>
              <a:rPr b="0" i="1" lang="en-US" sz="1400" u="none" cap="none" strike="noStrike">
                <a:solidFill>
                  <a:srgbClr val="263E4A"/>
                </a:solidFill>
                <a:latin typeface="Livvic Medium"/>
                <a:ea typeface="Livvic Medium"/>
                <a:cs typeface="Livvic Medium"/>
                <a:sym typeface="Livvic Medium"/>
              </a:rPr>
              <a:t>Cancelados</a:t>
            </a:r>
            <a:r>
              <a:rPr b="0" i="0" lang="en-US" sz="1400" u="none" cap="none" strike="noStrike">
                <a:solidFill>
                  <a:srgbClr val="263E4A"/>
                </a:solidFill>
                <a:latin typeface="Livvic Medium"/>
                <a:ea typeface="Livvic Medium"/>
                <a:cs typeface="Livvic Medium"/>
                <a:sym typeface="Livvic Medium"/>
              </a:rPr>
              <a:t> y </a:t>
            </a:r>
            <a:r>
              <a:rPr b="0" i="1" lang="en-US" sz="1400" u="none" cap="none" strike="noStrike">
                <a:solidFill>
                  <a:srgbClr val="263E4A"/>
                </a:solidFill>
                <a:latin typeface="Livvic Medium"/>
                <a:ea typeface="Livvic Medium"/>
                <a:cs typeface="Livvic Medium"/>
                <a:sym typeface="Livvic Medium"/>
              </a:rPr>
              <a:t>Devueltos</a:t>
            </a:r>
            <a:r>
              <a:rPr b="0" i="0" lang="en-US" sz="1400" u="none" cap="none" strike="noStrike">
                <a:solidFill>
                  <a:srgbClr val="263E4A"/>
                </a:solidFill>
                <a:latin typeface="Livvic Medium"/>
                <a:ea typeface="Livvic Medium"/>
                <a:cs typeface="Livvic Medium"/>
                <a:sym typeface="Livvic Medium"/>
              </a:rPr>
              <a:t>, no solo </a:t>
            </a:r>
            <a:r>
              <a:rPr b="0" i="1" lang="en-US" sz="1400" u="none" cap="none" strike="noStrike">
                <a:solidFill>
                  <a:srgbClr val="263E4A"/>
                </a:solidFill>
                <a:latin typeface="Livvic Medium"/>
                <a:ea typeface="Livvic Medium"/>
                <a:cs typeface="Livvic Medium"/>
                <a:sym typeface="Livvic Medium"/>
              </a:rPr>
              <a:t>Completados</a:t>
            </a:r>
            <a:r>
              <a:rPr b="0" i="0" lang="en-US" sz="1400" u="none" cap="none" strike="noStrike">
                <a:solidFill>
                  <a:srgbClr val="263E4A"/>
                </a:solidFill>
                <a:latin typeface="Livvic Medium"/>
                <a:ea typeface="Livvic Medium"/>
                <a:cs typeface="Livvic Medium"/>
                <a:sym typeface="Livvic Medium"/>
              </a:rPr>
              <a:t>, por una limitación de la consulta original del Hito 1.</a:t>
            </a:r>
            <a:endParaRPr b="0" i="0" sz="1400" u="none" cap="none" strike="noStrike">
              <a:solidFill>
                <a:srgbClr val="263E4A"/>
              </a:solidFill>
              <a:latin typeface="Livvic Medium"/>
              <a:ea typeface="Livvic Medium"/>
              <a:cs typeface="Livvic Medium"/>
              <a:sym typeface="Livvic Medium"/>
            </a:endParaRPr>
          </a:p>
        </p:txBody>
      </p:sp>
      <p:sp>
        <p:nvSpPr>
          <p:cNvPr id="331" name="Google Shape;331;p10"/>
          <p:cNvSpPr txBox="1"/>
          <p:nvPr/>
        </p:nvSpPr>
        <p:spPr>
          <a:xfrm>
            <a:off x="1184848" y="1989632"/>
            <a:ext cx="6138557"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263E4A"/>
                </a:solidFill>
                <a:latin typeface="Livvic Medium"/>
                <a:ea typeface="Livvic Medium"/>
                <a:cs typeface="Livvic Medium"/>
                <a:sym typeface="Livvic Medium"/>
              </a:rPr>
              <a:t>El modelo no incorpora la recencia de compra (RFM completo); esa dimensión ya está cubierta en el dashboard (Evolución Temporal).</a:t>
            </a:r>
            <a:endParaRPr b="0" i="0" sz="1400" u="none" cap="none" strike="noStrike">
              <a:solidFill>
                <a:srgbClr val="263E4A"/>
              </a:solidFill>
              <a:latin typeface="Livvic Medium"/>
              <a:ea typeface="Livvic Medium"/>
              <a:cs typeface="Livvic Medium"/>
              <a:sym typeface="Livvic Medium"/>
            </a:endParaRPr>
          </a:p>
        </p:txBody>
      </p:sp>
      <p:sp>
        <p:nvSpPr>
          <p:cNvPr id="332" name="Google Shape;332;p10"/>
          <p:cNvSpPr txBox="1"/>
          <p:nvPr/>
        </p:nvSpPr>
        <p:spPr>
          <a:xfrm>
            <a:off x="1158364" y="2635379"/>
            <a:ext cx="7076835"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263E4A"/>
                </a:solidFill>
                <a:latin typeface="Livvic Medium"/>
                <a:ea typeface="Livvic Medium"/>
                <a:cs typeface="Livvic Medium"/>
                <a:sym typeface="Livvic Medium"/>
              </a:rPr>
              <a:t>Detectamos inconsistencias en fechas de pedidos; decidimos no corregirlas por falta de una fuente de información confiable.</a:t>
            </a:r>
            <a:endParaRPr b="0" i="0" sz="1400" u="none" cap="none" strike="noStrike">
              <a:solidFill>
                <a:srgbClr val="263E4A"/>
              </a:solidFill>
              <a:latin typeface="Livvic Medium"/>
              <a:ea typeface="Livvic Medium"/>
              <a:cs typeface="Livvic Medium"/>
              <a:sym typeface="Livvic Medium"/>
            </a:endParaRPr>
          </a:p>
        </p:txBody>
      </p:sp>
      <p:sp>
        <p:nvSpPr>
          <p:cNvPr id="333" name="Google Shape;333;p10"/>
          <p:cNvSpPr txBox="1"/>
          <p:nvPr/>
        </p:nvSpPr>
        <p:spPr>
          <a:xfrm>
            <a:off x="1449659" y="3382537"/>
            <a:ext cx="6125736" cy="1046440"/>
          </a:xfrm>
          <a:prstGeom prst="rect">
            <a:avLst/>
          </a:prstGeom>
          <a:solidFill>
            <a:schemeClr val="lt2">
              <a:alpha val="50196"/>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1400" u="none" cap="none" strike="noStrike">
                <a:solidFill>
                  <a:srgbClr val="0B2533"/>
                </a:solidFill>
                <a:latin typeface="Livvic Medium"/>
                <a:ea typeface="Livvic Medium"/>
                <a:cs typeface="Livvic Medium"/>
                <a:sym typeface="Livvic Medium"/>
              </a:rPr>
              <a:t>ESCUDO ÉTICO — AUDITORÍA DE RIESGOS</a:t>
            </a:r>
            <a:endParaRPr/>
          </a:p>
          <a:p>
            <a:pPr indent="0" lvl="0" marL="0" marR="0" rtl="0" algn="just">
              <a:lnSpc>
                <a:spcPct val="100000"/>
              </a:lnSpc>
              <a:spcBef>
                <a:spcPts val="0"/>
              </a:spcBef>
              <a:spcAft>
                <a:spcPts val="0"/>
              </a:spcAft>
              <a:buNone/>
            </a:pPr>
            <a:r>
              <a:rPr b="0" i="0" lang="en-US" sz="1200" u="none" cap="none" strike="noStrike">
                <a:solidFill>
                  <a:srgbClr val="11384D"/>
                </a:solidFill>
                <a:latin typeface="Livvic"/>
                <a:ea typeface="Livvic"/>
                <a:cs typeface="Livvic"/>
                <a:sym typeface="Livvic"/>
              </a:rPr>
              <a:t>Se revisó el dataset en busca de sesgos y datos sensibles: no se encontraron riesgos éticos graves. El principal riesgo identificado fue que la segmentación derive en peor atención a los clientes de menor valor. Nuestras recomendaciones buscan redirigir recursos de forma eficiente, no excluir a ningún segmento del servicio esencial.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1"/>
          <p:cNvSpPr txBox="1"/>
          <p:nvPr>
            <p:ph type="title"/>
          </p:nvPr>
        </p:nvSpPr>
        <p:spPr>
          <a:xfrm>
            <a:off x="720000" y="539400"/>
            <a:ext cx="7704000" cy="51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Recomendaciones estratégicas</a:t>
            </a:r>
            <a:endParaRPr/>
          </a:p>
        </p:txBody>
      </p:sp>
      <p:grpSp>
        <p:nvGrpSpPr>
          <p:cNvPr id="339" name="Google Shape;339;p11"/>
          <p:cNvGrpSpPr/>
          <p:nvPr/>
        </p:nvGrpSpPr>
        <p:grpSpPr>
          <a:xfrm>
            <a:off x="840059" y="1361781"/>
            <a:ext cx="3692550" cy="1119177"/>
            <a:chOff x="1046767" y="4756633"/>
            <a:chExt cx="859646" cy="292841"/>
          </a:xfrm>
        </p:grpSpPr>
        <p:sp>
          <p:nvSpPr>
            <p:cNvPr id="340" name="Google Shape;340;p11"/>
            <p:cNvSpPr/>
            <p:nvPr/>
          </p:nvSpPr>
          <p:spPr>
            <a:xfrm>
              <a:off x="1046767" y="4811593"/>
              <a:ext cx="859646" cy="237881"/>
            </a:xfrm>
            <a:custGeom>
              <a:rect b="b" l="l" r="r" t="t"/>
              <a:pathLst>
                <a:path extrusionOk="0" fill="none" h="35812" w="129416">
                  <a:moveTo>
                    <a:pt x="31737" y="0"/>
                  </a:moveTo>
                  <a:cubicBezTo>
                    <a:pt x="33960" y="8644"/>
                    <a:pt x="27539" y="17041"/>
                    <a:pt x="18524" y="17041"/>
                  </a:cubicBezTo>
                  <a:cubicBezTo>
                    <a:pt x="9633" y="17041"/>
                    <a:pt x="3088" y="8644"/>
                    <a:pt x="5434" y="0"/>
                  </a:cubicBezTo>
                  <a:lnTo>
                    <a:pt x="2594" y="0"/>
                  </a:lnTo>
                  <a:cubicBezTo>
                    <a:pt x="1236" y="0"/>
                    <a:pt x="1" y="1112"/>
                    <a:pt x="1" y="2594"/>
                  </a:cubicBezTo>
                  <a:lnTo>
                    <a:pt x="1" y="35811"/>
                  </a:lnTo>
                  <a:lnTo>
                    <a:pt x="126823" y="35811"/>
                  </a:lnTo>
                  <a:cubicBezTo>
                    <a:pt x="128304" y="35811"/>
                    <a:pt x="129416" y="34576"/>
                    <a:pt x="129416" y="33218"/>
                  </a:cubicBezTo>
                  <a:lnTo>
                    <a:pt x="129416"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11"/>
            <p:cNvSpPr/>
            <p:nvPr/>
          </p:nvSpPr>
          <p:spPr>
            <a:xfrm>
              <a:off x="1046767" y="4983846"/>
              <a:ext cx="65628" cy="65628"/>
            </a:xfrm>
            <a:custGeom>
              <a:rect b="b" l="l" r="r" t="t"/>
              <a:pathLst>
                <a:path extrusionOk="0" fill="none" h="9880" w="9880">
                  <a:moveTo>
                    <a:pt x="1" y="0"/>
                  </a:moveTo>
                  <a:lnTo>
                    <a:pt x="1" y="9879"/>
                  </a:lnTo>
                  <a:lnTo>
                    <a:pt x="9880" y="9879"/>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1"/>
            <p:cNvSpPr/>
            <p:nvPr/>
          </p:nvSpPr>
          <p:spPr>
            <a:xfrm>
              <a:off x="1067279" y="4756633"/>
              <a:ext cx="179640" cy="179646"/>
            </a:xfrm>
            <a:custGeom>
              <a:rect b="b" l="l" r="r" t="t"/>
              <a:pathLst>
                <a:path extrusionOk="0" fill="none" h="27045" w="27044">
                  <a:moveTo>
                    <a:pt x="15560" y="1"/>
                  </a:moveTo>
                  <a:cubicBezTo>
                    <a:pt x="5187" y="1"/>
                    <a:pt x="0" y="12473"/>
                    <a:pt x="7286" y="19759"/>
                  </a:cubicBezTo>
                  <a:cubicBezTo>
                    <a:pt x="14572" y="27044"/>
                    <a:pt x="27044" y="21858"/>
                    <a:pt x="27044" y="11609"/>
                  </a:cubicBezTo>
                  <a:cubicBezTo>
                    <a:pt x="27044" y="5187"/>
                    <a:pt x="21857" y="1"/>
                    <a:pt x="15560" y="1"/>
                  </a:cubicBezTo>
                  <a:close/>
                </a:path>
              </a:pathLst>
            </a:custGeom>
            <a:noFill/>
            <a:ln cap="flat" cmpd="sng" w="9525">
              <a:solidFill>
                <a:srgbClr val="A5B7C5"/>
              </a:solidFill>
              <a:prstDash val="solid"/>
              <a:miter lim="1234"/>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3" name="Google Shape;343;p11"/>
          <p:cNvGrpSpPr/>
          <p:nvPr/>
        </p:nvGrpSpPr>
        <p:grpSpPr>
          <a:xfrm>
            <a:off x="4731450" y="2349188"/>
            <a:ext cx="3692550" cy="1119177"/>
            <a:chOff x="1046767" y="4756633"/>
            <a:chExt cx="859646" cy="292841"/>
          </a:xfrm>
        </p:grpSpPr>
        <p:sp>
          <p:nvSpPr>
            <p:cNvPr id="344" name="Google Shape;344;p11"/>
            <p:cNvSpPr/>
            <p:nvPr/>
          </p:nvSpPr>
          <p:spPr>
            <a:xfrm>
              <a:off x="1046767" y="4811593"/>
              <a:ext cx="859646" cy="237881"/>
            </a:xfrm>
            <a:custGeom>
              <a:rect b="b" l="l" r="r" t="t"/>
              <a:pathLst>
                <a:path extrusionOk="0" fill="none" h="35812" w="129416">
                  <a:moveTo>
                    <a:pt x="31737" y="0"/>
                  </a:moveTo>
                  <a:cubicBezTo>
                    <a:pt x="33960" y="8644"/>
                    <a:pt x="27539" y="17041"/>
                    <a:pt x="18524" y="17041"/>
                  </a:cubicBezTo>
                  <a:cubicBezTo>
                    <a:pt x="9633" y="17041"/>
                    <a:pt x="3088" y="8644"/>
                    <a:pt x="5434" y="0"/>
                  </a:cubicBezTo>
                  <a:lnTo>
                    <a:pt x="2594" y="0"/>
                  </a:lnTo>
                  <a:cubicBezTo>
                    <a:pt x="1236" y="0"/>
                    <a:pt x="1" y="1112"/>
                    <a:pt x="1" y="2594"/>
                  </a:cubicBezTo>
                  <a:lnTo>
                    <a:pt x="1" y="35811"/>
                  </a:lnTo>
                  <a:lnTo>
                    <a:pt x="126823" y="35811"/>
                  </a:lnTo>
                  <a:cubicBezTo>
                    <a:pt x="128304" y="35811"/>
                    <a:pt x="129416" y="34576"/>
                    <a:pt x="129416" y="33218"/>
                  </a:cubicBezTo>
                  <a:lnTo>
                    <a:pt x="129416"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1"/>
            <p:cNvSpPr/>
            <p:nvPr/>
          </p:nvSpPr>
          <p:spPr>
            <a:xfrm>
              <a:off x="1046767" y="4983846"/>
              <a:ext cx="65628" cy="65628"/>
            </a:xfrm>
            <a:custGeom>
              <a:rect b="b" l="l" r="r" t="t"/>
              <a:pathLst>
                <a:path extrusionOk="0" fill="none" h="9880" w="9880">
                  <a:moveTo>
                    <a:pt x="1" y="0"/>
                  </a:moveTo>
                  <a:lnTo>
                    <a:pt x="1" y="9879"/>
                  </a:lnTo>
                  <a:lnTo>
                    <a:pt x="9880" y="9879"/>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1"/>
            <p:cNvSpPr/>
            <p:nvPr/>
          </p:nvSpPr>
          <p:spPr>
            <a:xfrm>
              <a:off x="1067279" y="4756633"/>
              <a:ext cx="179640" cy="179646"/>
            </a:xfrm>
            <a:custGeom>
              <a:rect b="b" l="l" r="r" t="t"/>
              <a:pathLst>
                <a:path extrusionOk="0" fill="none" h="27045" w="27044">
                  <a:moveTo>
                    <a:pt x="15560" y="1"/>
                  </a:moveTo>
                  <a:cubicBezTo>
                    <a:pt x="5187" y="1"/>
                    <a:pt x="0" y="12473"/>
                    <a:pt x="7286" y="19759"/>
                  </a:cubicBezTo>
                  <a:cubicBezTo>
                    <a:pt x="14572" y="27044"/>
                    <a:pt x="27044" y="21858"/>
                    <a:pt x="27044" y="11609"/>
                  </a:cubicBezTo>
                  <a:cubicBezTo>
                    <a:pt x="27044" y="5187"/>
                    <a:pt x="21857" y="1"/>
                    <a:pt x="15560" y="1"/>
                  </a:cubicBezTo>
                  <a:close/>
                </a:path>
              </a:pathLst>
            </a:custGeom>
            <a:noFill/>
            <a:ln cap="flat" cmpd="sng" w="9525">
              <a:solidFill>
                <a:srgbClr val="A5B7C5"/>
              </a:solidFill>
              <a:prstDash val="solid"/>
              <a:miter lim="1234"/>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7" name="Google Shape;347;p11"/>
          <p:cNvGrpSpPr/>
          <p:nvPr/>
        </p:nvGrpSpPr>
        <p:grpSpPr>
          <a:xfrm>
            <a:off x="840058" y="3380735"/>
            <a:ext cx="3692550" cy="1119177"/>
            <a:chOff x="1046767" y="4756633"/>
            <a:chExt cx="859646" cy="292841"/>
          </a:xfrm>
        </p:grpSpPr>
        <p:sp>
          <p:nvSpPr>
            <p:cNvPr id="348" name="Google Shape;348;p11"/>
            <p:cNvSpPr/>
            <p:nvPr/>
          </p:nvSpPr>
          <p:spPr>
            <a:xfrm>
              <a:off x="1046767" y="4811593"/>
              <a:ext cx="859646" cy="237881"/>
            </a:xfrm>
            <a:custGeom>
              <a:rect b="b" l="l" r="r" t="t"/>
              <a:pathLst>
                <a:path extrusionOk="0" fill="none" h="35812" w="129416">
                  <a:moveTo>
                    <a:pt x="31737" y="0"/>
                  </a:moveTo>
                  <a:cubicBezTo>
                    <a:pt x="33960" y="8644"/>
                    <a:pt x="27539" y="17041"/>
                    <a:pt x="18524" y="17041"/>
                  </a:cubicBezTo>
                  <a:cubicBezTo>
                    <a:pt x="9633" y="17041"/>
                    <a:pt x="3088" y="8644"/>
                    <a:pt x="5434" y="0"/>
                  </a:cubicBezTo>
                  <a:lnTo>
                    <a:pt x="2594" y="0"/>
                  </a:lnTo>
                  <a:cubicBezTo>
                    <a:pt x="1236" y="0"/>
                    <a:pt x="1" y="1112"/>
                    <a:pt x="1" y="2594"/>
                  </a:cubicBezTo>
                  <a:lnTo>
                    <a:pt x="1" y="35811"/>
                  </a:lnTo>
                  <a:lnTo>
                    <a:pt x="126823" y="35811"/>
                  </a:lnTo>
                  <a:cubicBezTo>
                    <a:pt x="128304" y="35811"/>
                    <a:pt x="129416" y="34576"/>
                    <a:pt x="129416" y="33218"/>
                  </a:cubicBezTo>
                  <a:lnTo>
                    <a:pt x="129416"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1"/>
            <p:cNvSpPr/>
            <p:nvPr/>
          </p:nvSpPr>
          <p:spPr>
            <a:xfrm>
              <a:off x="1046767" y="4983846"/>
              <a:ext cx="65628" cy="65628"/>
            </a:xfrm>
            <a:custGeom>
              <a:rect b="b" l="l" r="r" t="t"/>
              <a:pathLst>
                <a:path extrusionOk="0" fill="none" h="9880" w="9880">
                  <a:moveTo>
                    <a:pt x="1" y="0"/>
                  </a:moveTo>
                  <a:lnTo>
                    <a:pt x="1" y="9879"/>
                  </a:lnTo>
                  <a:lnTo>
                    <a:pt x="9880" y="9879"/>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1"/>
            <p:cNvSpPr/>
            <p:nvPr/>
          </p:nvSpPr>
          <p:spPr>
            <a:xfrm>
              <a:off x="1067279" y="4756633"/>
              <a:ext cx="179640" cy="179646"/>
            </a:xfrm>
            <a:custGeom>
              <a:rect b="b" l="l" r="r" t="t"/>
              <a:pathLst>
                <a:path extrusionOk="0" fill="none" h="27045" w="27044">
                  <a:moveTo>
                    <a:pt x="15560" y="1"/>
                  </a:moveTo>
                  <a:cubicBezTo>
                    <a:pt x="5187" y="1"/>
                    <a:pt x="0" y="12473"/>
                    <a:pt x="7286" y="19759"/>
                  </a:cubicBezTo>
                  <a:cubicBezTo>
                    <a:pt x="14572" y="27044"/>
                    <a:pt x="27044" y="21858"/>
                    <a:pt x="27044" y="11609"/>
                  </a:cubicBezTo>
                  <a:cubicBezTo>
                    <a:pt x="27044" y="5187"/>
                    <a:pt x="21857" y="1"/>
                    <a:pt x="15560" y="1"/>
                  </a:cubicBezTo>
                  <a:close/>
                </a:path>
              </a:pathLst>
            </a:custGeom>
            <a:noFill/>
            <a:ln cap="flat" cmpd="sng" w="9525">
              <a:solidFill>
                <a:srgbClr val="A5B7C5"/>
              </a:solidFill>
              <a:prstDash val="solid"/>
              <a:miter lim="1234"/>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1" name="Google Shape;351;p11"/>
          <p:cNvSpPr txBox="1"/>
          <p:nvPr/>
        </p:nvSpPr>
        <p:spPr>
          <a:xfrm>
            <a:off x="1632753" y="1764438"/>
            <a:ext cx="2931493"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200" u="none" cap="none" strike="noStrike">
                <a:solidFill>
                  <a:srgbClr val="11384D"/>
                </a:solidFill>
                <a:latin typeface="Livvic"/>
                <a:ea typeface="Livvic"/>
                <a:cs typeface="Livvic"/>
                <a:sym typeface="Livvic"/>
              </a:rPr>
              <a:t>Atención preferente (entregas rápidas, ejecutivo de cuenta) para proteger el ingreso más eficiente de la operación.</a:t>
            </a:r>
            <a:endParaRPr b="0" i="0" sz="1200" u="none" cap="none" strike="noStrike">
              <a:solidFill>
                <a:srgbClr val="11384D"/>
              </a:solidFill>
              <a:latin typeface="Livvic"/>
              <a:ea typeface="Livvic"/>
              <a:cs typeface="Livvic"/>
              <a:sym typeface="Livvic"/>
            </a:endParaRPr>
          </a:p>
        </p:txBody>
      </p:sp>
      <p:sp>
        <p:nvSpPr>
          <p:cNvPr id="352" name="Google Shape;352;p11"/>
          <p:cNvSpPr txBox="1"/>
          <p:nvPr/>
        </p:nvSpPr>
        <p:spPr>
          <a:xfrm>
            <a:off x="1073719" y="1542462"/>
            <a:ext cx="613558" cy="2769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200" u="none" cap="none" strike="noStrike">
                <a:solidFill>
                  <a:srgbClr val="0B2533"/>
                </a:solidFill>
                <a:latin typeface="Poppins"/>
                <a:ea typeface="Poppins"/>
                <a:cs typeface="Poppins"/>
                <a:sym typeface="Poppins"/>
              </a:rPr>
              <a:t>16,3%</a:t>
            </a:r>
            <a:endParaRPr b="0" i="0" sz="1200" u="none" cap="none" strike="noStrike">
              <a:solidFill>
                <a:srgbClr val="0B2533"/>
              </a:solidFill>
              <a:latin typeface="Poppins"/>
              <a:ea typeface="Poppins"/>
              <a:cs typeface="Poppins"/>
              <a:sym typeface="Poppins"/>
            </a:endParaRPr>
          </a:p>
        </p:txBody>
      </p:sp>
      <p:sp>
        <p:nvSpPr>
          <p:cNvPr id="353" name="Google Shape;353;p11"/>
          <p:cNvSpPr txBox="1"/>
          <p:nvPr/>
        </p:nvSpPr>
        <p:spPr>
          <a:xfrm>
            <a:off x="1699797" y="1328305"/>
            <a:ext cx="854721" cy="2769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1" lang="en-US" sz="1200" u="none" cap="none" strike="noStrike">
                <a:solidFill>
                  <a:schemeClr val="dk1"/>
                </a:solidFill>
                <a:latin typeface="Livvic"/>
                <a:ea typeface="Livvic"/>
                <a:cs typeface="Livvic"/>
                <a:sym typeface="Livvic"/>
              </a:rPr>
              <a:t>Alto valor</a:t>
            </a:r>
            <a:endParaRPr b="0" i="1" sz="1200" u="none" cap="none" strike="noStrike">
              <a:solidFill>
                <a:schemeClr val="dk1"/>
              </a:solidFill>
              <a:latin typeface="Livvic"/>
              <a:ea typeface="Livvic"/>
              <a:cs typeface="Livvic"/>
              <a:sym typeface="Livvic"/>
            </a:endParaRPr>
          </a:p>
        </p:txBody>
      </p:sp>
      <p:sp>
        <p:nvSpPr>
          <p:cNvPr id="354" name="Google Shape;354;p11"/>
          <p:cNvSpPr txBox="1"/>
          <p:nvPr/>
        </p:nvSpPr>
        <p:spPr>
          <a:xfrm>
            <a:off x="1699796" y="1599410"/>
            <a:ext cx="1596912" cy="2769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1200" u="none" cap="none" strike="noStrike">
                <a:solidFill>
                  <a:schemeClr val="dk1"/>
                </a:solidFill>
                <a:latin typeface="Livvic Medium"/>
                <a:ea typeface="Livvic Medium"/>
                <a:cs typeface="Livvic Medium"/>
                <a:sym typeface="Livvic Medium"/>
              </a:rPr>
              <a:t>Retención prioritaria</a:t>
            </a:r>
            <a:endParaRPr b="1" i="0" sz="1200" u="none" cap="none" strike="noStrike">
              <a:solidFill>
                <a:schemeClr val="dk1"/>
              </a:solidFill>
              <a:latin typeface="Livvic Medium"/>
              <a:ea typeface="Livvic Medium"/>
              <a:cs typeface="Livvic Medium"/>
              <a:sym typeface="Livvic Medium"/>
            </a:endParaRPr>
          </a:p>
        </p:txBody>
      </p:sp>
      <p:sp>
        <p:nvSpPr>
          <p:cNvPr id="355" name="Google Shape;355;p11"/>
          <p:cNvSpPr txBox="1"/>
          <p:nvPr/>
        </p:nvSpPr>
        <p:spPr>
          <a:xfrm>
            <a:off x="5591188" y="2692472"/>
            <a:ext cx="2832812"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200" u="none" cap="none" strike="noStrike">
                <a:solidFill>
                  <a:srgbClr val="11384D"/>
                </a:solidFill>
                <a:latin typeface="Livvic"/>
                <a:ea typeface="Livvic"/>
                <a:cs typeface="Livvic"/>
                <a:sym typeface="Livvic"/>
              </a:rPr>
              <a:t>Recordatorios de recompra y venta cruzada segmentada, apalancando el mayor efecto multiplicador sobre la ganancia total.</a:t>
            </a:r>
            <a:endParaRPr b="0" i="0" sz="1200" u="none" cap="none" strike="noStrike">
              <a:solidFill>
                <a:srgbClr val="11384D"/>
              </a:solidFill>
              <a:latin typeface="Livvic"/>
              <a:ea typeface="Livvic"/>
              <a:cs typeface="Livvic"/>
              <a:sym typeface="Livvic"/>
            </a:endParaRPr>
          </a:p>
        </p:txBody>
      </p:sp>
      <p:sp>
        <p:nvSpPr>
          <p:cNvPr id="356" name="Google Shape;356;p11"/>
          <p:cNvSpPr txBox="1"/>
          <p:nvPr/>
        </p:nvSpPr>
        <p:spPr>
          <a:xfrm>
            <a:off x="5626983" y="2553972"/>
            <a:ext cx="1864613" cy="2769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1200" u="none" cap="none" strike="noStrike">
                <a:solidFill>
                  <a:schemeClr val="dk1"/>
                </a:solidFill>
                <a:latin typeface="Livvic Medium"/>
                <a:ea typeface="Livvic Medium"/>
                <a:cs typeface="Livvic Medium"/>
                <a:sym typeface="Livvic Medium"/>
              </a:rPr>
              <a:t>Activación de frecuencia</a:t>
            </a:r>
            <a:endParaRPr b="1" i="0" sz="1200" u="none" cap="none" strike="noStrike">
              <a:solidFill>
                <a:schemeClr val="dk1"/>
              </a:solidFill>
              <a:latin typeface="Livvic Medium"/>
              <a:ea typeface="Livvic Medium"/>
              <a:cs typeface="Livvic Medium"/>
              <a:sym typeface="Livvic Medium"/>
            </a:endParaRPr>
          </a:p>
        </p:txBody>
      </p:sp>
      <p:sp>
        <p:nvSpPr>
          <p:cNvPr id="357" name="Google Shape;357;p11"/>
          <p:cNvSpPr txBox="1"/>
          <p:nvPr/>
        </p:nvSpPr>
        <p:spPr>
          <a:xfrm>
            <a:off x="4954211" y="2539104"/>
            <a:ext cx="619080" cy="2769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200" u="none" cap="none" strike="noStrike">
                <a:solidFill>
                  <a:srgbClr val="0B2533"/>
                </a:solidFill>
                <a:latin typeface="Poppins"/>
                <a:ea typeface="Poppins"/>
                <a:cs typeface="Poppins"/>
                <a:sym typeface="Poppins"/>
              </a:rPr>
              <a:t>38,7%</a:t>
            </a:r>
            <a:endParaRPr b="0" i="0" sz="1200" u="none" cap="none" strike="noStrike">
              <a:solidFill>
                <a:srgbClr val="0B2533"/>
              </a:solidFill>
              <a:latin typeface="Poppins"/>
              <a:ea typeface="Poppins"/>
              <a:cs typeface="Poppins"/>
              <a:sym typeface="Poppins"/>
            </a:endParaRPr>
          </a:p>
        </p:txBody>
      </p:sp>
      <p:sp>
        <p:nvSpPr>
          <p:cNvPr id="358" name="Google Shape;358;p11"/>
          <p:cNvSpPr txBox="1"/>
          <p:nvPr/>
        </p:nvSpPr>
        <p:spPr>
          <a:xfrm>
            <a:off x="5552128" y="2315712"/>
            <a:ext cx="1019831" cy="2769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1" lang="en-US" sz="1200" u="none" cap="none" strike="noStrike">
                <a:solidFill>
                  <a:schemeClr val="dk1"/>
                </a:solidFill>
                <a:latin typeface="Livvic"/>
                <a:ea typeface="Livvic"/>
                <a:cs typeface="Livvic"/>
                <a:sym typeface="Livvic"/>
              </a:rPr>
              <a:t>Recurrentes</a:t>
            </a:r>
            <a:endParaRPr b="0" i="1" sz="1200" u="none" cap="none" strike="noStrike">
              <a:solidFill>
                <a:schemeClr val="dk1"/>
              </a:solidFill>
              <a:latin typeface="Livvic"/>
              <a:ea typeface="Livvic"/>
              <a:cs typeface="Livvic"/>
              <a:sym typeface="Livvic"/>
            </a:endParaRPr>
          </a:p>
        </p:txBody>
      </p:sp>
      <p:sp>
        <p:nvSpPr>
          <p:cNvPr id="359" name="Google Shape;359;p11"/>
          <p:cNvSpPr txBox="1"/>
          <p:nvPr/>
        </p:nvSpPr>
        <p:spPr>
          <a:xfrm>
            <a:off x="1139099" y="3570651"/>
            <a:ext cx="50687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B2533"/>
                </a:solidFill>
                <a:latin typeface="Poppins"/>
                <a:ea typeface="Poppins"/>
                <a:cs typeface="Poppins"/>
                <a:sym typeface="Poppins"/>
              </a:rPr>
              <a:t>3,7%</a:t>
            </a:r>
            <a:endParaRPr b="0" i="0" sz="1200" u="none" cap="none" strike="noStrike">
              <a:solidFill>
                <a:srgbClr val="0B2533"/>
              </a:solidFill>
              <a:latin typeface="Poppins"/>
              <a:ea typeface="Poppins"/>
              <a:cs typeface="Poppins"/>
              <a:sym typeface="Poppins"/>
            </a:endParaRPr>
          </a:p>
        </p:txBody>
      </p:sp>
      <p:sp>
        <p:nvSpPr>
          <p:cNvPr id="360" name="Google Shape;360;p11"/>
          <p:cNvSpPr txBox="1"/>
          <p:nvPr/>
        </p:nvSpPr>
        <p:spPr>
          <a:xfrm>
            <a:off x="1655734" y="3728334"/>
            <a:ext cx="2885268"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200" u="none" cap="none" strike="noStrike">
                <a:solidFill>
                  <a:srgbClr val="11384D"/>
                </a:solidFill>
                <a:latin typeface="Livvic"/>
                <a:ea typeface="Livvic"/>
                <a:cs typeface="Livvic"/>
                <a:sym typeface="Livvic"/>
              </a:rPr>
              <a:t>Contacto directo + incentivo de bienvenida para los 11 clientes inactivos, convirtiendo una base hoy improductiva.</a:t>
            </a:r>
            <a:endParaRPr b="0" i="0" sz="1200" u="none" cap="none" strike="noStrike">
              <a:solidFill>
                <a:srgbClr val="11384D"/>
              </a:solidFill>
              <a:latin typeface="Livvic"/>
              <a:ea typeface="Livvic"/>
              <a:cs typeface="Livvic"/>
              <a:sym typeface="Livvic"/>
            </a:endParaRPr>
          </a:p>
        </p:txBody>
      </p:sp>
      <p:sp>
        <p:nvSpPr>
          <p:cNvPr id="361" name="Google Shape;361;p11"/>
          <p:cNvSpPr txBox="1"/>
          <p:nvPr/>
        </p:nvSpPr>
        <p:spPr>
          <a:xfrm>
            <a:off x="1723072" y="3568162"/>
            <a:ext cx="2395207" cy="2769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1200" u="none" cap="none" strike="noStrike">
                <a:solidFill>
                  <a:schemeClr val="dk1"/>
                </a:solidFill>
                <a:latin typeface="Livvic Medium"/>
                <a:ea typeface="Livvic Medium"/>
                <a:cs typeface="Livvic Medium"/>
                <a:sym typeface="Livvic Medium"/>
              </a:rPr>
              <a:t>Contacto de primera conversión</a:t>
            </a:r>
            <a:endParaRPr/>
          </a:p>
        </p:txBody>
      </p:sp>
      <p:sp>
        <p:nvSpPr>
          <p:cNvPr id="362" name="Google Shape;362;p11"/>
          <p:cNvSpPr txBox="1"/>
          <p:nvPr/>
        </p:nvSpPr>
        <p:spPr>
          <a:xfrm>
            <a:off x="1666502" y="3343975"/>
            <a:ext cx="1032655" cy="2769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1" lang="en-US" sz="1200" u="none" cap="none" strike="noStrike">
                <a:solidFill>
                  <a:schemeClr val="dk1"/>
                </a:solidFill>
                <a:latin typeface="Livvic"/>
                <a:ea typeface="Livvic"/>
                <a:cs typeface="Livvic"/>
                <a:sym typeface="Livvic"/>
              </a:rPr>
              <a:t>Sin compras</a:t>
            </a:r>
            <a:endParaRPr b="0" i="1" sz="1200" u="none" cap="none" strike="noStrike">
              <a:solidFill>
                <a:schemeClr val="dk1"/>
              </a:solidFill>
              <a:latin typeface="Livvic"/>
              <a:ea typeface="Livvic"/>
              <a:cs typeface="Livvic"/>
              <a:sym typeface="Livvic"/>
            </a:endParaRPr>
          </a:p>
        </p:txBody>
      </p:sp>
      <p:sp>
        <p:nvSpPr>
          <p:cNvPr id="363" name="Google Shape;363;p11"/>
          <p:cNvSpPr txBox="1"/>
          <p:nvPr/>
        </p:nvSpPr>
        <p:spPr>
          <a:xfrm>
            <a:off x="738213" y="995595"/>
            <a:ext cx="7230222" cy="30777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1400" u="none" cap="none" strike="noStrike">
                <a:solidFill>
                  <a:srgbClr val="11384D"/>
                </a:solidFill>
                <a:latin typeface="Livvic Medium"/>
                <a:ea typeface="Livvic Medium"/>
                <a:cs typeface="Livvic Medium"/>
                <a:sym typeface="Livvic Medium"/>
              </a:rPr>
              <a:t>Tres acciones, tres segmentos, un mismo objetivo: </a:t>
            </a:r>
            <a:r>
              <a:rPr b="0" i="0" lang="en-US" sz="1400" u="none" cap="none" strike="noStrike">
                <a:solidFill>
                  <a:srgbClr val="11384D"/>
                </a:solidFill>
                <a:latin typeface="Livvic Medium"/>
                <a:ea typeface="Livvic Medium"/>
                <a:cs typeface="Livvic Medium"/>
                <a:sym typeface="Livvic Medium"/>
              </a:rPr>
              <a:t>rentabilidad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2"/>
          <p:cNvSpPr txBox="1"/>
          <p:nvPr>
            <p:ph type="title"/>
          </p:nvPr>
        </p:nvSpPr>
        <p:spPr>
          <a:xfrm>
            <a:off x="720000" y="539400"/>
            <a:ext cx="7704000" cy="5178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a:t>Impacto esperado</a:t>
            </a:r>
            <a:endParaRPr/>
          </a:p>
        </p:txBody>
      </p:sp>
      <p:sp>
        <p:nvSpPr>
          <p:cNvPr id="369" name="Google Shape;369;p12"/>
          <p:cNvSpPr/>
          <p:nvPr/>
        </p:nvSpPr>
        <p:spPr>
          <a:xfrm>
            <a:off x="720000" y="2355450"/>
            <a:ext cx="588000" cy="588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101"/>
              <a:buFont typeface="Arial"/>
              <a:buNone/>
            </a:pPr>
            <a:r>
              <a:t/>
            </a:r>
            <a:endParaRPr b="1" i="0" sz="2500" u="none" cap="none" strike="noStrike">
              <a:solidFill>
                <a:schemeClr val="dk1"/>
              </a:solidFill>
              <a:latin typeface="Raleway"/>
              <a:ea typeface="Raleway"/>
              <a:cs typeface="Raleway"/>
              <a:sym typeface="Raleway"/>
            </a:endParaRPr>
          </a:p>
        </p:txBody>
      </p:sp>
      <p:sp>
        <p:nvSpPr>
          <p:cNvPr id="370" name="Google Shape;370;p12"/>
          <p:cNvSpPr/>
          <p:nvPr/>
        </p:nvSpPr>
        <p:spPr>
          <a:xfrm>
            <a:off x="720000" y="1585098"/>
            <a:ext cx="588000" cy="588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101"/>
              <a:buFont typeface="Arial"/>
              <a:buNone/>
            </a:pPr>
            <a:r>
              <a:t/>
            </a:r>
            <a:endParaRPr b="1" i="0" sz="2500" u="none" cap="none" strike="noStrike">
              <a:solidFill>
                <a:schemeClr val="dk1"/>
              </a:solidFill>
              <a:latin typeface="Raleway"/>
              <a:ea typeface="Raleway"/>
              <a:cs typeface="Raleway"/>
              <a:sym typeface="Raleway"/>
            </a:endParaRPr>
          </a:p>
        </p:txBody>
      </p:sp>
      <p:grpSp>
        <p:nvGrpSpPr>
          <p:cNvPr id="371" name="Google Shape;371;p12"/>
          <p:cNvGrpSpPr/>
          <p:nvPr/>
        </p:nvGrpSpPr>
        <p:grpSpPr>
          <a:xfrm>
            <a:off x="833670" y="1700112"/>
            <a:ext cx="360680" cy="357972"/>
            <a:chOff x="994575" y="3470075"/>
            <a:chExt cx="461700" cy="458175"/>
          </a:xfrm>
        </p:grpSpPr>
        <p:sp>
          <p:nvSpPr>
            <p:cNvPr id="372" name="Google Shape;372;p12"/>
            <p:cNvSpPr/>
            <p:nvPr/>
          </p:nvSpPr>
          <p:spPr>
            <a:xfrm>
              <a:off x="1185900" y="3519325"/>
              <a:ext cx="84800" cy="206225"/>
            </a:xfrm>
            <a:custGeom>
              <a:rect b="b" l="l" r="r" t="t"/>
              <a:pathLst>
                <a:path extrusionOk="0" h="8249" w="3392">
                  <a:moveTo>
                    <a:pt x="1375" y="1559"/>
                  </a:moveTo>
                  <a:lnTo>
                    <a:pt x="1375" y="3758"/>
                  </a:lnTo>
                  <a:cubicBezTo>
                    <a:pt x="917" y="3619"/>
                    <a:pt x="551" y="3208"/>
                    <a:pt x="551" y="2658"/>
                  </a:cubicBezTo>
                  <a:cubicBezTo>
                    <a:pt x="551" y="2153"/>
                    <a:pt x="917" y="1694"/>
                    <a:pt x="1375" y="1559"/>
                  </a:cubicBezTo>
                  <a:close/>
                  <a:moveTo>
                    <a:pt x="1925" y="4444"/>
                  </a:moveTo>
                  <a:cubicBezTo>
                    <a:pt x="2244" y="4535"/>
                    <a:pt x="2475" y="4718"/>
                    <a:pt x="2611" y="4993"/>
                  </a:cubicBezTo>
                  <a:cubicBezTo>
                    <a:pt x="2750" y="5224"/>
                    <a:pt x="2794" y="5543"/>
                    <a:pt x="2702" y="5866"/>
                  </a:cubicBezTo>
                  <a:cubicBezTo>
                    <a:pt x="2658" y="6141"/>
                    <a:pt x="2427" y="6416"/>
                    <a:pt x="2200" y="6551"/>
                  </a:cubicBezTo>
                  <a:lnTo>
                    <a:pt x="1925" y="6691"/>
                  </a:lnTo>
                  <a:lnTo>
                    <a:pt x="1925" y="4444"/>
                  </a:lnTo>
                  <a:close/>
                  <a:moveTo>
                    <a:pt x="1650" y="1"/>
                  </a:moveTo>
                  <a:cubicBezTo>
                    <a:pt x="1511" y="1"/>
                    <a:pt x="1375" y="92"/>
                    <a:pt x="1375" y="276"/>
                  </a:cubicBezTo>
                  <a:lnTo>
                    <a:pt x="1375" y="1009"/>
                  </a:lnTo>
                  <a:cubicBezTo>
                    <a:pt x="595" y="1144"/>
                    <a:pt x="1" y="1834"/>
                    <a:pt x="1" y="2658"/>
                  </a:cubicBezTo>
                  <a:cubicBezTo>
                    <a:pt x="1" y="3483"/>
                    <a:pt x="595" y="4169"/>
                    <a:pt x="1375" y="4352"/>
                  </a:cubicBezTo>
                  <a:lnTo>
                    <a:pt x="1375" y="6691"/>
                  </a:lnTo>
                  <a:lnTo>
                    <a:pt x="1284" y="6691"/>
                  </a:lnTo>
                  <a:cubicBezTo>
                    <a:pt x="1009" y="6599"/>
                    <a:pt x="734" y="6416"/>
                    <a:pt x="595" y="6141"/>
                  </a:cubicBezTo>
                  <a:cubicBezTo>
                    <a:pt x="526" y="6036"/>
                    <a:pt x="405" y="5985"/>
                    <a:pt x="310" y="5985"/>
                  </a:cubicBezTo>
                  <a:cubicBezTo>
                    <a:pt x="279" y="5985"/>
                    <a:pt x="251" y="5991"/>
                    <a:pt x="228" y="6001"/>
                  </a:cubicBezTo>
                  <a:cubicBezTo>
                    <a:pt x="92" y="6093"/>
                    <a:pt x="45" y="6276"/>
                    <a:pt x="92" y="6416"/>
                  </a:cubicBezTo>
                  <a:cubicBezTo>
                    <a:pt x="320" y="6782"/>
                    <a:pt x="686" y="7101"/>
                    <a:pt x="1144" y="7193"/>
                  </a:cubicBezTo>
                  <a:cubicBezTo>
                    <a:pt x="1236" y="7240"/>
                    <a:pt x="1328" y="7240"/>
                    <a:pt x="1375" y="7240"/>
                  </a:cubicBezTo>
                  <a:lnTo>
                    <a:pt x="1375" y="7974"/>
                  </a:lnTo>
                  <a:cubicBezTo>
                    <a:pt x="1375" y="8109"/>
                    <a:pt x="1511" y="8248"/>
                    <a:pt x="1650" y="8248"/>
                  </a:cubicBezTo>
                  <a:cubicBezTo>
                    <a:pt x="1834" y="8248"/>
                    <a:pt x="1925" y="8109"/>
                    <a:pt x="1925" y="7974"/>
                  </a:cubicBezTo>
                  <a:lnTo>
                    <a:pt x="1925" y="7240"/>
                  </a:lnTo>
                  <a:cubicBezTo>
                    <a:pt x="2109" y="7193"/>
                    <a:pt x="2292" y="7149"/>
                    <a:pt x="2427" y="7057"/>
                  </a:cubicBezTo>
                  <a:cubicBezTo>
                    <a:pt x="2842" y="6826"/>
                    <a:pt x="3117" y="6460"/>
                    <a:pt x="3252" y="6001"/>
                  </a:cubicBezTo>
                  <a:cubicBezTo>
                    <a:pt x="3392" y="5543"/>
                    <a:pt x="3300" y="5085"/>
                    <a:pt x="3069" y="4718"/>
                  </a:cubicBezTo>
                  <a:cubicBezTo>
                    <a:pt x="2842" y="4308"/>
                    <a:pt x="2475" y="4033"/>
                    <a:pt x="2061" y="3894"/>
                  </a:cubicBezTo>
                  <a:lnTo>
                    <a:pt x="1925" y="3894"/>
                  </a:lnTo>
                  <a:lnTo>
                    <a:pt x="1925" y="1511"/>
                  </a:lnTo>
                  <a:cubicBezTo>
                    <a:pt x="2153" y="1559"/>
                    <a:pt x="2383" y="1650"/>
                    <a:pt x="2567" y="1834"/>
                  </a:cubicBezTo>
                  <a:cubicBezTo>
                    <a:pt x="2613" y="1879"/>
                    <a:pt x="2681" y="1902"/>
                    <a:pt x="2750" y="1902"/>
                  </a:cubicBezTo>
                  <a:cubicBezTo>
                    <a:pt x="2819" y="1902"/>
                    <a:pt x="2888" y="1879"/>
                    <a:pt x="2933" y="1834"/>
                  </a:cubicBezTo>
                  <a:cubicBezTo>
                    <a:pt x="3025" y="1742"/>
                    <a:pt x="3025" y="1559"/>
                    <a:pt x="2933" y="1419"/>
                  </a:cubicBezTo>
                  <a:cubicBezTo>
                    <a:pt x="2658" y="1192"/>
                    <a:pt x="2292" y="1009"/>
                    <a:pt x="1925" y="961"/>
                  </a:cubicBezTo>
                  <a:lnTo>
                    <a:pt x="1925" y="276"/>
                  </a:lnTo>
                  <a:cubicBezTo>
                    <a:pt x="1925" y="92"/>
                    <a:pt x="1834" y="1"/>
                    <a:pt x="16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2"/>
            <p:cNvSpPr/>
            <p:nvPr/>
          </p:nvSpPr>
          <p:spPr>
            <a:xfrm>
              <a:off x="994575" y="3470075"/>
              <a:ext cx="461700" cy="458175"/>
            </a:xfrm>
            <a:custGeom>
              <a:rect b="b" l="l" r="r" t="t"/>
              <a:pathLst>
                <a:path extrusionOk="0" h="18327" w="18468">
                  <a:moveTo>
                    <a:pt x="9303" y="549"/>
                  </a:moveTo>
                  <a:cubicBezTo>
                    <a:pt x="10722" y="549"/>
                    <a:pt x="12144" y="1054"/>
                    <a:pt x="13244" y="2154"/>
                  </a:cubicBezTo>
                  <a:cubicBezTo>
                    <a:pt x="13929" y="2840"/>
                    <a:pt x="14388" y="3664"/>
                    <a:pt x="14662" y="4537"/>
                  </a:cubicBezTo>
                  <a:lnTo>
                    <a:pt x="14662" y="4581"/>
                  </a:lnTo>
                  <a:cubicBezTo>
                    <a:pt x="14802" y="5087"/>
                    <a:pt x="14893" y="5589"/>
                    <a:pt x="14893" y="6095"/>
                  </a:cubicBezTo>
                  <a:cubicBezTo>
                    <a:pt x="14893" y="7561"/>
                    <a:pt x="14296" y="8979"/>
                    <a:pt x="13244" y="9988"/>
                  </a:cubicBezTo>
                  <a:cubicBezTo>
                    <a:pt x="12166" y="11087"/>
                    <a:pt x="10746" y="11637"/>
                    <a:pt x="9325" y="11637"/>
                  </a:cubicBezTo>
                  <a:cubicBezTo>
                    <a:pt x="7905" y="11637"/>
                    <a:pt x="6484" y="11087"/>
                    <a:pt x="5407" y="9988"/>
                  </a:cubicBezTo>
                  <a:cubicBezTo>
                    <a:pt x="4355" y="8979"/>
                    <a:pt x="3757" y="7561"/>
                    <a:pt x="3757" y="6095"/>
                  </a:cubicBezTo>
                  <a:cubicBezTo>
                    <a:pt x="3757" y="5589"/>
                    <a:pt x="3849" y="5087"/>
                    <a:pt x="3941" y="4581"/>
                  </a:cubicBezTo>
                  <a:cubicBezTo>
                    <a:pt x="3988" y="4581"/>
                    <a:pt x="3988" y="4581"/>
                    <a:pt x="3988" y="4537"/>
                  </a:cubicBezTo>
                  <a:cubicBezTo>
                    <a:pt x="4215" y="3664"/>
                    <a:pt x="4721" y="2840"/>
                    <a:pt x="5407" y="2154"/>
                  </a:cubicBezTo>
                  <a:cubicBezTo>
                    <a:pt x="6462" y="1054"/>
                    <a:pt x="7881" y="549"/>
                    <a:pt x="9303" y="549"/>
                  </a:cubicBezTo>
                  <a:close/>
                  <a:moveTo>
                    <a:pt x="9320" y="1"/>
                  </a:moveTo>
                  <a:cubicBezTo>
                    <a:pt x="7756" y="1"/>
                    <a:pt x="6188" y="596"/>
                    <a:pt x="4996" y="1788"/>
                  </a:cubicBezTo>
                  <a:cubicBezTo>
                    <a:pt x="4307" y="2473"/>
                    <a:pt x="3805" y="3298"/>
                    <a:pt x="3482" y="4214"/>
                  </a:cubicBezTo>
                  <a:lnTo>
                    <a:pt x="2199" y="4214"/>
                  </a:lnTo>
                  <a:cubicBezTo>
                    <a:pt x="1697" y="4214"/>
                    <a:pt x="1283" y="4628"/>
                    <a:pt x="1283" y="5178"/>
                  </a:cubicBezTo>
                  <a:lnTo>
                    <a:pt x="1283" y="7286"/>
                  </a:lnTo>
                  <a:cubicBezTo>
                    <a:pt x="1283" y="7422"/>
                    <a:pt x="1375" y="7561"/>
                    <a:pt x="1558" y="7561"/>
                  </a:cubicBezTo>
                  <a:cubicBezTo>
                    <a:pt x="1697" y="7561"/>
                    <a:pt x="1833" y="7422"/>
                    <a:pt x="1833" y="7286"/>
                  </a:cubicBezTo>
                  <a:lnTo>
                    <a:pt x="1833" y="5178"/>
                  </a:lnTo>
                  <a:cubicBezTo>
                    <a:pt x="1833" y="4947"/>
                    <a:pt x="2016" y="4764"/>
                    <a:pt x="2199" y="4764"/>
                  </a:cubicBezTo>
                  <a:lnTo>
                    <a:pt x="3347" y="4764"/>
                  </a:lnTo>
                  <a:cubicBezTo>
                    <a:pt x="3255" y="5178"/>
                    <a:pt x="3207" y="5636"/>
                    <a:pt x="3207" y="6095"/>
                  </a:cubicBezTo>
                  <a:cubicBezTo>
                    <a:pt x="3207" y="7697"/>
                    <a:pt x="3849" y="9254"/>
                    <a:pt x="4996" y="10402"/>
                  </a:cubicBezTo>
                  <a:cubicBezTo>
                    <a:pt x="6188" y="11593"/>
                    <a:pt x="7745" y="12187"/>
                    <a:pt x="9303" y="12187"/>
                  </a:cubicBezTo>
                  <a:cubicBezTo>
                    <a:pt x="10861" y="12187"/>
                    <a:pt x="12463" y="11593"/>
                    <a:pt x="13610" y="10402"/>
                  </a:cubicBezTo>
                  <a:cubicBezTo>
                    <a:pt x="14802" y="9254"/>
                    <a:pt x="15396" y="7697"/>
                    <a:pt x="15396" y="6095"/>
                  </a:cubicBezTo>
                  <a:cubicBezTo>
                    <a:pt x="15396" y="5636"/>
                    <a:pt x="15352" y="5178"/>
                    <a:pt x="15260" y="4764"/>
                  </a:cubicBezTo>
                  <a:lnTo>
                    <a:pt x="16404" y="4764"/>
                  </a:lnTo>
                  <a:cubicBezTo>
                    <a:pt x="16635" y="4764"/>
                    <a:pt x="16818" y="4947"/>
                    <a:pt x="16818" y="5178"/>
                  </a:cubicBezTo>
                  <a:lnTo>
                    <a:pt x="16818" y="15717"/>
                  </a:lnTo>
                  <a:lnTo>
                    <a:pt x="1833" y="15717"/>
                  </a:lnTo>
                  <a:lnTo>
                    <a:pt x="1833" y="8521"/>
                  </a:lnTo>
                  <a:cubicBezTo>
                    <a:pt x="1833" y="8338"/>
                    <a:pt x="1697" y="8246"/>
                    <a:pt x="1558" y="8246"/>
                  </a:cubicBezTo>
                  <a:cubicBezTo>
                    <a:pt x="1375" y="8246"/>
                    <a:pt x="1283" y="8338"/>
                    <a:pt x="1283" y="8521"/>
                  </a:cubicBezTo>
                  <a:lnTo>
                    <a:pt x="1283" y="15717"/>
                  </a:lnTo>
                  <a:lnTo>
                    <a:pt x="1239" y="15717"/>
                  </a:lnTo>
                  <a:cubicBezTo>
                    <a:pt x="550" y="15717"/>
                    <a:pt x="0" y="16267"/>
                    <a:pt x="0" y="16952"/>
                  </a:cubicBezTo>
                  <a:lnTo>
                    <a:pt x="0" y="17091"/>
                  </a:lnTo>
                  <a:cubicBezTo>
                    <a:pt x="0" y="17777"/>
                    <a:pt x="550" y="18327"/>
                    <a:pt x="1239" y="18327"/>
                  </a:cubicBezTo>
                  <a:lnTo>
                    <a:pt x="12005" y="18327"/>
                  </a:lnTo>
                  <a:cubicBezTo>
                    <a:pt x="12144" y="18327"/>
                    <a:pt x="12280" y="18191"/>
                    <a:pt x="12280" y="18052"/>
                  </a:cubicBezTo>
                  <a:cubicBezTo>
                    <a:pt x="12280" y="17869"/>
                    <a:pt x="12144" y="17777"/>
                    <a:pt x="12005" y="17777"/>
                  </a:cubicBezTo>
                  <a:lnTo>
                    <a:pt x="1239" y="17777"/>
                  </a:lnTo>
                  <a:cubicBezTo>
                    <a:pt x="872" y="17777"/>
                    <a:pt x="550" y="17458"/>
                    <a:pt x="550" y="17091"/>
                  </a:cubicBezTo>
                  <a:lnTo>
                    <a:pt x="550" y="16952"/>
                  </a:lnTo>
                  <a:cubicBezTo>
                    <a:pt x="550" y="16586"/>
                    <a:pt x="872" y="16267"/>
                    <a:pt x="1239" y="16267"/>
                  </a:cubicBezTo>
                  <a:lnTo>
                    <a:pt x="17228" y="16267"/>
                  </a:lnTo>
                  <a:cubicBezTo>
                    <a:pt x="17643" y="16267"/>
                    <a:pt x="17918" y="16586"/>
                    <a:pt x="17918" y="16952"/>
                  </a:cubicBezTo>
                  <a:lnTo>
                    <a:pt x="17918" y="17091"/>
                  </a:lnTo>
                  <a:cubicBezTo>
                    <a:pt x="17918" y="17458"/>
                    <a:pt x="17643" y="17777"/>
                    <a:pt x="17228" y="17777"/>
                  </a:cubicBezTo>
                  <a:lnTo>
                    <a:pt x="13244" y="17777"/>
                  </a:lnTo>
                  <a:cubicBezTo>
                    <a:pt x="13061" y="17777"/>
                    <a:pt x="12969" y="17869"/>
                    <a:pt x="12969" y="18052"/>
                  </a:cubicBezTo>
                  <a:cubicBezTo>
                    <a:pt x="12969" y="18191"/>
                    <a:pt x="13061" y="18327"/>
                    <a:pt x="13244" y="18327"/>
                  </a:cubicBezTo>
                  <a:lnTo>
                    <a:pt x="17228" y="18327"/>
                  </a:lnTo>
                  <a:cubicBezTo>
                    <a:pt x="17918" y="18327"/>
                    <a:pt x="18467" y="17777"/>
                    <a:pt x="18467" y="17091"/>
                  </a:cubicBezTo>
                  <a:lnTo>
                    <a:pt x="18467" y="16952"/>
                  </a:lnTo>
                  <a:cubicBezTo>
                    <a:pt x="18467" y="16311"/>
                    <a:pt x="18009" y="15809"/>
                    <a:pt x="17368" y="15717"/>
                  </a:cubicBezTo>
                  <a:lnTo>
                    <a:pt x="17368" y="5178"/>
                  </a:lnTo>
                  <a:cubicBezTo>
                    <a:pt x="17368" y="4628"/>
                    <a:pt x="16954" y="4214"/>
                    <a:pt x="16404" y="4214"/>
                  </a:cubicBezTo>
                  <a:lnTo>
                    <a:pt x="15121" y="4214"/>
                  </a:lnTo>
                  <a:cubicBezTo>
                    <a:pt x="14846" y="3298"/>
                    <a:pt x="14344" y="2473"/>
                    <a:pt x="13610" y="1788"/>
                  </a:cubicBezTo>
                  <a:cubicBezTo>
                    <a:pt x="12441" y="596"/>
                    <a:pt x="10883" y="1"/>
                    <a:pt x="93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4" name="Google Shape;374;p12"/>
          <p:cNvSpPr/>
          <p:nvPr/>
        </p:nvSpPr>
        <p:spPr>
          <a:xfrm>
            <a:off x="720000" y="3125802"/>
            <a:ext cx="588000" cy="588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101"/>
              <a:buFont typeface="Arial"/>
              <a:buNone/>
            </a:pPr>
            <a:r>
              <a:t/>
            </a:r>
            <a:endParaRPr b="1" i="0" sz="2500" u="none" cap="none" strike="noStrike">
              <a:solidFill>
                <a:schemeClr val="dk1"/>
              </a:solidFill>
              <a:latin typeface="Raleway"/>
              <a:ea typeface="Raleway"/>
              <a:cs typeface="Raleway"/>
              <a:sym typeface="Raleway"/>
            </a:endParaRPr>
          </a:p>
        </p:txBody>
      </p:sp>
      <p:grpSp>
        <p:nvGrpSpPr>
          <p:cNvPr id="375" name="Google Shape;375;p12"/>
          <p:cNvGrpSpPr/>
          <p:nvPr/>
        </p:nvGrpSpPr>
        <p:grpSpPr>
          <a:xfrm>
            <a:off x="833670" y="2488533"/>
            <a:ext cx="359679" cy="321833"/>
            <a:chOff x="4670239" y="1541599"/>
            <a:chExt cx="359679" cy="321833"/>
          </a:xfrm>
        </p:grpSpPr>
        <p:sp>
          <p:nvSpPr>
            <p:cNvPr id="376" name="Google Shape;376;p12"/>
            <p:cNvSpPr/>
            <p:nvPr/>
          </p:nvSpPr>
          <p:spPr>
            <a:xfrm>
              <a:off x="4818790" y="1606787"/>
              <a:ext cx="28838" cy="49687"/>
            </a:xfrm>
            <a:custGeom>
              <a:rect b="b" l="l" r="r" t="t"/>
              <a:pathLst>
                <a:path extrusionOk="0" h="1561" w="906">
                  <a:moveTo>
                    <a:pt x="429" y="298"/>
                  </a:moveTo>
                  <a:lnTo>
                    <a:pt x="429" y="584"/>
                  </a:lnTo>
                  <a:cubicBezTo>
                    <a:pt x="310" y="537"/>
                    <a:pt x="287" y="489"/>
                    <a:pt x="287" y="429"/>
                  </a:cubicBezTo>
                  <a:cubicBezTo>
                    <a:pt x="287" y="346"/>
                    <a:pt x="358" y="310"/>
                    <a:pt x="429" y="298"/>
                  </a:cubicBezTo>
                  <a:close/>
                  <a:moveTo>
                    <a:pt x="537" y="882"/>
                  </a:moveTo>
                  <a:cubicBezTo>
                    <a:pt x="656" y="929"/>
                    <a:pt x="680" y="989"/>
                    <a:pt x="680" y="1060"/>
                  </a:cubicBezTo>
                  <a:cubicBezTo>
                    <a:pt x="680" y="1132"/>
                    <a:pt x="620" y="1191"/>
                    <a:pt x="537" y="1203"/>
                  </a:cubicBezTo>
                  <a:lnTo>
                    <a:pt x="537" y="882"/>
                  </a:lnTo>
                  <a:close/>
                  <a:moveTo>
                    <a:pt x="477" y="1"/>
                  </a:moveTo>
                  <a:cubicBezTo>
                    <a:pt x="441" y="1"/>
                    <a:pt x="418" y="13"/>
                    <a:pt x="418" y="48"/>
                  </a:cubicBezTo>
                  <a:lnTo>
                    <a:pt x="418" y="108"/>
                  </a:lnTo>
                  <a:cubicBezTo>
                    <a:pt x="191" y="132"/>
                    <a:pt x="48" y="251"/>
                    <a:pt x="48" y="477"/>
                  </a:cubicBezTo>
                  <a:cubicBezTo>
                    <a:pt x="48" y="715"/>
                    <a:pt x="227" y="787"/>
                    <a:pt x="418" y="870"/>
                  </a:cubicBezTo>
                  <a:lnTo>
                    <a:pt x="418" y="1239"/>
                  </a:lnTo>
                  <a:cubicBezTo>
                    <a:pt x="310" y="1215"/>
                    <a:pt x="263" y="1191"/>
                    <a:pt x="179" y="1120"/>
                  </a:cubicBezTo>
                  <a:cubicBezTo>
                    <a:pt x="159" y="1104"/>
                    <a:pt x="138" y="1096"/>
                    <a:pt x="118" y="1096"/>
                  </a:cubicBezTo>
                  <a:cubicBezTo>
                    <a:pt x="93" y="1096"/>
                    <a:pt x="69" y="1110"/>
                    <a:pt x="48" y="1144"/>
                  </a:cubicBezTo>
                  <a:cubicBezTo>
                    <a:pt x="1" y="1203"/>
                    <a:pt x="1" y="1263"/>
                    <a:pt x="48" y="1310"/>
                  </a:cubicBezTo>
                  <a:cubicBezTo>
                    <a:pt x="120" y="1418"/>
                    <a:pt x="287" y="1465"/>
                    <a:pt x="418" y="1465"/>
                  </a:cubicBezTo>
                  <a:lnTo>
                    <a:pt x="418" y="1513"/>
                  </a:lnTo>
                  <a:cubicBezTo>
                    <a:pt x="418" y="1549"/>
                    <a:pt x="441" y="1560"/>
                    <a:pt x="477" y="1560"/>
                  </a:cubicBezTo>
                  <a:cubicBezTo>
                    <a:pt x="501" y="1560"/>
                    <a:pt x="537" y="1549"/>
                    <a:pt x="537" y="1513"/>
                  </a:cubicBezTo>
                  <a:lnTo>
                    <a:pt x="537" y="1429"/>
                  </a:lnTo>
                  <a:cubicBezTo>
                    <a:pt x="727" y="1406"/>
                    <a:pt x="894" y="1263"/>
                    <a:pt x="894" y="1025"/>
                  </a:cubicBezTo>
                  <a:cubicBezTo>
                    <a:pt x="906" y="787"/>
                    <a:pt x="763" y="703"/>
                    <a:pt x="549" y="632"/>
                  </a:cubicBezTo>
                  <a:lnTo>
                    <a:pt x="549" y="286"/>
                  </a:lnTo>
                  <a:cubicBezTo>
                    <a:pt x="596" y="286"/>
                    <a:pt x="644" y="298"/>
                    <a:pt x="680" y="334"/>
                  </a:cubicBezTo>
                  <a:cubicBezTo>
                    <a:pt x="707" y="341"/>
                    <a:pt x="738" y="363"/>
                    <a:pt x="771" y="363"/>
                  </a:cubicBezTo>
                  <a:cubicBezTo>
                    <a:pt x="795" y="363"/>
                    <a:pt x="821" y="351"/>
                    <a:pt x="846" y="310"/>
                  </a:cubicBezTo>
                  <a:cubicBezTo>
                    <a:pt x="882" y="275"/>
                    <a:pt x="894" y="215"/>
                    <a:pt x="834" y="167"/>
                  </a:cubicBezTo>
                  <a:cubicBezTo>
                    <a:pt x="763" y="108"/>
                    <a:pt x="644" y="96"/>
                    <a:pt x="537" y="96"/>
                  </a:cubicBezTo>
                  <a:lnTo>
                    <a:pt x="537" y="48"/>
                  </a:lnTo>
                  <a:cubicBezTo>
                    <a:pt x="537" y="13"/>
                    <a:pt x="501" y="1"/>
                    <a:pt x="477"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1384D"/>
                </a:solidFill>
                <a:latin typeface="Arial"/>
                <a:ea typeface="Arial"/>
                <a:cs typeface="Arial"/>
                <a:sym typeface="Arial"/>
              </a:endParaRPr>
            </a:p>
          </p:txBody>
        </p:sp>
        <p:sp>
          <p:nvSpPr>
            <p:cNvPr id="377" name="Google Shape;377;p12"/>
            <p:cNvSpPr/>
            <p:nvPr/>
          </p:nvSpPr>
          <p:spPr>
            <a:xfrm>
              <a:off x="4875256" y="1557896"/>
              <a:ext cx="82281" cy="82663"/>
            </a:xfrm>
            <a:custGeom>
              <a:rect b="b" l="l" r="r" t="t"/>
              <a:pathLst>
                <a:path extrusionOk="0" h="2597" w="2585">
                  <a:moveTo>
                    <a:pt x="1287" y="310"/>
                  </a:moveTo>
                  <a:cubicBezTo>
                    <a:pt x="1823" y="310"/>
                    <a:pt x="2275" y="751"/>
                    <a:pt x="2275" y="1299"/>
                  </a:cubicBezTo>
                  <a:cubicBezTo>
                    <a:pt x="2263" y="1834"/>
                    <a:pt x="1823" y="2275"/>
                    <a:pt x="1287" y="2275"/>
                  </a:cubicBezTo>
                  <a:cubicBezTo>
                    <a:pt x="751" y="2275"/>
                    <a:pt x="310" y="1846"/>
                    <a:pt x="310" y="1299"/>
                  </a:cubicBezTo>
                  <a:cubicBezTo>
                    <a:pt x="310" y="763"/>
                    <a:pt x="739" y="310"/>
                    <a:pt x="1287" y="310"/>
                  </a:cubicBezTo>
                  <a:close/>
                  <a:moveTo>
                    <a:pt x="1287" y="1"/>
                  </a:moveTo>
                  <a:cubicBezTo>
                    <a:pt x="572" y="1"/>
                    <a:pt x="1" y="584"/>
                    <a:pt x="1" y="1299"/>
                  </a:cubicBezTo>
                  <a:cubicBezTo>
                    <a:pt x="1" y="2013"/>
                    <a:pt x="572" y="2596"/>
                    <a:pt x="1287" y="2596"/>
                  </a:cubicBezTo>
                  <a:cubicBezTo>
                    <a:pt x="2001" y="2596"/>
                    <a:pt x="2585" y="2013"/>
                    <a:pt x="2585" y="1299"/>
                  </a:cubicBezTo>
                  <a:cubicBezTo>
                    <a:pt x="2585" y="584"/>
                    <a:pt x="2001" y="1"/>
                    <a:pt x="1287"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1384D"/>
                </a:solidFill>
                <a:latin typeface="Arial"/>
                <a:ea typeface="Arial"/>
                <a:cs typeface="Arial"/>
                <a:sym typeface="Arial"/>
              </a:endParaRPr>
            </a:p>
          </p:txBody>
        </p:sp>
        <p:sp>
          <p:nvSpPr>
            <p:cNvPr id="378" name="Google Shape;378;p12"/>
            <p:cNvSpPr/>
            <p:nvPr/>
          </p:nvSpPr>
          <p:spPr>
            <a:xfrm>
              <a:off x="4775215" y="1541599"/>
              <a:ext cx="199001" cy="147850"/>
            </a:xfrm>
            <a:custGeom>
              <a:rect b="b" l="l" r="r" t="t"/>
              <a:pathLst>
                <a:path extrusionOk="0" h="4645" w="6252">
                  <a:moveTo>
                    <a:pt x="1834" y="1811"/>
                  </a:moveTo>
                  <a:cubicBezTo>
                    <a:pt x="2168" y="1811"/>
                    <a:pt x="2465" y="1989"/>
                    <a:pt x="2644" y="2239"/>
                  </a:cubicBezTo>
                  <a:cubicBezTo>
                    <a:pt x="2680" y="2394"/>
                    <a:pt x="2739" y="2525"/>
                    <a:pt x="2799" y="2656"/>
                  </a:cubicBezTo>
                  <a:cubicBezTo>
                    <a:pt x="2799" y="2704"/>
                    <a:pt x="2811" y="2751"/>
                    <a:pt x="2811" y="2787"/>
                  </a:cubicBezTo>
                  <a:cubicBezTo>
                    <a:pt x="2811" y="3335"/>
                    <a:pt x="2382" y="3775"/>
                    <a:pt x="1834" y="3775"/>
                  </a:cubicBezTo>
                  <a:cubicBezTo>
                    <a:pt x="1298" y="3775"/>
                    <a:pt x="846" y="3347"/>
                    <a:pt x="846" y="2787"/>
                  </a:cubicBezTo>
                  <a:cubicBezTo>
                    <a:pt x="846" y="2251"/>
                    <a:pt x="1275" y="1811"/>
                    <a:pt x="1834" y="1811"/>
                  </a:cubicBezTo>
                  <a:close/>
                  <a:moveTo>
                    <a:pt x="1834" y="1263"/>
                  </a:moveTo>
                  <a:cubicBezTo>
                    <a:pt x="2108" y="1263"/>
                    <a:pt x="2382" y="1334"/>
                    <a:pt x="2620" y="1489"/>
                  </a:cubicBezTo>
                  <a:cubicBezTo>
                    <a:pt x="2608" y="1561"/>
                    <a:pt x="2608" y="1644"/>
                    <a:pt x="2584" y="1727"/>
                  </a:cubicBezTo>
                  <a:cubicBezTo>
                    <a:pt x="2382" y="1572"/>
                    <a:pt x="2108" y="1465"/>
                    <a:pt x="1822" y="1465"/>
                  </a:cubicBezTo>
                  <a:cubicBezTo>
                    <a:pt x="1120" y="1465"/>
                    <a:pt x="536" y="2049"/>
                    <a:pt x="536" y="2763"/>
                  </a:cubicBezTo>
                  <a:cubicBezTo>
                    <a:pt x="536" y="3477"/>
                    <a:pt x="1108" y="4061"/>
                    <a:pt x="1822" y="4061"/>
                  </a:cubicBezTo>
                  <a:cubicBezTo>
                    <a:pt x="2453" y="4061"/>
                    <a:pt x="2953" y="3632"/>
                    <a:pt x="3096" y="3049"/>
                  </a:cubicBezTo>
                  <a:cubicBezTo>
                    <a:pt x="3156" y="3108"/>
                    <a:pt x="3215" y="3156"/>
                    <a:pt x="3275" y="3216"/>
                  </a:cubicBezTo>
                  <a:cubicBezTo>
                    <a:pt x="3084" y="3870"/>
                    <a:pt x="2501" y="4299"/>
                    <a:pt x="1834" y="4299"/>
                  </a:cubicBezTo>
                  <a:cubicBezTo>
                    <a:pt x="1001" y="4299"/>
                    <a:pt x="310" y="3608"/>
                    <a:pt x="310" y="2775"/>
                  </a:cubicBezTo>
                  <a:cubicBezTo>
                    <a:pt x="310" y="1942"/>
                    <a:pt x="1001" y="1263"/>
                    <a:pt x="1834" y="1263"/>
                  </a:cubicBezTo>
                  <a:close/>
                  <a:moveTo>
                    <a:pt x="4430" y="1"/>
                  </a:moveTo>
                  <a:cubicBezTo>
                    <a:pt x="3644" y="1"/>
                    <a:pt x="2977" y="501"/>
                    <a:pt x="2703" y="1203"/>
                  </a:cubicBezTo>
                  <a:cubicBezTo>
                    <a:pt x="2441" y="1049"/>
                    <a:pt x="2144" y="977"/>
                    <a:pt x="1834" y="977"/>
                  </a:cubicBezTo>
                  <a:cubicBezTo>
                    <a:pt x="822" y="977"/>
                    <a:pt x="1" y="1799"/>
                    <a:pt x="1" y="2811"/>
                  </a:cubicBezTo>
                  <a:cubicBezTo>
                    <a:pt x="1" y="3823"/>
                    <a:pt x="822" y="4644"/>
                    <a:pt x="1834" y="4644"/>
                  </a:cubicBezTo>
                  <a:cubicBezTo>
                    <a:pt x="2608" y="4644"/>
                    <a:pt x="3287" y="4168"/>
                    <a:pt x="3561" y="3430"/>
                  </a:cubicBezTo>
                  <a:cubicBezTo>
                    <a:pt x="3811" y="3573"/>
                    <a:pt x="4108" y="3656"/>
                    <a:pt x="4430" y="3656"/>
                  </a:cubicBezTo>
                  <a:cubicBezTo>
                    <a:pt x="4846" y="3656"/>
                    <a:pt x="5251" y="3513"/>
                    <a:pt x="5585" y="3251"/>
                  </a:cubicBezTo>
                  <a:cubicBezTo>
                    <a:pt x="5894" y="3001"/>
                    <a:pt x="6132" y="2632"/>
                    <a:pt x="6216" y="2239"/>
                  </a:cubicBezTo>
                  <a:cubicBezTo>
                    <a:pt x="6228" y="2144"/>
                    <a:pt x="6192" y="2049"/>
                    <a:pt x="6097" y="2037"/>
                  </a:cubicBezTo>
                  <a:cubicBezTo>
                    <a:pt x="6086" y="2035"/>
                    <a:pt x="6076" y="2035"/>
                    <a:pt x="6065" y="2035"/>
                  </a:cubicBezTo>
                  <a:cubicBezTo>
                    <a:pt x="5991" y="2035"/>
                    <a:pt x="5917" y="2072"/>
                    <a:pt x="5906" y="2156"/>
                  </a:cubicBezTo>
                  <a:cubicBezTo>
                    <a:pt x="5739" y="2835"/>
                    <a:pt x="5144" y="3335"/>
                    <a:pt x="4430" y="3335"/>
                  </a:cubicBezTo>
                  <a:cubicBezTo>
                    <a:pt x="3882" y="3335"/>
                    <a:pt x="3394" y="3037"/>
                    <a:pt x="3120" y="2561"/>
                  </a:cubicBezTo>
                  <a:cubicBezTo>
                    <a:pt x="3096" y="2406"/>
                    <a:pt x="3037" y="2263"/>
                    <a:pt x="2965" y="2120"/>
                  </a:cubicBezTo>
                  <a:cubicBezTo>
                    <a:pt x="2763" y="1191"/>
                    <a:pt x="3477" y="310"/>
                    <a:pt x="4430" y="310"/>
                  </a:cubicBezTo>
                  <a:cubicBezTo>
                    <a:pt x="5144" y="310"/>
                    <a:pt x="5739" y="787"/>
                    <a:pt x="5906" y="1489"/>
                  </a:cubicBezTo>
                  <a:cubicBezTo>
                    <a:pt x="5916" y="1560"/>
                    <a:pt x="5986" y="1613"/>
                    <a:pt x="6058" y="1613"/>
                  </a:cubicBezTo>
                  <a:cubicBezTo>
                    <a:pt x="6071" y="1613"/>
                    <a:pt x="6084" y="1612"/>
                    <a:pt x="6097" y="1608"/>
                  </a:cubicBezTo>
                  <a:cubicBezTo>
                    <a:pt x="6192" y="1584"/>
                    <a:pt x="6251" y="1501"/>
                    <a:pt x="6216" y="1406"/>
                  </a:cubicBezTo>
                  <a:cubicBezTo>
                    <a:pt x="6132" y="1013"/>
                    <a:pt x="5906" y="656"/>
                    <a:pt x="5585" y="394"/>
                  </a:cubicBezTo>
                  <a:cubicBezTo>
                    <a:pt x="5251" y="132"/>
                    <a:pt x="4846" y="1"/>
                    <a:pt x="4430"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1384D"/>
                </a:solidFill>
                <a:latin typeface="Arial"/>
                <a:ea typeface="Arial"/>
                <a:cs typeface="Arial"/>
                <a:sym typeface="Arial"/>
              </a:endParaRPr>
            </a:p>
          </p:txBody>
        </p:sp>
        <p:sp>
          <p:nvSpPr>
            <p:cNvPr id="379" name="Google Shape;379;p12"/>
            <p:cNvSpPr/>
            <p:nvPr/>
          </p:nvSpPr>
          <p:spPr>
            <a:xfrm>
              <a:off x="4901803" y="1574957"/>
              <a:ext cx="28838" cy="50069"/>
            </a:xfrm>
            <a:custGeom>
              <a:rect b="b" l="l" r="r" t="t"/>
              <a:pathLst>
                <a:path extrusionOk="0" h="1573" w="906">
                  <a:moveTo>
                    <a:pt x="429" y="322"/>
                  </a:moveTo>
                  <a:lnTo>
                    <a:pt x="429" y="596"/>
                  </a:lnTo>
                  <a:cubicBezTo>
                    <a:pt x="310" y="548"/>
                    <a:pt x="274" y="513"/>
                    <a:pt x="274" y="453"/>
                  </a:cubicBezTo>
                  <a:cubicBezTo>
                    <a:pt x="274" y="358"/>
                    <a:pt x="358" y="334"/>
                    <a:pt x="429" y="322"/>
                  </a:cubicBezTo>
                  <a:close/>
                  <a:moveTo>
                    <a:pt x="512" y="894"/>
                  </a:moveTo>
                  <a:cubicBezTo>
                    <a:pt x="631" y="941"/>
                    <a:pt x="667" y="1001"/>
                    <a:pt x="667" y="1072"/>
                  </a:cubicBezTo>
                  <a:cubicBezTo>
                    <a:pt x="667" y="1167"/>
                    <a:pt x="608" y="1215"/>
                    <a:pt x="512" y="1227"/>
                  </a:cubicBezTo>
                  <a:lnTo>
                    <a:pt x="512" y="894"/>
                  </a:lnTo>
                  <a:close/>
                  <a:moveTo>
                    <a:pt x="453" y="1"/>
                  </a:moveTo>
                  <a:cubicBezTo>
                    <a:pt x="429" y="1"/>
                    <a:pt x="393" y="24"/>
                    <a:pt x="393" y="48"/>
                  </a:cubicBezTo>
                  <a:lnTo>
                    <a:pt x="393" y="108"/>
                  </a:lnTo>
                  <a:cubicBezTo>
                    <a:pt x="167" y="132"/>
                    <a:pt x="24" y="251"/>
                    <a:pt x="24" y="477"/>
                  </a:cubicBezTo>
                  <a:cubicBezTo>
                    <a:pt x="24" y="715"/>
                    <a:pt x="203" y="798"/>
                    <a:pt x="393" y="870"/>
                  </a:cubicBezTo>
                  <a:lnTo>
                    <a:pt x="393" y="1239"/>
                  </a:lnTo>
                  <a:cubicBezTo>
                    <a:pt x="286" y="1227"/>
                    <a:pt x="250" y="1179"/>
                    <a:pt x="155" y="1120"/>
                  </a:cubicBezTo>
                  <a:cubicBezTo>
                    <a:pt x="138" y="1108"/>
                    <a:pt x="122" y="1102"/>
                    <a:pt x="106" y="1102"/>
                  </a:cubicBezTo>
                  <a:cubicBezTo>
                    <a:pt x="46" y="1102"/>
                    <a:pt x="0" y="1182"/>
                    <a:pt x="0" y="1239"/>
                  </a:cubicBezTo>
                  <a:cubicBezTo>
                    <a:pt x="0" y="1275"/>
                    <a:pt x="12" y="1298"/>
                    <a:pt x="24" y="1310"/>
                  </a:cubicBezTo>
                  <a:cubicBezTo>
                    <a:pt x="96" y="1417"/>
                    <a:pt x="262" y="1465"/>
                    <a:pt x="393" y="1465"/>
                  </a:cubicBezTo>
                  <a:lnTo>
                    <a:pt x="393" y="1525"/>
                  </a:lnTo>
                  <a:cubicBezTo>
                    <a:pt x="393" y="1548"/>
                    <a:pt x="429" y="1572"/>
                    <a:pt x="453" y="1572"/>
                  </a:cubicBezTo>
                  <a:cubicBezTo>
                    <a:pt x="488" y="1572"/>
                    <a:pt x="512" y="1548"/>
                    <a:pt x="512" y="1525"/>
                  </a:cubicBezTo>
                  <a:lnTo>
                    <a:pt x="512" y="1465"/>
                  </a:lnTo>
                  <a:cubicBezTo>
                    <a:pt x="715" y="1429"/>
                    <a:pt x="869" y="1298"/>
                    <a:pt x="869" y="1060"/>
                  </a:cubicBezTo>
                  <a:cubicBezTo>
                    <a:pt x="905" y="810"/>
                    <a:pt x="739" y="715"/>
                    <a:pt x="536" y="644"/>
                  </a:cubicBezTo>
                  <a:lnTo>
                    <a:pt x="536" y="298"/>
                  </a:lnTo>
                  <a:cubicBezTo>
                    <a:pt x="608" y="298"/>
                    <a:pt x="631" y="322"/>
                    <a:pt x="715" y="358"/>
                  </a:cubicBezTo>
                  <a:cubicBezTo>
                    <a:pt x="728" y="367"/>
                    <a:pt x="742" y="372"/>
                    <a:pt x="758" y="372"/>
                  </a:cubicBezTo>
                  <a:cubicBezTo>
                    <a:pt x="784" y="372"/>
                    <a:pt x="811" y="355"/>
                    <a:pt x="834" y="310"/>
                  </a:cubicBezTo>
                  <a:cubicBezTo>
                    <a:pt x="858" y="274"/>
                    <a:pt x="869" y="215"/>
                    <a:pt x="810" y="167"/>
                  </a:cubicBezTo>
                  <a:cubicBezTo>
                    <a:pt x="739" y="108"/>
                    <a:pt x="619" y="96"/>
                    <a:pt x="512" y="96"/>
                  </a:cubicBezTo>
                  <a:lnTo>
                    <a:pt x="512" y="48"/>
                  </a:lnTo>
                  <a:cubicBezTo>
                    <a:pt x="512" y="24"/>
                    <a:pt x="488" y="1"/>
                    <a:pt x="45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1384D"/>
                </a:solidFill>
                <a:latin typeface="Arial"/>
                <a:ea typeface="Arial"/>
                <a:cs typeface="Arial"/>
                <a:sym typeface="Arial"/>
              </a:endParaRPr>
            </a:p>
          </p:txBody>
        </p:sp>
        <p:sp>
          <p:nvSpPr>
            <p:cNvPr id="380" name="Google Shape;380;p12"/>
            <p:cNvSpPr/>
            <p:nvPr/>
          </p:nvSpPr>
          <p:spPr>
            <a:xfrm>
              <a:off x="4670239" y="1657269"/>
              <a:ext cx="359679" cy="206163"/>
            </a:xfrm>
            <a:custGeom>
              <a:rect b="b" l="l" r="r" t="t"/>
              <a:pathLst>
                <a:path extrusionOk="0" h="6477" w="11300">
                  <a:moveTo>
                    <a:pt x="3590" y="1935"/>
                  </a:moveTo>
                  <a:cubicBezTo>
                    <a:pt x="3607" y="1935"/>
                    <a:pt x="3623" y="1948"/>
                    <a:pt x="3632" y="1975"/>
                  </a:cubicBezTo>
                  <a:cubicBezTo>
                    <a:pt x="3715" y="2129"/>
                    <a:pt x="4727" y="4832"/>
                    <a:pt x="4751" y="4939"/>
                  </a:cubicBezTo>
                  <a:cubicBezTo>
                    <a:pt x="4775" y="4951"/>
                    <a:pt x="4751" y="4975"/>
                    <a:pt x="4727" y="4987"/>
                  </a:cubicBezTo>
                  <a:lnTo>
                    <a:pt x="4013" y="5261"/>
                  </a:lnTo>
                  <a:cubicBezTo>
                    <a:pt x="3965" y="5130"/>
                    <a:pt x="2941" y="2403"/>
                    <a:pt x="2870" y="2213"/>
                  </a:cubicBezTo>
                  <a:lnTo>
                    <a:pt x="3572" y="1939"/>
                  </a:lnTo>
                  <a:cubicBezTo>
                    <a:pt x="3578" y="1936"/>
                    <a:pt x="3584" y="1935"/>
                    <a:pt x="3590" y="1935"/>
                  </a:cubicBezTo>
                  <a:close/>
                  <a:moveTo>
                    <a:pt x="2584" y="2308"/>
                  </a:moveTo>
                  <a:lnTo>
                    <a:pt x="3727" y="5368"/>
                  </a:lnTo>
                  <a:cubicBezTo>
                    <a:pt x="3180" y="5570"/>
                    <a:pt x="1810" y="6082"/>
                    <a:pt x="1584" y="6166"/>
                  </a:cubicBezTo>
                  <a:cubicBezTo>
                    <a:pt x="1577" y="6172"/>
                    <a:pt x="1569" y="6175"/>
                    <a:pt x="1560" y="6175"/>
                  </a:cubicBezTo>
                  <a:cubicBezTo>
                    <a:pt x="1537" y="6175"/>
                    <a:pt x="1509" y="6156"/>
                    <a:pt x="1501" y="6130"/>
                  </a:cubicBezTo>
                  <a:lnTo>
                    <a:pt x="394" y="3201"/>
                  </a:lnTo>
                  <a:cubicBezTo>
                    <a:pt x="382" y="3177"/>
                    <a:pt x="394" y="3130"/>
                    <a:pt x="441" y="3118"/>
                  </a:cubicBezTo>
                  <a:cubicBezTo>
                    <a:pt x="1144" y="2844"/>
                    <a:pt x="2096" y="2487"/>
                    <a:pt x="2584" y="2308"/>
                  </a:cubicBezTo>
                  <a:close/>
                  <a:moveTo>
                    <a:pt x="10358" y="1"/>
                  </a:moveTo>
                  <a:cubicBezTo>
                    <a:pt x="10108" y="1"/>
                    <a:pt x="9869" y="131"/>
                    <a:pt x="9692" y="308"/>
                  </a:cubicBezTo>
                  <a:lnTo>
                    <a:pt x="7966" y="1737"/>
                  </a:lnTo>
                  <a:cubicBezTo>
                    <a:pt x="7883" y="1522"/>
                    <a:pt x="7668" y="1308"/>
                    <a:pt x="7263" y="1308"/>
                  </a:cubicBezTo>
                  <a:cubicBezTo>
                    <a:pt x="6756" y="1308"/>
                    <a:pt x="6387" y="1304"/>
                    <a:pt x="6108" y="1304"/>
                  </a:cubicBezTo>
                  <a:cubicBezTo>
                    <a:pt x="5503" y="1304"/>
                    <a:pt x="5318" y="1321"/>
                    <a:pt x="5049" y="1427"/>
                  </a:cubicBezTo>
                  <a:lnTo>
                    <a:pt x="3953" y="1868"/>
                  </a:lnTo>
                  <a:lnTo>
                    <a:pt x="3930" y="1820"/>
                  </a:lnTo>
                  <a:cubicBezTo>
                    <a:pt x="3875" y="1675"/>
                    <a:pt x="3745" y="1592"/>
                    <a:pt x="3597" y="1592"/>
                  </a:cubicBezTo>
                  <a:cubicBezTo>
                    <a:pt x="3550" y="1592"/>
                    <a:pt x="3502" y="1600"/>
                    <a:pt x="3453" y="1618"/>
                  </a:cubicBezTo>
                  <a:lnTo>
                    <a:pt x="2620" y="1927"/>
                  </a:lnTo>
                  <a:cubicBezTo>
                    <a:pt x="2251" y="2058"/>
                    <a:pt x="1108" y="2510"/>
                    <a:pt x="298" y="2808"/>
                  </a:cubicBezTo>
                  <a:cubicBezTo>
                    <a:pt x="96" y="2880"/>
                    <a:pt x="1" y="3106"/>
                    <a:pt x="84" y="3308"/>
                  </a:cubicBezTo>
                  <a:lnTo>
                    <a:pt x="1179" y="6225"/>
                  </a:lnTo>
                  <a:cubicBezTo>
                    <a:pt x="1234" y="6389"/>
                    <a:pt x="1379" y="6476"/>
                    <a:pt x="1540" y="6476"/>
                  </a:cubicBezTo>
                  <a:cubicBezTo>
                    <a:pt x="1590" y="6476"/>
                    <a:pt x="1641" y="6468"/>
                    <a:pt x="1691" y="6451"/>
                  </a:cubicBezTo>
                  <a:cubicBezTo>
                    <a:pt x="1941" y="6368"/>
                    <a:pt x="3608" y="5725"/>
                    <a:pt x="3977" y="5594"/>
                  </a:cubicBezTo>
                  <a:lnTo>
                    <a:pt x="4858" y="5261"/>
                  </a:lnTo>
                  <a:cubicBezTo>
                    <a:pt x="5049" y="5189"/>
                    <a:pt x="5144" y="4975"/>
                    <a:pt x="5061" y="4785"/>
                  </a:cubicBezTo>
                  <a:lnTo>
                    <a:pt x="5049" y="4737"/>
                  </a:lnTo>
                  <a:cubicBezTo>
                    <a:pt x="5620" y="4499"/>
                    <a:pt x="5632" y="4475"/>
                    <a:pt x="6228" y="4475"/>
                  </a:cubicBezTo>
                  <a:cubicBezTo>
                    <a:pt x="6311" y="4475"/>
                    <a:pt x="6394" y="4404"/>
                    <a:pt x="6394" y="4308"/>
                  </a:cubicBezTo>
                  <a:cubicBezTo>
                    <a:pt x="6394" y="4225"/>
                    <a:pt x="6311" y="4142"/>
                    <a:pt x="6228" y="4142"/>
                  </a:cubicBezTo>
                  <a:cubicBezTo>
                    <a:pt x="5585" y="4142"/>
                    <a:pt x="5525" y="4189"/>
                    <a:pt x="4930" y="4439"/>
                  </a:cubicBezTo>
                  <a:lnTo>
                    <a:pt x="4073" y="2153"/>
                  </a:lnTo>
                  <a:lnTo>
                    <a:pt x="5168" y="1689"/>
                  </a:lnTo>
                  <a:cubicBezTo>
                    <a:pt x="5361" y="1615"/>
                    <a:pt x="5513" y="1601"/>
                    <a:pt x="5986" y="1601"/>
                  </a:cubicBezTo>
                  <a:cubicBezTo>
                    <a:pt x="6270" y="1601"/>
                    <a:pt x="6670" y="1606"/>
                    <a:pt x="7263" y="1606"/>
                  </a:cubicBezTo>
                  <a:cubicBezTo>
                    <a:pt x="7442" y="1606"/>
                    <a:pt x="7561" y="1665"/>
                    <a:pt x="7644" y="1784"/>
                  </a:cubicBezTo>
                  <a:cubicBezTo>
                    <a:pt x="7704" y="1868"/>
                    <a:pt x="7704" y="1963"/>
                    <a:pt x="7716" y="1987"/>
                  </a:cubicBezTo>
                  <a:cubicBezTo>
                    <a:pt x="7716" y="2046"/>
                    <a:pt x="7668" y="2344"/>
                    <a:pt x="7382" y="2391"/>
                  </a:cubicBezTo>
                  <a:cubicBezTo>
                    <a:pt x="6942" y="2463"/>
                    <a:pt x="5989" y="2594"/>
                    <a:pt x="5978" y="2594"/>
                  </a:cubicBezTo>
                  <a:cubicBezTo>
                    <a:pt x="5882" y="2606"/>
                    <a:pt x="5823" y="2689"/>
                    <a:pt x="5835" y="2772"/>
                  </a:cubicBezTo>
                  <a:cubicBezTo>
                    <a:pt x="5858" y="2844"/>
                    <a:pt x="5918" y="2903"/>
                    <a:pt x="6001" y="2903"/>
                  </a:cubicBezTo>
                  <a:lnTo>
                    <a:pt x="6037" y="2903"/>
                  </a:lnTo>
                  <a:cubicBezTo>
                    <a:pt x="6049" y="2903"/>
                    <a:pt x="7001" y="2772"/>
                    <a:pt x="7442" y="2701"/>
                  </a:cubicBezTo>
                  <a:cubicBezTo>
                    <a:pt x="7859" y="2630"/>
                    <a:pt x="8014" y="2284"/>
                    <a:pt x="8037" y="2046"/>
                  </a:cubicBezTo>
                  <a:lnTo>
                    <a:pt x="9919" y="498"/>
                  </a:lnTo>
                  <a:cubicBezTo>
                    <a:pt x="10039" y="385"/>
                    <a:pt x="10193" y="287"/>
                    <a:pt x="10356" y="287"/>
                  </a:cubicBezTo>
                  <a:cubicBezTo>
                    <a:pt x="10451" y="287"/>
                    <a:pt x="10549" y="320"/>
                    <a:pt x="10645" y="403"/>
                  </a:cubicBezTo>
                  <a:cubicBezTo>
                    <a:pt x="10942" y="701"/>
                    <a:pt x="10681" y="1058"/>
                    <a:pt x="10597" y="1141"/>
                  </a:cubicBezTo>
                  <a:cubicBezTo>
                    <a:pt x="10526" y="1213"/>
                    <a:pt x="8240" y="3677"/>
                    <a:pt x="8240" y="3677"/>
                  </a:cubicBezTo>
                  <a:cubicBezTo>
                    <a:pt x="7906" y="4070"/>
                    <a:pt x="7466" y="4130"/>
                    <a:pt x="7263" y="4130"/>
                  </a:cubicBezTo>
                  <a:lnTo>
                    <a:pt x="6966" y="4130"/>
                  </a:lnTo>
                  <a:cubicBezTo>
                    <a:pt x="6882" y="4130"/>
                    <a:pt x="6811" y="4201"/>
                    <a:pt x="6811" y="4296"/>
                  </a:cubicBezTo>
                  <a:cubicBezTo>
                    <a:pt x="6811" y="4380"/>
                    <a:pt x="6882" y="4463"/>
                    <a:pt x="6966" y="4463"/>
                  </a:cubicBezTo>
                  <a:lnTo>
                    <a:pt x="7287" y="4463"/>
                  </a:lnTo>
                  <a:cubicBezTo>
                    <a:pt x="7502" y="4439"/>
                    <a:pt x="8061" y="4368"/>
                    <a:pt x="8478" y="3892"/>
                  </a:cubicBezTo>
                  <a:lnTo>
                    <a:pt x="10835" y="1344"/>
                  </a:lnTo>
                  <a:cubicBezTo>
                    <a:pt x="11062" y="1153"/>
                    <a:pt x="11300" y="629"/>
                    <a:pt x="10871" y="213"/>
                  </a:cubicBezTo>
                  <a:cubicBezTo>
                    <a:pt x="10706" y="62"/>
                    <a:pt x="10530" y="1"/>
                    <a:pt x="1035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1384D"/>
                </a:solidFill>
                <a:latin typeface="Arial"/>
                <a:ea typeface="Arial"/>
                <a:cs typeface="Arial"/>
                <a:sym typeface="Arial"/>
              </a:endParaRPr>
            </a:p>
          </p:txBody>
        </p:sp>
      </p:grpSp>
      <p:sp>
        <p:nvSpPr>
          <p:cNvPr id="381" name="Google Shape;381;p12"/>
          <p:cNvSpPr txBox="1"/>
          <p:nvPr/>
        </p:nvSpPr>
        <p:spPr>
          <a:xfrm>
            <a:off x="2074126" y="3960010"/>
            <a:ext cx="5397191" cy="523220"/>
          </a:xfrm>
          <a:prstGeom prst="rect">
            <a:avLst/>
          </a:prstGeom>
          <a:solidFill>
            <a:srgbClr val="BCD1DC">
              <a:alpha val="50196"/>
            </a:srgbClr>
          </a:solidFill>
          <a:ln cap="flat" cmpd="sng" w="9525">
            <a:solidFill>
              <a:srgbClr val="4D7D95"/>
            </a:solidFill>
            <a:prstDash val="solid"/>
            <a:round/>
            <a:headEnd len="sm" w="sm" type="none"/>
            <a:tailEnd len="sm" w="sm" type="none"/>
          </a:ln>
        </p:spPr>
        <p:txBody>
          <a:bodyPr anchorCtr="1" anchor="ctr" bIns="45700" lIns="91425" spcFirstLastPara="1" rIns="91425" wrap="square" tIns="45700">
            <a:spAutoFit/>
          </a:bodyPr>
          <a:lstStyle/>
          <a:p>
            <a:pPr indent="0" lvl="0" marL="0" marR="0" rtl="0" algn="ctr">
              <a:lnSpc>
                <a:spcPct val="100000"/>
              </a:lnSpc>
              <a:spcBef>
                <a:spcPts val="0"/>
              </a:spcBef>
              <a:spcAft>
                <a:spcPts val="0"/>
              </a:spcAft>
              <a:buNone/>
            </a:pPr>
            <a:r>
              <a:rPr b="0" i="1" lang="en-US" sz="1400" u="none" cap="none" strike="noStrike">
                <a:solidFill>
                  <a:srgbClr val="11384D"/>
                </a:solidFill>
                <a:latin typeface="Calibri"/>
                <a:ea typeface="Calibri"/>
                <a:cs typeface="Calibri"/>
                <a:sym typeface="Calibri"/>
              </a:rPr>
              <a:t>El valor de este análisis no está solo en los números: le da a la gerencia un criterio objetivo para decidir dónde invertir el esfuerzo comercial.</a:t>
            </a:r>
            <a:endParaRPr b="0" i="0" sz="1400" u="none" cap="none" strike="noStrike">
              <a:solidFill>
                <a:srgbClr val="11384D"/>
              </a:solidFill>
              <a:latin typeface="Arial"/>
              <a:ea typeface="Arial"/>
              <a:cs typeface="Arial"/>
              <a:sym typeface="Arial"/>
            </a:endParaRPr>
          </a:p>
        </p:txBody>
      </p:sp>
      <p:grpSp>
        <p:nvGrpSpPr>
          <p:cNvPr id="382" name="Google Shape;382;p12"/>
          <p:cNvGrpSpPr/>
          <p:nvPr/>
        </p:nvGrpSpPr>
        <p:grpSpPr>
          <a:xfrm>
            <a:off x="810581" y="3208632"/>
            <a:ext cx="415823" cy="422339"/>
            <a:chOff x="2480325" y="2141075"/>
            <a:chExt cx="454750" cy="461875"/>
          </a:xfrm>
        </p:grpSpPr>
        <p:sp>
          <p:nvSpPr>
            <p:cNvPr id="383" name="Google Shape;383;p12"/>
            <p:cNvSpPr/>
            <p:nvPr/>
          </p:nvSpPr>
          <p:spPr>
            <a:xfrm>
              <a:off x="2569675" y="2331400"/>
              <a:ext cx="13775" cy="22925"/>
            </a:xfrm>
            <a:custGeom>
              <a:rect b="b" l="l" r="r" t="t"/>
              <a:pathLst>
                <a:path extrusionOk="0" h="917" w="551">
                  <a:moveTo>
                    <a:pt x="276" y="0"/>
                  </a:moveTo>
                  <a:cubicBezTo>
                    <a:pt x="136" y="0"/>
                    <a:pt x="1" y="140"/>
                    <a:pt x="1" y="275"/>
                  </a:cubicBezTo>
                  <a:lnTo>
                    <a:pt x="1" y="642"/>
                  </a:lnTo>
                  <a:cubicBezTo>
                    <a:pt x="1" y="781"/>
                    <a:pt x="136" y="917"/>
                    <a:pt x="276" y="917"/>
                  </a:cubicBezTo>
                  <a:cubicBezTo>
                    <a:pt x="459" y="917"/>
                    <a:pt x="551" y="781"/>
                    <a:pt x="551" y="642"/>
                  </a:cubicBezTo>
                  <a:lnTo>
                    <a:pt x="551" y="275"/>
                  </a:lnTo>
                  <a:cubicBezTo>
                    <a:pt x="551" y="140"/>
                    <a:pt x="459" y="0"/>
                    <a:pt x="2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2"/>
            <p:cNvSpPr/>
            <p:nvPr/>
          </p:nvSpPr>
          <p:spPr>
            <a:xfrm>
              <a:off x="2643000" y="2331400"/>
              <a:ext cx="12575" cy="22925"/>
            </a:xfrm>
            <a:custGeom>
              <a:rect b="b" l="l" r="r" t="t"/>
              <a:pathLst>
                <a:path extrusionOk="0" h="917" w="503">
                  <a:moveTo>
                    <a:pt x="275" y="0"/>
                  </a:moveTo>
                  <a:cubicBezTo>
                    <a:pt x="92" y="0"/>
                    <a:pt x="0" y="140"/>
                    <a:pt x="0" y="275"/>
                  </a:cubicBezTo>
                  <a:lnTo>
                    <a:pt x="0" y="642"/>
                  </a:lnTo>
                  <a:cubicBezTo>
                    <a:pt x="0" y="781"/>
                    <a:pt x="92" y="917"/>
                    <a:pt x="275" y="917"/>
                  </a:cubicBezTo>
                  <a:cubicBezTo>
                    <a:pt x="411" y="917"/>
                    <a:pt x="502" y="781"/>
                    <a:pt x="502" y="642"/>
                  </a:cubicBezTo>
                  <a:lnTo>
                    <a:pt x="502" y="275"/>
                  </a:lnTo>
                  <a:cubicBezTo>
                    <a:pt x="502" y="140"/>
                    <a:pt x="411" y="0"/>
                    <a:pt x="2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2"/>
            <p:cNvSpPr/>
            <p:nvPr/>
          </p:nvSpPr>
          <p:spPr>
            <a:xfrm>
              <a:off x="2569675" y="2374925"/>
              <a:ext cx="88200" cy="50425"/>
            </a:xfrm>
            <a:custGeom>
              <a:rect b="b" l="l" r="r" t="t"/>
              <a:pathLst>
                <a:path extrusionOk="0" h="2017" w="3528">
                  <a:moveTo>
                    <a:pt x="2977" y="506"/>
                  </a:moveTo>
                  <a:cubicBezTo>
                    <a:pt x="2842" y="1056"/>
                    <a:pt x="2383" y="1467"/>
                    <a:pt x="1786" y="1467"/>
                  </a:cubicBezTo>
                  <a:cubicBezTo>
                    <a:pt x="1192" y="1467"/>
                    <a:pt x="734" y="1056"/>
                    <a:pt x="595" y="506"/>
                  </a:cubicBezTo>
                  <a:close/>
                  <a:moveTo>
                    <a:pt x="276" y="1"/>
                  </a:moveTo>
                  <a:cubicBezTo>
                    <a:pt x="136" y="1"/>
                    <a:pt x="1" y="92"/>
                    <a:pt x="1" y="232"/>
                  </a:cubicBezTo>
                  <a:cubicBezTo>
                    <a:pt x="1" y="1240"/>
                    <a:pt x="826" y="2017"/>
                    <a:pt x="1786" y="2017"/>
                  </a:cubicBezTo>
                  <a:cubicBezTo>
                    <a:pt x="2750" y="2017"/>
                    <a:pt x="3527" y="1240"/>
                    <a:pt x="3527" y="232"/>
                  </a:cubicBezTo>
                  <a:cubicBezTo>
                    <a:pt x="3527" y="92"/>
                    <a:pt x="3435" y="1"/>
                    <a:pt x="32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2"/>
            <p:cNvSpPr/>
            <p:nvPr/>
          </p:nvSpPr>
          <p:spPr>
            <a:xfrm>
              <a:off x="2480325" y="2558200"/>
              <a:ext cx="261200" cy="44750"/>
            </a:xfrm>
            <a:custGeom>
              <a:rect b="b" l="l" r="r" t="t"/>
              <a:pathLst>
                <a:path extrusionOk="0" h="1790" w="10448">
                  <a:moveTo>
                    <a:pt x="276" y="1"/>
                  </a:moveTo>
                  <a:cubicBezTo>
                    <a:pt x="136" y="1"/>
                    <a:pt x="1" y="140"/>
                    <a:pt x="1" y="276"/>
                  </a:cubicBezTo>
                  <a:lnTo>
                    <a:pt x="1" y="1009"/>
                  </a:lnTo>
                  <a:cubicBezTo>
                    <a:pt x="1" y="1423"/>
                    <a:pt x="367" y="1790"/>
                    <a:pt x="778" y="1790"/>
                  </a:cubicBezTo>
                  <a:lnTo>
                    <a:pt x="9667" y="1790"/>
                  </a:lnTo>
                  <a:cubicBezTo>
                    <a:pt x="10081" y="1790"/>
                    <a:pt x="10448" y="1423"/>
                    <a:pt x="10448" y="1009"/>
                  </a:cubicBezTo>
                  <a:lnTo>
                    <a:pt x="10448" y="734"/>
                  </a:lnTo>
                  <a:cubicBezTo>
                    <a:pt x="10448" y="598"/>
                    <a:pt x="10308" y="459"/>
                    <a:pt x="10173" y="459"/>
                  </a:cubicBezTo>
                  <a:cubicBezTo>
                    <a:pt x="10034" y="459"/>
                    <a:pt x="9898" y="598"/>
                    <a:pt x="9898" y="734"/>
                  </a:cubicBezTo>
                  <a:lnTo>
                    <a:pt x="9898" y="1009"/>
                  </a:lnTo>
                  <a:cubicBezTo>
                    <a:pt x="9898" y="1148"/>
                    <a:pt x="9806" y="1240"/>
                    <a:pt x="9667" y="1240"/>
                  </a:cubicBezTo>
                  <a:lnTo>
                    <a:pt x="778" y="1240"/>
                  </a:lnTo>
                  <a:cubicBezTo>
                    <a:pt x="642" y="1240"/>
                    <a:pt x="551" y="1148"/>
                    <a:pt x="551" y="1009"/>
                  </a:cubicBezTo>
                  <a:lnTo>
                    <a:pt x="551" y="276"/>
                  </a:lnTo>
                  <a:cubicBezTo>
                    <a:pt x="551" y="140"/>
                    <a:pt x="411" y="1"/>
                    <a:pt x="2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2"/>
            <p:cNvSpPr/>
            <p:nvPr/>
          </p:nvSpPr>
          <p:spPr>
            <a:xfrm>
              <a:off x="2480325" y="2141075"/>
              <a:ext cx="411225" cy="411475"/>
            </a:xfrm>
            <a:custGeom>
              <a:rect b="b" l="l" r="r" t="t"/>
              <a:pathLst>
                <a:path extrusionOk="0" h="16459" w="16449">
                  <a:moveTo>
                    <a:pt x="5313" y="549"/>
                  </a:moveTo>
                  <a:cubicBezTo>
                    <a:pt x="5360" y="549"/>
                    <a:pt x="5406" y="552"/>
                    <a:pt x="5452" y="557"/>
                  </a:cubicBezTo>
                  <a:cubicBezTo>
                    <a:pt x="6185" y="605"/>
                    <a:pt x="6735" y="1155"/>
                    <a:pt x="6782" y="1840"/>
                  </a:cubicBezTo>
                  <a:cubicBezTo>
                    <a:pt x="6826" y="1979"/>
                    <a:pt x="6826" y="2071"/>
                    <a:pt x="6782" y="2207"/>
                  </a:cubicBezTo>
                  <a:cubicBezTo>
                    <a:pt x="6691" y="2163"/>
                    <a:pt x="6551" y="2163"/>
                    <a:pt x="6460" y="2163"/>
                  </a:cubicBezTo>
                  <a:lnTo>
                    <a:pt x="3941" y="2163"/>
                  </a:lnTo>
                  <a:lnTo>
                    <a:pt x="3941" y="1979"/>
                  </a:lnTo>
                  <a:cubicBezTo>
                    <a:pt x="3941" y="1565"/>
                    <a:pt x="4077" y="1199"/>
                    <a:pt x="4400" y="924"/>
                  </a:cubicBezTo>
                  <a:cubicBezTo>
                    <a:pt x="4640" y="683"/>
                    <a:pt x="4985" y="549"/>
                    <a:pt x="5313" y="549"/>
                  </a:cubicBezTo>
                  <a:close/>
                  <a:moveTo>
                    <a:pt x="6460" y="2713"/>
                  </a:moveTo>
                  <a:cubicBezTo>
                    <a:pt x="7699" y="2713"/>
                    <a:pt x="8707" y="3490"/>
                    <a:pt x="8751" y="4454"/>
                  </a:cubicBezTo>
                  <a:lnTo>
                    <a:pt x="8934" y="7111"/>
                  </a:lnTo>
                  <a:cubicBezTo>
                    <a:pt x="8934" y="7203"/>
                    <a:pt x="8890" y="7295"/>
                    <a:pt x="8798" y="7295"/>
                  </a:cubicBezTo>
                  <a:cubicBezTo>
                    <a:pt x="8653" y="7345"/>
                    <a:pt x="8513" y="7368"/>
                    <a:pt x="8379" y="7368"/>
                  </a:cubicBezTo>
                  <a:cubicBezTo>
                    <a:pt x="7536" y="7368"/>
                    <a:pt x="6909" y="6473"/>
                    <a:pt x="6551" y="5920"/>
                  </a:cubicBezTo>
                  <a:cubicBezTo>
                    <a:pt x="6460" y="5737"/>
                    <a:pt x="6324" y="5645"/>
                    <a:pt x="6141" y="5645"/>
                  </a:cubicBezTo>
                  <a:lnTo>
                    <a:pt x="6093" y="5645"/>
                  </a:lnTo>
                  <a:cubicBezTo>
                    <a:pt x="5957" y="5645"/>
                    <a:pt x="5818" y="5689"/>
                    <a:pt x="5682" y="5781"/>
                  </a:cubicBezTo>
                  <a:cubicBezTo>
                    <a:pt x="5115" y="6375"/>
                    <a:pt x="4170" y="6532"/>
                    <a:pt x="3338" y="6532"/>
                  </a:cubicBezTo>
                  <a:cubicBezTo>
                    <a:pt x="2692" y="6532"/>
                    <a:pt x="2114" y="6437"/>
                    <a:pt x="1834" y="6378"/>
                  </a:cubicBezTo>
                  <a:lnTo>
                    <a:pt x="1786" y="6378"/>
                  </a:lnTo>
                  <a:lnTo>
                    <a:pt x="1969" y="4406"/>
                  </a:lnTo>
                  <a:cubicBezTo>
                    <a:pt x="2061" y="3581"/>
                    <a:pt x="2794" y="2940"/>
                    <a:pt x="3758" y="2756"/>
                  </a:cubicBezTo>
                  <a:lnTo>
                    <a:pt x="3802" y="2756"/>
                  </a:lnTo>
                  <a:cubicBezTo>
                    <a:pt x="3941" y="2713"/>
                    <a:pt x="4125" y="2713"/>
                    <a:pt x="4308" y="2713"/>
                  </a:cubicBezTo>
                  <a:close/>
                  <a:moveTo>
                    <a:pt x="6093" y="6147"/>
                  </a:moveTo>
                  <a:cubicBezTo>
                    <a:pt x="6735" y="7247"/>
                    <a:pt x="7515" y="7844"/>
                    <a:pt x="8292" y="7888"/>
                  </a:cubicBezTo>
                  <a:lnTo>
                    <a:pt x="8292" y="10044"/>
                  </a:lnTo>
                  <a:cubicBezTo>
                    <a:pt x="8292" y="11052"/>
                    <a:pt x="7468" y="11921"/>
                    <a:pt x="6416" y="11921"/>
                  </a:cubicBezTo>
                  <a:lnTo>
                    <a:pt x="4260" y="11921"/>
                  </a:lnTo>
                  <a:cubicBezTo>
                    <a:pt x="3252" y="11921"/>
                    <a:pt x="2427" y="11052"/>
                    <a:pt x="2427" y="10044"/>
                  </a:cubicBezTo>
                  <a:lnTo>
                    <a:pt x="2427" y="7020"/>
                  </a:lnTo>
                  <a:cubicBezTo>
                    <a:pt x="2687" y="7041"/>
                    <a:pt x="2976" y="7058"/>
                    <a:pt x="3280" y="7058"/>
                  </a:cubicBezTo>
                  <a:cubicBezTo>
                    <a:pt x="4264" y="7058"/>
                    <a:pt x="5393" y="6884"/>
                    <a:pt x="6093" y="6147"/>
                  </a:cubicBezTo>
                  <a:close/>
                  <a:moveTo>
                    <a:pt x="10492" y="4223"/>
                  </a:moveTo>
                  <a:lnTo>
                    <a:pt x="11273" y="8347"/>
                  </a:lnTo>
                  <a:cubicBezTo>
                    <a:pt x="11317" y="8577"/>
                    <a:pt x="11500" y="8805"/>
                    <a:pt x="11775" y="8805"/>
                  </a:cubicBezTo>
                  <a:lnTo>
                    <a:pt x="15899" y="9402"/>
                  </a:lnTo>
                  <a:cubicBezTo>
                    <a:pt x="15488" y="11462"/>
                    <a:pt x="13655" y="12929"/>
                    <a:pt x="11547" y="12929"/>
                  </a:cubicBezTo>
                  <a:cubicBezTo>
                    <a:pt x="10356" y="12929"/>
                    <a:pt x="9165" y="12426"/>
                    <a:pt x="8340" y="11510"/>
                  </a:cubicBezTo>
                  <a:cubicBezTo>
                    <a:pt x="8659" y="11096"/>
                    <a:pt x="8842" y="10594"/>
                    <a:pt x="8842" y="10044"/>
                  </a:cubicBezTo>
                  <a:lnTo>
                    <a:pt x="8842" y="7844"/>
                  </a:lnTo>
                  <a:cubicBezTo>
                    <a:pt x="8890" y="7844"/>
                    <a:pt x="8934" y="7844"/>
                    <a:pt x="8982" y="7797"/>
                  </a:cubicBezTo>
                  <a:cubicBezTo>
                    <a:pt x="9300" y="7705"/>
                    <a:pt x="9484" y="7430"/>
                    <a:pt x="9484" y="7064"/>
                  </a:cubicBezTo>
                  <a:lnTo>
                    <a:pt x="9300" y="4729"/>
                  </a:lnTo>
                  <a:cubicBezTo>
                    <a:pt x="9667" y="4498"/>
                    <a:pt x="10081" y="4314"/>
                    <a:pt x="10492" y="4223"/>
                  </a:cubicBezTo>
                  <a:close/>
                  <a:moveTo>
                    <a:pt x="6507" y="12426"/>
                  </a:moveTo>
                  <a:lnTo>
                    <a:pt x="6507" y="13893"/>
                  </a:lnTo>
                  <a:cubicBezTo>
                    <a:pt x="6507" y="14442"/>
                    <a:pt x="5910" y="14901"/>
                    <a:pt x="5224" y="14901"/>
                  </a:cubicBezTo>
                  <a:cubicBezTo>
                    <a:pt x="4535" y="14901"/>
                    <a:pt x="3941" y="14442"/>
                    <a:pt x="3941" y="13893"/>
                  </a:cubicBezTo>
                  <a:lnTo>
                    <a:pt x="3941" y="12426"/>
                  </a:lnTo>
                  <a:close/>
                  <a:moveTo>
                    <a:pt x="5340" y="1"/>
                  </a:moveTo>
                  <a:cubicBezTo>
                    <a:pt x="4845" y="1"/>
                    <a:pt x="4364" y="186"/>
                    <a:pt x="4033" y="557"/>
                  </a:cubicBezTo>
                  <a:cubicBezTo>
                    <a:pt x="3619" y="924"/>
                    <a:pt x="3391" y="1430"/>
                    <a:pt x="3391" y="1979"/>
                  </a:cubicBezTo>
                  <a:cubicBezTo>
                    <a:pt x="3391" y="2071"/>
                    <a:pt x="3391" y="2163"/>
                    <a:pt x="3435" y="2254"/>
                  </a:cubicBezTo>
                  <a:cubicBezTo>
                    <a:pt x="2336" y="2573"/>
                    <a:pt x="1511" y="3354"/>
                    <a:pt x="1419" y="4362"/>
                  </a:cubicBezTo>
                  <a:lnTo>
                    <a:pt x="1284" y="6330"/>
                  </a:lnTo>
                  <a:cubicBezTo>
                    <a:pt x="1236" y="6605"/>
                    <a:pt x="1419" y="6836"/>
                    <a:pt x="1694" y="6880"/>
                  </a:cubicBezTo>
                  <a:cubicBezTo>
                    <a:pt x="1786" y="6928"/>
                    <a:pt x="1834" y="6928"/>
                    <a:pt x="1878" y="6928"/>
                  </a:cubicBezTo>
                  <a:lnTo>
                    <a:pt x="1878" y="10044"/>
                  </a:lnTo>
                  <a:cubicBezTo>
                    <a:pt x="1878" y="11052"/>
                    <a:pt x="2519" y="11921"/>
                    <a:pt x="3391" y="12287"/>
                  </a:cubicBezTo>
                  <a:lnTo>
                    <a:pt x="3391" y="13343"/>
                  </a:lnTo>
                  <a:lnTo>
                    <a:pt x="2611" y="13343"/>
                  </a:lnTo>
                  <a:cubicBezTo>
                    <a:pt x="1969" y="13343"/>
                    <a:pt x="1328" y="13570"/>
                    <a:pt x="870" y="14028"/>
                  </a:cubicBezTo>
                  <a:cubicBezTo>
                    <a:pt x="367" y="14486"/>
                    <a:pt x="92" y="15084"/>
                    <a:pt x="1" y="15725"/>
                  </a:cubicBezTo>
                  <a:cubicBezTo>
                    <a:pt x="1" y="15861"/>
                    <a:pt x="92" y="16000"/>
                    <a:pt x="276" y="16000"/>
                  </a:cubicBezTo>
                  <a:cubicBezTo>
                    <a:pt x="411" y="16000"/>
                    <a:pt x="551" y="15909"/>
                    <a:pt x="551" y="15769"/>
                  </a:cubicBezTo>
                  <a:cubicBezTo>
                    <a:pt x="642" y="14670"/>
                    <a:pt x="1559" y="13893"/>
                    <a:pt x="2611" y="13893"/>
                  </a:cubicBezTo>
                  <a:lnTo>
                    <a:pt x="3391" y="13893"/>
                  </a:lnTo>
                  <a:cubicBezTo>
                    <a:pt x="3391" y="14761"/>
                    <a:pt x="4216" y="15451"/>
                    <a:pt x="5224" y="15451"/>
                  </a:cubicBezTo>
                  <a:cubicBezTo>
                    <a:pt x="6232" y="15451"/>
                    <a:pt x="7057" y="14761"/>
                    <a:pt x="7057" y="13893"/>
                  </a:cubicBezTo>
                  <a:lnTo>
                    <a:pt x="7834" y="13893"/>
                  </a:lnTo>
                  <a:cubicBezTo>
                    <a:pt x="8982" y="13893"/>
                    <a:pt x="9898" y="14809"/>
                    <a:pt x="9898" y="15953"/>
                  </a:cubicBezTo>
                  <a:lnTo>
                    <a:pt x="9898" y="16184"/>
                  </a:lnTo>
                  <a:cubicBezTo>
                    <a:pt x="9898" y="16367"/>
                    <a:pt x="10034" y="16459"/>
                    <a:pt x="10173" y="16459"/>
                  </a:cubicBezTo>
                  <a:cubicBezTo>
                    <a:pt x="10308" y="16459"/>
                    <a:pt x="10448" y="16367"/>
                    <a:pt x="10448" y="16184"/>
                  </a:cubicBezTo>
                  <a:lnTo>
                    <a:pt x="10448" y="15953"/>
                  </a:lnTo>
                  <a:cubicBezTo>
                    <a:pt x="10448" y="14534"/>
                    <a:pt x="9256" y="13343"/>
                    <a:pt x="7834" y="13343"/>
                  </a:cubicBezTo>
                  <a:lnTo>
                    <a:pt x="7057" y="13343"/>
                  </a:lnTo>
                  <a:lnTo>
                    <a:pt x="7057" y="12379"/>
                  </a:lnTo>
                  <a:cubicBezTo>
                    <a:pt x="7376" y="12287"/>
                    <a:pt x="7699" y="12104"/>
                    <a:pt x="7926" y="11921"/>
                  </a:cubicBezTo>
                  <a:cubicBezTo>
                    <a:pt x="8890" y="12929"/>
                    <a:pt x="10173" y="13478"/>
                    <a:pt x="11547" y="13478"/>
                  </a:cubicBezTo>
                  <a:cubicBezTo>
                    <a:pt x="12739" y="13478"/>
                    <a:pt x="13838" y="13068"/>
                    <a:pt x="14755" y="12335"/>
                  </a:cubicBezTo>
                  <a:cubicBezTo>
                    <a:pt x="15624" y="11554"/>
                    <a:pt x="16265" y="10546"/>
                    <a:pt x="16448" y="9402"/>
                  </a:cubicBezTo>
                  <a:cubicBezTo>
                    <a:pt x="16448" y="9263"/>
                    <a:pt x="16448" y="9171"/>
                    <a:pt x="16357" y="9036"/>
                  </a:cubicBezTo>
                  <a:cubicBezTo>
                    <a:pt x="16313" y="8944"/>
                    <a:pt x="16173" y="8896"/>
                    <a:pt x="16082" y="8852"/>
                  </a:cubicBezTo>
                  <a:lnTo>
                    <a:pt x="11822" y="8303"/>
                  </a:lnTo>
                  <a:lnTo>
                    <a:pt x="11775" y="8255"/>
                  </a:lnTo>
                  <a:lnTo>
                    <a:pt x="10998" y="4039"/>
                  </a:lnTo>
                  <a:cubicBezTo>
                    <a:pt x="10998" y="3904"/>
                    <a:pt x="10906" y="3812"/>
                    <a:pt x="10814" y="3721"/>
                  </a:cubicBezTo>
                  <a:cubicBezTo>
                    <a:pt x="10749" y="3687"/>
                    <a:pt x="10660" y="3655"/>
                    <a:pt x="10581" y="3655"/>
                  </a:cubicBezTo>
                  <a:cubicBezTo>
                    <a:pt x="10549" y="3655"/>
                    <a:pt x="10518" y="3660"/>
                    <a:pt x="10492" y="3673"/>
                  </a:cubicBezTo>
                  <a:cubicBezTo>
                    <a:pt x="10034" y="3765"/>
                    <a:pt x="9623" y="3904"/>
                    <a:pt x="9256" y="4131"/>
                  </a:cubicBezTo>
                  <a:cubicBezTo>
                    <a:pt x="9073" y="3262"/>
                    <a:pt x="8292" y="2573"/>
                    <a:pt x="7332" y="2298"/>
                  </a:cubicBezTo>
                  <a:cubicBezTo>
                    <a:pt x="7332" y="2115"/>
                    <a:pt x="7376" y="1979"/>
                    <a:pt x="7332" y="1796"/>
                  </a:cubicBezTo>
                  <a:cubicBezTo>
                    <a:pt x="7240" y="832"/>
                    <a:pt x="6460" y="55"/>
                    <a:pt x="5499" y="7"/>
                  </a:cubicBezTo>
                  <a:cubicBezTo>
                    <a:pt x="5446" y="3"/>
                    <a:pt x="5393" y="1"/>
                    <a:pt x="53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2"/>
            <p:cNvSpPr/>
            <p:nvPr/>
          </p:nvSpPr>
          <p:spPr>
            <a:xfrm>
              <a:off x="2785025" y="2176800"/>
              <a:ext cx="150050" cy="151225"/>
            </a:xfrm>
            <a:custGeom>
              <a:rect b="b" l="l" r="r" t="t"/>
              <a:pathLst>
                <a:path extrusionOk="0" h="6049" w="6002">
                  <a:moveTo>
                    <a:pt x="1009" y="503"/>
                  </a:moveTo>
                  <a:cubicBezTo>
                    <a:pt x="3436" y="503"/>
                    <a:pt x="5452" y="2519"/>
                    <a:pt x="5452" y="4949"/>
                  </a:cubicBezTo>
                  <a:cubicBezTo>
                    <a:pt x="5452" y="5132"/>
                    <a:pt x="5408" y="5316"/>
                    <a:pt x="5408" y="5499"/>
                  </a:cubicBezTo>
                  <a:lnTo>
                    <a:pt x="1467" y="4766"/>
                  </a:lnTo>
                  <a:cubicBezTo>
                    <a:pt x="1328" y="4718"/>
                    <a:pt x="1236" y="4627"/>
                    <a:pt x="1236" y="4535"/>
                  </a:cubicBezTo>
                  <a:lnTo>
                    <a:pt x="551" y="550"/>
                  </a:lnTo>
                  <a:cubicBezTo>
                    <a:pt x="734" y="550"/>
                    <a:pt x="870" y="503"/>
                    <a:pt x="1009" y="503"/>
                  </a:cubicBezTo>
                  <a:close/>
                  <a:moveTo>
                    <a:pt x="412" y="1"/>
                  </a:moveTo>
                  <a:cubicBezTo>
                    <a:pt x="276" y="45"/>
                    <a:pt x="137" y="92"/>
                    <a:pt x="93" y="184"/>
                  </a:cubicBezTo>
                  <a:cubicBezTo>
                    <a:pt x="1" y="275"/>
                    <a:pt x="1" y="411"/>
                    <a:pt x="1" y="550"/>
                  </a:cubicBezTo>
                  <a:lnTo>
                    <a:pt x="686" y="4627"/>
                  </a:lnTo>
                  <a:cubicBezTo>
                    <a:pt x="734" y="4949"/>
                    <a:pt x="1009" y="5224"/>
                    <a:pt x="1328" y="5268"/>
                  </a:cubicBezTo>
                  <a:lnTo>
                    <a:pt x="5408" y="6049"/>
                  </a:lnTo>
                  <a:lnTo>
                    <a:pt x="5499" y="6049"/>
                  </a:lnTo>
                  <a:cubicBezTo>
                    <a:pt x="5591" y="6049"/>
                    <a:pt x="5683" y="6049"/>
                    <a:pt x="5727" y="5957"/>
                  </a:cubicBezTo>
                  <a:cubicBezTo>
                    <a:pt x="5818" y="5910"/>
                    <a:pt x="5910" y="5818"/>
                    <a:pt x="5910" y="5682"/>
                  </a:cubicBezTo>
                  <a:cubicBezTo>
                    <a:pt x="5958" y="5451"/>
                    <a:pt x="6002" y="5176"/>
                    <a:pt x="6002" y="4949"/>
                  </a:cubicBezTo>
                  <a:cubicBezTo>
                    <a:pt x="6002" y="3619"/>
                    <a:pt x="5452" y="2383"/>
                    <a:pt x="4535" y="1419"/>
                  </a:cubicBezTo>
                  <a:cubicBezTo>
                    <a:pt x="3575" y="503"/>
                    <a:pt x="2336" y="1"/>
                    <a:pt x="100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9" name="Google Shape;389;p12"/>
          <p:cNvSpPr txBox="1"/>
          <p:nvPr/>
        </p:nvSpPr>
        <p:spPr>
          <a:xfrm>
            <a:off x="1457463" y="1634836"/>
            <a:ext cx="5501269"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11384D"/>
                </a:solidFill>
                <a:latin typeface="Livvic"/>
                <a:ea typeface="Livvic"/>
                <a:cs typeface="Livvic"/>
                <a:sym typeface="Livvic"/>
              </a:rPr>
              <a:t>Menor riesgo de pérdida de ingresos concentrados, protegiendo al segmento de </a:t>
            </a:r>
            <a:r>
              <a:rPr b="1" i="0" lang="en-US" sz="1400" u="none" cap="none" strike="noStrike">
                <a:solidFill>
                  <a:srgbClr val="11384D"/>
                </a:solidFill>
                <a:latin typeface="Livvic"/>
                <a:ea typeface="Livvic"/>
                <a:cs typeface="Livvic"/>
                <a:sym typeface="Livvic"/>
              </a:rPr>
              <a:t>Alto Valor</a:t>
            </a:r>
            <a:r>
              <a:rPr b="0" i="0" lang="en-US" sz="1400" u="none" cap="none" strike="noStrike">
                <a:solidFill>
                  <a:srgbClr val="11384D"/>
                </a:solidFill>
                <a:latin typeface="Livvic"/>
                <a:ea typeface="Livvic"/>
                <a:cs typeface="Livvic"/>
                <a:sym typeface="Livvic"/>
              </a:rPr>
              <a:t>.</a:t>
            </a:r>
            <a:endParaRPr b="0" i="0" sz="1400" u="none" cap="none" strike="noStrike">
              <a:solidFill>
                <a:srgbClr val="11384D"/>
              </a:solidFill>
              <a:latin typeface="Livvic"/>
              <a:ea typeface="Livvic"/>
              <a:cs typeface="Livvic"/>
              <a:sym typeface="Livvic"/>
            </a:endParaRPr>
          </a:p>
        </p:txBody>
      </p:sp>
      <p:sp>
        <p:nvSpPr>
          <p:cNvPr id="390" name="Google Shape;390;p12"/>
          <p:cNvSpPr txBox="1"/>
          <p:nvPr/>
        </p:nvSpPr>
        <p:spPr>
          <a:xfrm>
            <a:off x="1457463" y="2420230"/>
            <a:ext cx="5768898"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11384D"/>
                </a:solidFill>
                <a:latin typeface="Livvic"/>
                <a:ea typeface="Livvic"/>
                <a:cs typeface="Livvic"/>
                <a:sym typeface="Livvic"/>
              </a:rPr>
              <a:t>Crecimiento de la ganancia total activando mejor a los </a:t>
            </a:r>
            <a:r>
              <a:rPr b="1" i="0" lang="en-US" sz="1400" u="none" cap="none" strike="noStrike">
                <a:solidFill>
                  <a:srgbClr val="11384D"/>
                </a:solidFill>
                <a:latin typeface="Livvic"/>
                <a:ea typeface="Livvic"/>
                <a:cs typeface="Livvic"/>
                <a:sym typeface="Livvic"/>
              </a:rPr>
              <a:t>Recurrentes</a:t>
            </a:r>
            <a:r>
              <a:rPr b="0" i="0" lang="en-US" sz="1400" u="none" cap="none" strike="noStrike">
                <a:solidFill>
                  <a:srgbClr val="11384D"/>
                </a:solidFill>
                <a:latin typeface="Livvic"/>
                <a:ea typeface="Livvic"/>
                <a:cs typeface="Livvic"/>
                <a:sym typeface="Livvic"/>
              </a:rPr>
              <a:t>, sin captar nuevos clientes.</a:t>
            </a:r>
            <a:endParaRPr b="0" i="0" sz="1400" u="none" cap="none" strike="noStrike">
              <a:solidFill>
                <a:srgbClr val="11384D"/>
              </a:solidFill>
              <a:latin typeface="Livvic"/>
              <a:ea typeface="Livvic"/>
              <a:cs typeface="Livvic"/>
              <a:sym typeface="Livvic"/>
            </a:endParaRPr>
          </a:p>
        </p:txBody>
      </p:sp>
      <p:sp>
        <p:nvSpPr>
          <p:cNvPr id="391" name="Google Shape;391;p12"/>
          <p:cNvSpPr txBox="1"/>
          <p:nvPr/>
        </p:nvSpPr>
        <p:spPr>
          <a:xfrm>
            <a:off x="1457463" y="3149452"/>
            <a:ext cx="5397192"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11384D"/>
                </a:solidFill>
                <a:latin typeface="Livvic"/>
                <a:ea typeface="Livvic"/>
                <a:cs typeface="Livvic"/>
                <a:sym typeface="Livvic"/>
              </a:rPr>
              <a:t>Conversión de clientes inactivos en </a:t>
            </a:r>
            <a:r>
              <a:rPr b="1" i="0" lang="en-US" sz="1400" u="none" cap="none" strike="noStrike">
                <a:solidFill>
                  <a:srgbClr val="11384D"/>
                </a:solidFill>
                <a:latin typeface="Livvic"/>
                <a:ea typeface="Livvic"/>
                <a:cs typeface="Livvic"/>
                <a:sym typeface="Livvic"/>
              </a:rPr>
              <a:t>compradores reales</a:t>
            </a:r>
            <a:r>
              <a:rPr b="0" i="0" lang="en-US" sz="1400" u="none" cap="none" strike="noStrike">
                <a:solidFill>
                  <a:srgbClr val="11384D"/>
                </a:solidFill>
                <a:latin typeface="Livvic"/>
                <a:ea typeface="Livvic"/>
                <a:cs typeface="Livvic"/>
                <a:sym typeface="Livvic"/>
              </a:rPr>
              <a:t>, con una acción de bajo costo (11 personas).</a:t>
            </a:r>
            <a:endParaRPr b="0" i="0" sz="1400" u="none" cap="none" strike="noStrike">
              <a:solidFill>
                <a:srgbClr val="11384D"/>
              </a:solidFill>
              <a:latin typeface="Livvic"/>
              <a:ea typeface="Livvic"/>
              <a:cs typeface="Livvic"/>
              <a:sym typeface="Livvic"/>
            </a:endParaRPr>
          </a:p>
        </p:txBody>
      </p:sp>
      <p:grpSp>
        <p:nvGrpSpPr>
          <p:cNvPr id="392" name="Google Shape;392;p12"/>
          <p:cNvGrpSpPr/>
          <p:nvPr/>
        </p:nvGrpSpPr>
        <p:grpSpPr>
          <a:xfrm>
            <a:off x="1769310" y="1080664"/>
            <a:ext cx="412878" cy="410503"/>
            <a:chOff x="854261" y="2908813"/>
            <a:chExt cx="377474" cy="335748"/>
          </a:xfrm>
        </p:grpSpPr>
        <p:sp>
          <p:nvSpPr>
            <p:cNvPr id="393" name="Google Shape;393;p12"/>
            <p:cNvSpPr/>
            <p:nvPr/>
          </p:nvSpPr>
          <p:spPr>
            <a:xfrm>
              <a:off x="896337" y="3079695"/>
              <a:ext cx="47391" cy="17091"/>
            </a:xfrm>
            <a:custGeom>
              <a:rect b="b" l="l" r="r" t="t"/>
              <a:pathLst>
                <a:path extrusionOk="0" h="537" w="1489">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4760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2"/>
            <p:cNvSpPr/>
            <p:nvPr/>
          </p:nvSpPr>
          <p:spPr>
            <a:xfrm>
              <a:off x="878514" y="3191855"/>
              <a:ext cx="11426" cy="52706"/>
            </a:xfrm>
            <a:custGeom>
              <a:rect b="b" l="l" r="r" t="t"/>
              <a:pathLst>
                <a:path extrusionOk="0" h="1656" w="359">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4760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2"/>
            <p:cNvSpPr/>
            <p:nvPr/>
          </p:nvSpPr>
          <p:spPr>
            <a:xfrm>
              <a:off x="854261" y="3050159"/>
              <a:ext cx="219451" cy="194052"/>
            </a:xfrm>
            <a:custGeom>
              <a:rect b="b" l="l" r="r" t="t"/>
              <a:pathLst>
                <a:path extrusionOk="0" h="6097" w="6895">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rgbClr val="4760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2"/>
            <p:cNvSpPr/>
            <p:nvPr/>
          </p:nvSpPr>
          <p:spPr>
            <a:xfrm>
              <a:off x="1008115" y="2908813"/>
              <a:ext cx="223620" cy="188355"/>
            </a:xfrm>
            <a:custGeom>
              <a:rect b="b" l="l" r="r" t="t"/>
              <a:pathLst>
                <a:path extrusionOk="0" h="5918" w="7026">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rgbClr val="4760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2"/>
            <p:cNvSpPr/>
            <p:nvPr/>
          </p:nvSpPr>
          <p:spPr>
            <a:xfrm>
              <a:off x="1037301" y="2944046"/>
              <a:ext cx="165248" cy="105763"/>
            </a:xfrm>
            <a:custGeom>
              <a:rect b="b" l="l" r="r" t="t"/>
              <a:pathLst>
                <a:path extrusionOk="0" h="3323" w="5192">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rgbClr val="4760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8" name="Google Shape;398;p12"/>
          <p:cNvSpPr txBox="1"/>
          <p:nvPr/>
        </p:nvSpPr>
        <p:spPr>
          <a:xfrm>
            <a:off x="2252614" y="1064333"/>
            <a:ext cx="4789960" cy="307777"/>
          </a:xfrm>
          <a:prstGeom prst="rect">
            <a:avLst/>
          </a:prstGeom>
          <a:solidFill>
            <a:schemeClr val="lt1"/>
          </a:solidFill>
          <a:ln cap="flat" cmpd="sng" w="25400">
            <a:solidFill>
              <a:srgbClr val="47606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11384D"/>
                </a:solidFill>
                <a:latin typeface="Livvic Medium"/>
                <a:ea typeface="Livvic Medium"/>
                <a:cs typeface="Livvic Medium"/>
                <a:sym typeface="Livvic Medium"/>
              </a:rPr>
              <a:t>Qué cambia si SuperTienda </a:t>
            </a:r>
            <a:r>
              <a:rPr b="1" i="0" lang="en-US" sz="1400" u="none" cap="none" strike="noStrike">
                <a:solidFill>
                  <a:srgbClr val="11384D"/>
                </a:solidFill>
                <a:latin typeface="Livvic Medium"/>
                <a:ea typeface="Livvic Medium"/>
                <a:cs typeface="Livvic Medium"/>
                <a:sym typeface="Livvic Medium"/>
              </a:rPr>
              <a:t>implementa</a:t>
            </a:r>
            <a:r>
              <a:rPr b="0" i="0" lang="en-US" sz="1400" u="none" cap="none" strike="noStrike">
                <a:solidFill>
                  <a:srgbClr val="11384D"/>
                </a:solidFill>
                <a:latin typeface="Livvic Medium"/>
                <a:ea typeface="Livvic Medium"/>
                <a:cs typeface="Livvic Medium"/>
                <a:sym typeface="Livvic Medium"/>
              </a:rPr>
              <a:t> estas acciones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13"/>
          <p:cNvSpPr txBox="1"/>
          <p:nvPr>
            <p:ph idx="8" type="title"/>
          </p:nvPr>
        </p:nvSpPr>
        <p:spPr>
          <a:xfrm>
            <a:off x="720000" y="539399"/>
            <a:ext cx="7704000" cy="587633"/>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4000"/>
              <a:t>Conclusiones</a:t>
            </a:r>
            <a:endParaRPr sz="4000"/>
          </a:p>
        </p:txBody>
      </p:sp>
      <p:sp>
        <p:nvSpPr>
          <p:cNvPr id="404" name="Google Shape;404;p13"/>
          <p:cNvSpPr txBox="1"/>
          <p:nvPr/>
        </p:nvSpPr>
        <p:spPr>
          <a:xfrm>
            <a:off x="720000" y="1402199"/>
            <a:ext cx="5546985" cy="1323439"/>
          </a:xfrm>
          <a:prstGeom prst="rect">
            <a:avLst/>
          </a:prstGeom>
          <a:solidFill>
            <a:srgbClr val="BCD1DC"/>
          </a:solidFill>
          <a:ln cap="rnd" cmpd="sng" w="9525">
            <a:solidFill>
              <a:srgbClr val="11384D"/>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1" lang="en-US" sz="1600" u="none" cap="none" strike="noStrike">
                <a:solidFill>
                  <a:srgbClr val="11384D"/>
                </a:solidFill>
                <a:latin typeface="Livvic Medium"/>
                <a:ea typeface="Livvic Medium"/>
                <a:cs typeface="Livvic Medium"/>
                <a:sym typeface="Livvic Medium"/>
              </a:rPr>
              <a:t>“Cuando la gerencia de SuperTienda nos preguntó quiénes eran sus mejores clientes, la respuesta no estaba en una sola métrica — estaba en cruzar varias, primero mirando los extremos y después confirmando el patrón en toda la base.”</a:t>
            </a:r>
            <a:endParaRPr b="0" i="0" sz="1600" u="none" cap="none" strike="noStrike">
              <a:solidFill>
                <a:srgbClr val="11384D"/>
              </a:solidFill>
              <a:latin typeface="Livvic Medium"/>
              <a:ea typeface="Livvic Medium"/>
              <a:cs typeface="Livvic Medium"/>
              <a:sym typeface="Livvic Medium"/>
            </a:endParaRPr>
          </a:p>
        </p:txBody>
      </p:sp>
      <p:sp>
        <p:nvSpPr>
          <p:cNvPr id="405" name="Google Shape;405;p13"/>
          <p:cNvSpPr txBox="1"/>
          <p:nvPr/>
        </p:nvSpPr>
        <p:spPr>
          <a:xfrm>
            <a:off x="720000" y="2854713"/>
            <a:ext cx="5048898" cy="73866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1" lang="en-US" sz="1400" u="none" cap="none" strike="noStrike">
                <a:solidFill>
                  <a:srgbClr val="11384D"/>
                </a:solidFill>
                <a:latin typeface="Livvic"/>
                <a:ea typeface="Livvic"/>
                <a:cs typeface="Livvic"/>
                <a:sym typeface="Livvic"/>
              </a:rPr>
              <a:t>Le entregamos a SuperTienda una hoja de ruta accionable: con foco basado en datos, pueden mejorar su rentabilidad entendiendo mejor a los clientes que ya tienen.</a:t>
            </a:r>
            <a:endParaRPr b="0" i="1" sz="1400" u="none" cap="none" strike="noStrike">
              <a:solidFill>
                <a:srgbClr val="11384D"/>
              </a:solidFill>
              <a:latin typeface="Livvic"/>
              <a:ea typeface="Livvic"/>
              <a:cs typeface="Livvic"/>
              <a:sym typeface="Livvic"/>
            </a:endParaRPr>
          </a:p>
        </p:txBody>
      </p:sp>
      <p:grpSp>
        <p:nvGrpSpPr>
          <p:cNvPr id="406" name="Google Shape;406;p13"/>
          <p:cNvGrpSpPr/>
          <p:nvPr/>
        </p:nvGrpSpPr>
        <p:grpSpPr>
          <a:xfrm>
            <a:off x="5352585" y="3593377"/>
            <a:ext cx="3717074" cy="843508"/>
            <a:chOff x="1808063" y="4294338"/>
            <a:chExt cx="3370782" cy="721817"/>
          </a:xfrm>
        </p:grpSpPr>
        <p:sp>
          <p:nvSpPr>
            <p:cNvPr id="407" name="Google Shape;407;p13"/>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DAE3E8"/>
            </a:solidFill>
            <a:ln cap="flat" cmpd="sng" w="9525">
              <a:solidFill>
                <a:srgbClr val="113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13"/>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DAE3E8"/>
            </a:solidFill>
            <a:ln cap="flat" cmpd="sng" w="9525">
              <a:solidFill>
                <a:srgbClr val="113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3"/>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DAE3E8"/>
            </a:solidFill>
            <a:ln cap="flat" cmpd="sng" w="9525">
              <a:solidFill>
                <a:srgbClr val="113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13"/>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DAE3E8"/>
            </a:solidFill>
            <a:ln cap="flat" cmpd="sng" w="9525">
              <a:solidFill>
                <a:srgbClr val="113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3"/>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DAE3E8"/>
            </a:solidFill>
            <a:ln cap="flat" cmpd="sng" w="9525">
              <a:solidFill>
                <a:srgbClr val="113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3"/>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DAE3E8"/>
            </a:solidFill>
            <a:ln cap="flat" cmpd="sng" w="9525">
              <a:solidFill>
                <a:srgbClr val="113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3"/>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DAE3E8"/>
            </a:solidFill>
            <a:ln cap="flat" cmpd="sng" w="9525">
              <a:solidFill>
                <a:srgbClr val="113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3"/>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DAE3E8"/>
            </a:solidFill>
            <a:ln cap="flat" cmpd="sng" w="9525">
              <a:solidFill>
                <a:srgbClr val="113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3"/>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DAE3E8"/>
            </a:solidFill>
            <a:ln cap="flat" cmpd="sng" w="9525">
              <a:solidFill>
                <a:srgbClr val="113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3"/>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DAE3E8"/>
            </a:solidFill>
            <a:ln cap="flat" cmpd="sng" w="9525">
              <a:solidFill>
                <a:srgbClr val="113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14"/>
          <p:cNvSpPr txBox="1"/>
          <p:nvPr>
            <p:ph type="title"/>
          </p:nvPr>
        </p:nvSpPr>
        <p:spPr>
          <a:xfrm>
            <a:off x="1016980" y="1284313"/>
            <a:ext cx="6845292" cy="825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0000"/>
              <a:buNone/>
            </a:pPr>
            <a:r>
              <a:rPr lang="en-US"/>
              <a:t>Portafolio Profesional</a:t>
            </a:r>
            <a:endParaRPr/>
          </a:p>
        </p:txBody>
      </p:sp>
      <p:sp>
        <p:nvSpPr>
          <p:cNvPr id="422" name="Google Shape;422;p14"/>
          <p:cNvSpPr txBox="1"/>
          <p:nvPr>
            <p:ph idx="1" type="subTitle"/>
          </p:nvPr>
        </p:nvSpPr>
        <p:spPr>
          <a:xfrm>
            <a:off x="1930400" y="2137936"/>
            <a:ext cx="5244123" cy="1113325"/>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1200"/>
              <a:buNone/>
            </a:pPr>
            <a:r>
              <a:t/>
            </a:r>
            <a:endParaRPr/>
          </a:p>
        </p:txBody>
      </p:sp>
      <p:pic>
        <p:nvPicPr>
          <p:cNvPr id="423" name="Google Shape;423;p14"/>
          <p:cNvPicPr preferRelativeResize="0"/>
          <p:nvPr/>
        </p:nvPicPr>
        <p:blipFill rotWithShape="1">
          <a:blip r:embed="rId3">
            <a:alphaModFix/>
          </a:blip>
          <a:srcRect b="-1" l="0" r="50324" t="-17598"/>
          <a:stretch/>
        </p:blipFill>
        <p:spPr>
          <a:xfrm>
            <a:off x="2648124" y="2169197"/>
            <a:ext cx="3674521" cy="531078"/>
          </a:xfrm>
          <a:prstGeom prst="rect">
            <a:avLst/>
          </a:prstGeom>
          <a:noFill/>
          <a:ln>
            <a:noFill/>
          </a:ln>
        </p:spPr>
      </p:pic>
      <p:pic>
        <p:nvPicPr>
          <p:cNvPr id="424" name="Google Shape;424;p14"/>
          <p:cNvPicPr preferRelativeResize="0"/>
          <p:nvPr/>
        </p:nvPicPr>
        <p:blipFill rotWithShape="1">
          <a:blip r:embed="rId3">
            <a:alphaModFix/>
          </a:blip>
          <a:srcRect b="-1" l="50018" r="-1" t="-20154"/>
          <a:stretch/>
        </p:blipFill>
        <p:spPr>
          <a:xfrm>
            <a:off x="2648125" y="2608053"/>
            <a:ext cx="3674520" cy="539297"/>
          </a:xfrm>
          <a:prstGeom prst="rect">
            <a:avLst/>
          </a:prstGeom>
          <a:noFill/>
          <a:ln>
            <a:noFill/>
          </a:ln>
        </p:spPr>
      </p:pic>
      <p:grpSp>
        <p:nvGrpSpPr>
          <p:cNvPr id="425" name="Google Shape;425;p14"/>
          <p:cNvGrpSpPr/>
          <p:nvPr/>
        </p:nvGrpSpPr>
        <p:grpSpPr>
          <a:xfrm>
            <a:off x="3829540" y="3332280"/>
            <a:ext cx="1320800" cy="1182168"/>
            <a:chOff x="3852985" y="3332280"/>
            <a:chExt cx="1320800" cy="1182168"/>
          </a:xfrm>
        </p:grpSpPr>
        <p:sp>
          <p:nvSpPr>
            <p:cNvPr id="426" name="Google Shape;426;p14"/>
            <p:cNvSpPr/>
            <p:nvPr/>
          </p:nvSpPr>
          <p:spPr>
            <a:xfrm>
              <a:off x="3852985" y="3332280"/>
              <a:ext cx="1320800" cy="1182168"/>
            </a:xfrm>
            <a:prstGeom prst="roundRect">
              <a:avLst>
                <a:gd fmla="val 16667" name="adj"/>
              </a:avLst>
            </a:prstGeom>
            <a:solidFill>
              <a:srgbClr val="A7BBC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7" name="Google Shape;427;p14"/>
            <p:cNvPicPr preferRelativeResize="0"/>
            <p:nvPr/>
          </p:nvPicPr>
          <p:blipFill rotWithShape="1">
            <a:blip r:embed="rId4">
              <a:alphaModFix/>
            </a:blip>
            <a:srcRect b="0" l="0" r="0" t="0"/>
            <a:stretch/>
          </p:blipFill>
          <p:spPr>
            <a:xfrm>
              <a:off x="3985845" y="3389428"/>
              <a:ext cx="1072403" cy="1117206"/>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15"/>
          <p:cNvSpPr txBox="1"/>
          <p:nvPr>
            <p:ph type="ctrTitle"/>
          </p:nvPr>
        </p:nvSpPr>
        <p:spPr>
          <a:xfrm>
            <a:off x="2804915" y="951154"/>
            <a:ext cx="4413641" cy="2027602"/>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8500"/>
              <a:buNone/>
            </a:pPr>
            <a:r>
              <a:rPr lang="en-US"/>
              <a:t>Muchas gracias!</a:t>
            </a:r>
            <a:endParaRPr/>
          </a:p>
        </p:txBody>
      </p:sp>
      <p:sp>
        <p:nvSpPr>
          <p:cNvPr id="433" name="Google Shape;433;p15"/>
          <p:cNvSpPr txBox="1"/>
          <p:nvPr>
            <p:ph idx="1" type="subTitle"/>
          </p:nvPr>
        </p:nvSpPr>
        <p:spPr>
          <a:xfrm>
            <a:off x="2992104" y="3034372"/>
            <a:ext cx="4892400" cy="656821"/>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lang="en-US"/>
              <a:t>Agradecemos su tiempo.</a:t>
            </a:r>
            <a:endParaRPr/>
          </a:p>
          <a:p>
            <a:pPr indent="0" lvl="0" marL="0" rtl="0" algn="l">
              <a:lnSpc>
                <a:spcPct val="100000"/>
              </a:lnSpc>
              <a:spcBef>
                <a:spcPts val="0"/>
              </a:spcBef>
              <a:spcAft>
                <a:spcPts val="0"/>
              </a:spcAft>
              <a:buSzPts val="1800"/>
              <a:buNone/>
            </a:pPr>
            <a:r>
              <a:rPr lang="en-US"/>
              <a:t>¿Preguntas?</a:t>
            </a:r>
            <a:endParaRPr/>
          </a:p>
        </p:txBody>
      </p:sp>
      <p:sp>
        <p:nvSpPr>
          <p:cNvPr id="434" name="Google Shape;434;p15"/>
          <p:cNvSpPr txBox="1"/>
          <p:nvPr>
            <p:ph idx="3" type="subTitle"/>
          </p:nvPr>
        </p:nvSpPr>
        <p:spPr>
          <a:xfrm>
            <a:off x="2998200" y="4218175"/>
            <a:ext cx="4892400" cy="385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600"/>
              <a:buNone/>
            </a:pPr>
            <a:r>
              <a:rPr lang="en-US"/>
              <a:t>Please keep this slide for attribution</a:t>
            </a:r>
            <a:endParaRPr/>
          </a:p>
        </p:txBody>
      </p:sp>
      <p:grpSp>
        <p:nvGrpSpPr>
          <p:cNvPr id="435" name="Google Shape;435;p15"/>
          <p:cNvGrpSpPr/>
          <p:nvPr/>
        </p:nvGrpSpPr>
        <p:grpSpPr>
          <a:xfrm rot="5400000">
            <a:off x="-414884" y="3121219"/>
            <a:ext cx="2437180" cy="1607436"/>
            <a:chOff x="5539149" y="3176875"/>
            <a:chExt cx="2164843" cy="1427309"/>
          </a:xfrm>
        </p:grpSpPr>
        <p:sp>
          <p:nvSpPr>
            <p:cNvPr id="436" name="Google Shape;436;p15"/>
            <p:cNvSpPr/>
            <p:nvPr/>
          </p:nvSpPr>
          <p:spPr>
            <a:xfrm flipH="1" rot="-5400000">
              <a:off x="6912574" y="3812749"/>
              <a:ext cx="849332" cy="733504"/>
            </a:xfrm>
            <a:custGeom>
              <a:rect b="b" l="l" r="r" t="t"/>
              <a:pathLst>
                <a:path extrusionOk="0" h="23817" w="47635">
                  <a:moveTo>
                    <a:pt x="1" y="0"/>
                  </a:moveTo>
                  <a:lnTo>
                    <a:pt x="1" y="23817"/>
                  </a:lnTo>
                  <a:lnTo>
                    <a:pt x="47634" y="23817"/>
                  </a:lnTo>
                  <a:lnTo>
                    <a:pt x="47634" y="0"/>
                  </a:lnTo>
                  <a:close/>
                </a:path>
              </a:pathLst>
            </a:custGeom>
            <a:gradFill>
              <a:gsLst>
                <a:gs pos="0">
                  <a:srgbClr val="174B67">
                    <a:alpha val="34902"/>
                  </a:srgbClr>
                </a:gs>
                <a:gs pos="100000">
                  <a:srgbClr val="174B67">
                    <a:alpha val="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5"/>
            <p:cNvSpPr/>
            <p:nvPr/>
          </p:nvSpPr>
          <p:spPr>
            <a:xfrm flipH="1" rot="-5400000">
              <a:off x="5541174" y="3174850"/>
              <a:ext cx="1427293" cy="1431342"/>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2"/>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5"/>
            <p:cNvSpPr/>
            <p:nvPr/>
          </p:nvSpPr>
          <p:spPr>
            <a:xfrm flipH="1" rot="-5400000">
              <a:off x="6122188" y="3755881"/>
              <a:ext cx="847111" cy="849493"/>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14902"/>
                  </a:srgbClr>
                </a:gs>
                <a:gs pos="100000">
                  <a:srgbClr val="174B67">
                    <a:alpha val="25882"/>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9" name="Google Shape;439;p15"/>
          <p:cNvSpPr/>
          <p:nvPr/>
        </p:nvSpPr>
        <p:spPr>
          <a:xfrm>
            <a:off x="2804915" y="3694771"/>
            <a:ext cx="5085685" cy="825779"/>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1" lang="en-US" sz="1400" u="none" cap="none" strike="noStrike">
                <a:solidFill>
                  <a:srgbClr val="11384D"/>
                </a:solidFill>
                <a:latin typeface="Livvic Medium"/>
                <a:ea typeface="Livvic Medium"/>
                <a:cs typeface="Livvic Medium"/>
                <a:sym typeface="Livvic Medium"/>
              </a:rPr>
              <a:t>“Agradecemos a la gerencia por confiar en nosotros y ansiamos que mantengamos el contacto, esperamos que nuestros caminos se crucen en un futuro </a:t>
            </a:r>
            <a:r>
              <a:rPr b="0" i="1" lang="en-US" sz="1400" u="sng" cap="none" strike="noStrike">
                <a:solidFill>
                  <a:srgbClr val="11384D"/>
                </a:solidFill>
                <a:latin typeface="Livvic Medium"/>
                <a:ea typeface="Livvic Medium"/>
                <a:cs typeface="Livvic Medium"/>
                <a:sym typeface="Livvic Medium"/>
              </a:rPr>
              <a:t>cercano</a:t>
            </a:r>
            <a:r>
              <a:rPr b="0" i="1" lang="en-US" sz="1400" u="none" cap="none" strike="noStrike">
                <a:solidFill>
                  <a:srgbClr val="11384D"/>
                </a:solidFill>
                <a:latin typeface="Livvic Medium"/>
                <a:ea typeface="Livvic Medium"/>
                <a:cs typeface="Livvic Medium"/>
                <a:sym typeface="Livvic Medium"/>
              </a:rPr>
              <a:t>.”</a:t>
            </a:r>
            <a:endParaRPr b="0" i="1" sz="1400" u="none" cap="none" strike="noStrike">
              <a:solidFill>
                <a:srgbClr val="11384D"/>
              </a:solidFill>
              <a:latin typeface="Livvic Medium"/>
              <a:ea typeface="Livvic Medium"/>
              <a:cs typeface="Livvic Medium"/>
              <a:sym typeface="Livvic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Bank Loan Granting Consulting by Slidesgo">
  <a:themeElements>
    <a:clrScheme name="Personalizado 1">
      <a:dk1>
        <a:srgbClr val="174B67"/>
      </a:dk1>
      <a:lt1>
        <a:srgbClr val="F8F8F8"/>
      </a:lt1>
      <a:dk2>
        <a:srgbClr val="A7BBC7"/>
      </a:dk2>
      <a:lt2>
        <a:srgbClr val="DAE6EC"/>
      </a:lt2>
      <a:accent1>
        <a:srgbClr val="FFFFFF"/>
      </a:accent1>
      <a:accent2>
        <a:srgbClr val="FFFFFF"/>
      </a:accent2>
      <a:accent3>
        <a:srgbClr val="FFFFFF"/>
      </a:accent3>
      <a:accent4>
        <a:srgbClr val="FFFFFF"/>
      </a:accent4>
      <a:accent5>
        <a:srgbClr val="FFFFFF"/>
      </a:accent5>
      <a:accent6>
        <a:srgbClr val="FFFFFF"/>
      </a:accent6>
      <a:hlink>
        <a:srgbClr val="174B6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